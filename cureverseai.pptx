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embeddedFontLst>
    <p:embeddedFont>
      <p:font typeface="Dela Gothic One" panose="020B0604020202020204" charset="-128"/>
      <p:regular r:id="rId37"/>
    </p:embeddedFont>
    <p:embeddedFont>
      <p:font typeface="Arial Black" panose="020B0A04020102020204" pitchFamily="34" charset="0"/>
      <p:bold r:id="rId38"/>
    </p:embeddedFont>
    <p:embeddedFont>
      <p:font typeface="DM Sans" pitchFamily="2" charset="0"/>
      <p:regular r:id="rId39"/>
      <p:bold r:id="rId40"/>
      <p:italic r:id="rId41"/>
      <p:boldItalic r:id="rId42"/>
    </p:embeddedFont>
    <p:embeddedFont>
      <p:font typeface="DM Sans Bold" pitchFamily="2" charset="0"/>
      <p:regular r:id="rId43"/>
      <p:bold r:id="rId4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7F7A37-5BE8-4D6C-87DB-E99B37FF3659}" v="118" dt="2026-09-07T16:32:04.6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9FE3EE-312F-4236-9E37-C403AED61FD5}" type="doc">
      <dgm:prSet loTypeId="urn:microsoft.com/office/officeart/2005/8/layout/cycle1" loCatId="cycle" qsTypeId="urn:microsoft.com/office/officeart/2005/8/quickstyle/simple1" qsCatId="simple" csTypeId="urn:microsoft.com/office/officeart/2005/8/colors/accent2_2" csCatId="accent2" phldr="1"/>
      <dgm:spPr/>
      <dgm:t>
        <a:bodyPr/>
        <a:lstStyle/>
        <a:p>
          <a:endParaRPr lang="en-US"/>
        </a:p>
      </dgm:t>
    </dgm:pt>
    <dgm:pt modelId="{E8BE2537-0F8B-4425-8657-10227886D22B}">
      <dgm:prSet phldrT="[Text]" phldr="0"/>
      <dgm:spPr/>
      <dgm:t>
        <a:bodyPr/>
        <a:lstStyle/>
        <a:p>
          <a:pPr rtl="0"/>
          <a:r>
            <a:rPr lang="en-US" dirty="0">
              <a:solidFill>
                <a:schemeClr val="bg1"/>
              </a:solidFill>
              <a:latin typeface="Calibri Light" panose="020F0302020204030204"/>
            </a:rPr>
            <a:t> Investigate</a:t>
          </a:r>
          <a:endParaRPr lang="en-US" dirty="0">
            <a:solidFill>
              <a:schemeClr val="bg1"/>
            </a:solidFill>
          </a:endParaRPr>
        </a:p>
      </dgm:t>
    </dgm:pt>
    <dgm:pt modelId="{E91F19EB-2D91-4888-8539-1EB56412A433}" type="parTrans" cxnId="{E59C678C-F192-41A3-9EDE-7829B3C1659E}">
      <dgm:prSet/>
      <dgm:spPr/>
      <dgm:t>
        <a:bodyPr/>
        <a:lstStyle/>
        <a:p>
          <a:endParaRPr lang="en-US"/>
        </a:p>
      </dgm:t>
    </dgm:pt>
    <dgm:pt modelId="{46EF69A1-4302-4B1D-BEA2-555DEC0EB33F}" type="sibTrans" cxnId="{E59C678C-F192-41A3-9EDE-7829B3C1659E}">
      <dgm:prSet/>
      <dgm:spPr/>
      <dgm:t>
        <a:bodyPr/>
        <a:lstStyle/>
        <a:p>
          <a:endParaRPr lang="en-US"/>
        </a:p>
      </dgm:t>
    </dgm:pt>
    <dgm:pt modelId="{47D1D4A5-0093-4758-AFDE-59783E929187}">
      <dgm:prSet phldrT="[Text]" phldr="0"/>
      <dgm:spPr/>
      <dgm:t>
        <a:bodyPr/>
        <a:lstStyle/>
        <a:p>
          <a:pPr rtl="0"/>
          <a:r>
            <a:rPr lang="en-US" dirty="0">
              <a:solidFill>
                <a:schemeClr val="bg1"/>
              </a:solidFill>
              <a:latin typeface="Calibri Light" panose="020F0302020204030204"/>
            </a:rPr>
            <a:t> Discover</a:t>
          </a:r>
          <a:endParaRPr lang="en-US" dirty="0">
            <a:solidFill>
              <a:schemeClr val="bg1"/>
            </a:solidFill>
          </a:endParaRPr>
        </a:p>
      </dgm:t>
    </dgm:pt>
    <dgm:pt modelId="{EFB37468-50C0-49C9-8D3C-FB72AE24E6B1}" type="parTrans" cxnId="{E8F9BE6B-AFE5-4531-96D3-79A0364E5F3B}">
      <dgm:prSet/>
      <dgm:spPr/>
      <dgm:t>
        <a:bodyPr/>
        <a:lstStyle/>
        <a:p>
          <a:endParaRPr lang="en-US"/>
        </a:p>
      </dgm:t>
    </dgm:pt>
    <dgm:pt modelId="{889AB506-F186-40B3-BD19-B13DACD4F5F0}" type="sibTrans" cxnId="{E8F9BE6B-AFE5-4531-96D3-79A0364E5F3B}">
      <dgm:prSet/>
      <dgm:spPr/>
      <dgm:t>
        <a:bodyPr/>
        <a:lstStyle/>
        <a:p>
          <a:endParaRPr lang="en-US"/>
        </a:p>
      </dgm:t>
    </dgm:pt>
    <dgm:pt modelId="{ABBEA5CE-0D1E-40B7-B921-ED3FF94A0A0A}">
      <dgm:prSet phldrT="[Text]" phldr="0"/>
      <dgm:spPr/>
      <dgm:t>
        <a:bodyPr/>
        <a:lstStyle/>
        <a:p>
          <a:pPr rtl="0"/>
          <a:r>
            <a:rPr lang="en-US" dirty="0">
              <a:solidFill>
                <a:schemeClr val="bg1"/>
              </a:solidFill>
              <a:latin typeface="Calibri Light" panose="020F0302020204030204"/>
            </a:rPr>
            <a:t> Stimulate </a:t>
          </a:r>
          <a:endParaRPr lang="en-US" dirty="0">
            <a:solidFill>
              <a:schemeClr val="bg1"/>
            </a:solidFill>
          </a:endParaRPr>
        </a:p>
      </dgm:t>
    </dgm:pt>
    <dgm:pt modelId="{C9A4793A-087B-416B-9105-6DF44F8AE2C9}" type="parTrans" cxnId="{F58528F6-D0FE-4D3F-A243-4D7E3631E251}">
      <dgm:prSet/>
      <dgm:spPr/>
      <dgm:t>
        <a:bodyPr/>
        <a:lstStyle/>
        <a:p>
          <a:endParaRPr lang="en-US"/>
        </a:p>
      </dgm:t>
    </dgm:pt>
    <dgm:pt modelId="{A3062C0D-E649-480F-B12A-D6FBD54F3EB2}" type="sibTrans" cxnId="{F58528F6-D0FE-4D3F-A243-4D7E3631E251}">
      <dgm:prSet/>
      <dgm:spPr/>
      <dgm:t>
        <a:bodyPr/>
        <a:lstStyle/>
        <a:p>
          <a:endParaRPr lang="en-US"/>
        </a:p>
      </dgm:t>
    </dgm:pt>
    <dgm:pt modelId="{9118583E-AB96-44E8-A6C2-68A0E738810A}">
      <dgm:prSet phldrT="[Text]" phldr="0"/>
      <dgm:spPr/>
      <dgm:t>
        <a:bodyPr/>
        <a:lstStyle/>
        <a:p>
          <a:pPr rtl="0"/>
          <a:r>
            <a:rPr lang="en-US" dirty="0">
              <a:solidFill>
                <a:schemeClr val="bg1"/>
              </a:solidFill>
              <a:latin typeface="Calibri Light" panose="020F0302020204030204"/>
            </a:rPr>
            <a:t>  Explore</a:t>
          </a:r>
          <a:endParaRPr lang="en-US" dirty="0">
            <a:solidFill>
              <a:schemeClr val="bg1"/>
            </a:solidFill>
          </a:endParaRPr>
        </a:p>
      </dgm:t>
    </dgm:pt>
    <dgm:pt modelId="{52D044FE-B47D-4D9B-B6A9-7EA1E27E1061}" type="parTrans" cxnId="{8ACE21CA-70A9-43AE-A60B-180D0061F1E8}">
      <dgm:prSet/>
      <dgm:spPr/>
      <dgm:t>
        <a:bodyPr/>
        <a:lstStyle/>
        <a:p>
          <a:endParaRPr lang="en-US"/>
        </a:p>
      </dgm:t>
    </dgm:pt>
    <dgm:pt modelId="{99D49C8E-9F81-4A08-944B-ECBA6509F998}" type="sibTrans" cxnId="{8ACE21CA-70A9-43AE-A60B-180D0061F1E8}">
      <dgm:prSet/>
      <dgm:spPr/>
      <dgm:t>
        <a:bodyPr/>
        <a:lstStyle/>
        <a:p>
          <a:endParaRPr lang="en-US"/>
        </a:p>
      </dgm:t>
    </dgm:pt>
    <dgm:pt modelId="{ED91BBC3-7B24-46B5-BBF7-47DED0D9E853}">
      <dgm:prSet phldrT="[Text]" phldr="0"/>
      <dgm:spPr/>
      <dgm:t>
        <a:bodyPr/>
        <a:lstStyle/>
        <a:p>
          <a:pPr rtl="0"/>
          <a:r>
            <a:rPr lang="en-US" dirty="0">
              <a:solidFill>
                <a:schemeClr val="bg1"/>
              </a:solidFill>
              <a:latin typeface="Calibri Light" panose="020F0302020204030204"/>
            </a:rPr>
            <a:t> Learn</a:t>
          </a:r>
        </a:p>
      </dgm:t>
    </dgm:pt>
    <dgm:pt modelId="{3656E943-D6B9-477F-A935-B2B6B47A0645}" type="parTrans" cxnId="{CFD79E87-EB86-462A-B18D-F0D32D9300D7}">
      <dgm:prSet/>
      <dgm:spPr/>
    </dgm:pt>
    <dgm:pt modelId="{33E826F0-DB11-4B2C-BC48-E67DBF1499DB}" type="sibTrans" cxnId="{CFD79E87-EB86-462A-B18D-F0D32D9300D7}">
      <dgm:prSet/>
      <dgm:spPr/>
    </dgm:pt>
    <dgm:pt modelId="{B2C9AFBA-048B-4B5B-B593-0852AB3FB110}" type="pres">
      <dgm:prSet presAssocID="{EE9FE3EE-312F-4236-9E37-C403AED61FD5}" presName="cycle" presStyleCnt="0">
        <dgm:presLayoutVars>
          <dgm:dir/>
          <dgm:resizeHandles val="exact"/>
        </dgm:presLayoutVars>
      </dgm:prSet>
      <dgm:spPr/>
    </dgm:pt>
    <dgm:pt modelId="{17316A66-E100-4ED0-8E99-C348D3C1CD8F}" type="pres">
      <dgm:prSet presAssocID="{E8BE2537-0F8B-4425-8657-10227886D22B}" presName="dummy" presStyleCnt="0"/>
      <dgm:spPr/>
    </dgm:pt>
    <dgm:pt modelId="{C759E262-AEA2-4163-9D01-C5595886346F}" type="pres">
      <dgm:prSet presAssocID="{E8BE2537-0F8B-4425-8657-10227886D22B}" presName="node" presStyleLbl="revTx" presStyleIdx="0" presStyleCnt="5">
        <dgm:presLayoutVars>
          <dgm:bulletEnabled val="1"/>
        </dgm:presLayoutVars>
      </dgm:prSet>
      <dgm:spPr/>
    </dgm:pt>
    <dgm:pt modelId="{FDF45DD5-47BC-4F4A-867E-9EDB6FF6F17D}" type="pres">
      <dgm:prSet presAssocID="{46EF69A1-4302-4B1D-BEA2-555DEC0EB33F}" presName="sibTrans" presStyleLbl="node1" presStyleIdx="0" presStyleCnt="5"/>
      <dgm:spPr/>
    </dgm:pt>
    <dgm:pt modelId="{1A687A3C-8CB2-4B2C-9433-432CF620BB77}" type="pres">
      <dgm:prSet presAssocID="{47D1D4A5-0093-4758-AFDE-59783E929187}" presName="dummy" presStyleCnt="0"/>
      <dgm:spPr/>
    </dgm:pt>
    <dgm:pt modelId="{62FB4A80-B2AD-4EDB-B4EB-B2AE57B9473E}" type="pres">
      <dgm:prSet presAssocID="{47D1D4A5-0093-4758-AFDE-59783E929187}" presName="node" presStyleLbl="revTx" presStyleIdx="1" presStyleCnt="5">
        <dgm:presLayoutVars>
          <dgm:bulletEnabled val="1"/>
        </dgm:presLayoutVars>
      </dgm:prSet>
      <dgm:spPr/>
    </dgm:pt>
    <dgm:pt modelId="{2B95C7D2-9735-4595-8893-D1199DE91F68}" type="pres">
      <dgm:prSet presAssocID="{889AB506-F186-40B3-BD19-B13DACD4F5F0}" presName="sibTrans" presStyleLbl="node1" presStyleIdx="1" presStyleCnt="5"/>
      <dgm:spPr/>
    </dgm:pt>
    <dgm:pt modelId="{1090583C-39DE-4884-876B-58C907BD0D42}" type="pres">
      <dgm:prSet presAssocID="{ABBEA5CE-0D1E-40B7-B921-ED3FF94A0A0A}" presName="dummy" presStyleCnt="0"/>
      <dgm:spPr/>
    </dgm:pt>
    <dgm:pt modelId="{65156A0A-48C4-4C98-B934-FE44ED0C9A32}" type="pres">
      <dgm:prSet presAssocID="{ABBEA5CE-0D1E-40B7-B921-ED3FF94A0A0A}" presName="node" presStyleLbl="revTx" presStyleIdx="2" presStyleCnt="5">
        <dgm:presLayoutVars>
          <dgm:bulletEnabled val="1"/>
        </dgm:presLayoutVars>
      </dgm:prSet>
      <dgm:spPr/>
    </dgm:pt>
    <dgm:pt modelId="{715D8CF1-DD28-4F52-9D25-4DCC367F8BDE}" type="pres">
      <dgm:prSet presAssocID="{A3062C0D-E649-480F-B12A-D6FBD54F3EB2}" presName="sibTrans" presStyleLbl="node1" presStyleIdx="2" presStyleCnt="5"/>
      <dgm:spPr/>
    </dgm:pt>
    <dgm:pt modelId="{8450D755-E582-445F-B639-B66A93A26550}" type="pres">
      <dgm:prSet presAssocID="{9118583E-AB96-44E8-A6C2-68A0E738810A}" presName="dummy" presStyleCnt="0"/>
      <dgm:spPr/>
    </dgm:pt>
    <dgm:pt modelId="{B300E07E-730E-472C-AB64-B864F6C73BCD}" type="pres">
      <dgm:prSet presAssocID="{9118583E-AB96-44E8-A6C2-68A0E738810A}" presName="node" presStyleLbl="revTx" presStyleIdx="3" presStyleCnt="5">
        <dgm:presLayoutVars>
          <dgm:bulletEnabled val="1"/>
        </dgm:presLayoutVars>
      </dgm:prSet>
      <dgm:spPr/>
    </dgm:pt>
    <dgm:pt modelId="{5BE47674-C342-4311-85E0-A7D73A72D6EF}" type="pres">
      <dgm:prSet presAssocID="{99D49C8E-9F81-4A08-944B-ECBA6509F998}" presName="sibTrans" presStyleLbl="node1" presStyleIdx="3" presStyleCnt="5"/>
      <dgm:spPr/>
    </dgm:pt>
    <dgm:pt modelId="{7BA0DFAB-EE76-46DB-ADF8-310520749F41}" type="pres">
      <dgm:prSet presAssocID="{ED91BBC3-7B24-46B5-BBF7-47DED0D9E853}" presName="dummy" presStyleCnt="0"/>
      <dgm:spPr/>
    </dgm:pt>
    <dgm:pt modelId="{18FEA403-3FC9-4961-8436-5F652D65D755}" type="pres">
      <dgm:prSet presAssocID="{ED91BBC3-7B24-46B5-BBF7-47DED0D9E853}" presName="node" presStyleLbl="revTx" presStyleIdx="4" presStyleCnt="5">
        <dgm:presLayoutVars>
          <dgm:bulletEnabled val="1"/>
        </dgm:presLayoutVars>
      </dgm:prSet>
      <dgm:spPr/>
    </dgm:pt>
    <dgm:pt modelId="{137F2CFB-4358-4483-B1B1-06BE27B4A21E}" type="pres">
      <dgm:prSet presAssocID="{33E826F0-DB11-4B2C-BC48-E67DBF1499DB}" presName="sibTrans" presStyleLbl="node1" presStyleIdx="4" presStyleCnt="5"/>
      <dgm:spPr/>
    </dgm:pt>
  </dgm:ptLst>
  <dgm:cxnLst>
    <dgm:cxn modelId="{2DFB5513-82D6-412B-8560-5FAFBA68F7D3}" type="presOf" srcId="{EE9FE3EE-312F-4236-9E37-C403AED61FD5}" destId="{B2C9AFBA-048B-4B5B-B593-0852AB3FB110}" srcOrd="0" destOrd="0" presId="urn:microsoft.com/office/officeart/2005/8/layout/cycle1"/>
    <dgm:cxn modelId="{33F5D01D-72E8-435D-89D7-D8DF882262B2}" type="presOf" srcId="{E8BE2537-0F8B-4425-8657-10227886D22B}" destId="{C759E262-AEA2-4163-9D01-C5595886346F}" srcOrd="0" destOrd="0" presId="urn:microsoft.com/office/officeart/2005/8/layout/cycle1"/>
    <dgm:cxn modelId="{672D0430-CC52-4D6E-9321-B8126E45AC51}" type="presOf" srcId="{ABBEA5CE-0D1E-40B7-B921-ED3FF94A0A0A}" destId="{65156A0A-48C4-4C98-B934-FE44ED0C9A32}" srcOrd="0" destOrd="0" presId="urn:microsoft.com/office/officeart/2005/8/layout/cycle1"/>
    <dgm:cxn modelId="{927A1267-6FF4-4246-B1E9-BB82DCEE07FE}" type="presOf" srcId="{99D49C8E-9F81-4A08-944B-ECBA6509F998}" destId="{5BE47674-C342-4311-85E0-A7D73A72D6EF}" srcOrd="0" destOrd="0" presId="urn:microsoft.com/office/officeart/2005/8/layout/cycle1"/>
    <dgm:cxn modelId="{E8F9BE6B-AFE5-4531-96D3-79A0364E5F3B}" srcId="{EE9FE3EE-312F-4236-9E37-C403AED61FD5}" destId="{47D1D4A5-0093-4758-AFDE-59783E929187}" srcOrd="1" destOrd="0" parTransId="{EFB37468-50C0-49C9-8D3C-FB72AE24E6B1}" sibTransId="{889AB506-F186-40B3-BD19-B13DACD4F5F0}"/>
    <dgm:cxn modelId="{3115A66D-095E-4C1B-9507-533C49F5AF67}" type="presOf" srcId="{33E826F0-DB11-4B2C-BC48-E67DBF1499DB}" destId="{137F2CFB-4358-4483-B1B1-06BE27B4A21E}" srcOrd="0" destOrd="0" presId="urn:microsoft.com/office/officeart/2005/8/layout/cycle1"/>
    <dgm:cxn modelId="{63DE7F51-A5BA-41A9-9224-5A174DE84E43}" type="presOf" srcId="{ED91BBC3-7B24-46B5-BBF7-47DED0D9E853}" destId="{18FEA403-3FC9-4961-8436-5F652D65D755}" srcOrd="0" destOrd="0" presId="urn:microsoft.com/office/officeart/2005/8/layout/cycle1"/>
    <dgm:cxn modelId="{A6E9F178-F53C-4CB7-86CA-34B90550D1C2}" type="presOf" srcId="{889AB506-F186-40B3-BD19-B13DACD4F5F0}" destId="{2B95C7D2-9735-4595-8893-D1199DE91F68}" srcOrd="0" destOrd="0" presId="urn:microsoft.com/office/officeart/2005/8/layout/cycle1"/>
    <dgm:cxn modelId="{73597C7B-77B6-42A3-A475-C129221FA83E}" type="presOf" srcId="{9118583E-AB96-44E8-A6C2-68A0E738810A}" destId="{B300E07E-730E-472C-AB64-B864F6C73BCD}" srcOrd="0" destOrd="0" presId="urn:microsoft.com/office/officeart/2005/8/layout/cycle1"/>
    <dgm:cxn modelId="{CFD79E87-EB86-462A-B18D-F0D32D9300D7}" srcId="{EE9FE3EE-312F-4236-9E37-C403AED61FD5}" destId="{ED91BBC3-7B24-46B5-BBF7-47DED0D9E853}" srcOrd="4" destOrd="0" parTransId="{3656E943-D6B9-477F-A935-B2B6B47A0645}" sibTransId="{33E826F0-DB11-4B2C-BC48-E67DBF1499DB}"/>
    <dgm:cxn modelId="{E59C678C-F192-41A3-9EDE-7829B3C1659E}" srcId="{EE9FE3EE-312F-4236-9E37-C403AED61FD5}" destId="{E8BE2537-0F8B-4425-8657-10227886D22B}" srcOrd="0" destOrd="0" parTransId="{E91F19EB-2D91-4888-8539-1EB56412A433}" sibTransId="{46EF69A1-4302-4B1D-BEA2-555DEC0EB33F}"/>
    <dgm:cxn modelId="{243F1C8F-4350-472E-9698-547F06929930}" type="presOf" srcId="{A3062C0D-E649-480F-B12A-D6FBD54F3EB2}" destId="{715D8CF1-DD28-4F52-9D25-4DCC367F8BDE}" srcOrd="0" destOrd="0" presId="urn:microsoft.com/office/officeart/2005/8/layout/cycle1"/>
    <dgm:cxn modelId="{8ACE21CA-70A9-43AE-A60B-180D0061F1E8}" srcId="{EE9FE3EE-312F-4236-9E37-C403AED61FD5}" destId="{9118583E-AB96-44E8-A6C2-68A0E738810A}" srcOrd="3" destOrd="0" parTransId="{52D044FE-B47D-4D9B-B6A9-7EA1E27E1061}" sibTransId="{99D49C8E-9F81-4A08-944B-ECBA6509F998}"/>
    <dgm:cxn modelId="{9574D3F4-D854-4DCC-83CB-399989D03D32}" type="presOf" srcId="{47D1D4A5-0093-4758-AFDE-59783E929187}" destId="{62FB4A80-B2AD-4EDB-B4EB-B2AE57B9473E}" srcOrd="0" destOrd="0" presId="urn:microsoft.com/office/officeart/2005/8/layout/cycle1"/>
    <dgm:cxn modelId="{F58528F6-D0FE-4D3F-A243-4D7E3631E251}" srcId="{EE9FE3EE-312F-4236-9E37-C403AED61FD5}" destId="{ABBEA5CE-0D1E-40B7-B921-ED3FF94A0A0A}" srcOrd="2" destOrd="0" parTransId="{C9A4793A-087B-416B-9105-6DF44F8AE2C9}" sibTransId="{A3062C0D-E649-480F-B12A-D6FBD54F3EB2}"/>
    <dgm:cxn modelId="{3CE2FBFB-EF16-4410-85C5-A4422CD0B075}" type="presOf" srcId="{46EF69A1-4302-4B1D-BEA2-555DEC0EB33F}" destId="{FDF45DD5-47BC-4F4A-867E-9EDB6FF6F17D}" srcOrd="0" destOrd="0" presId="urn:microsoft.com/office/officeart/2005/8/layout/cycle1"/>
    <dgm:cxn modelId="{74A7C3B7-37FF-4EB0-8F8D-0EAD7E222B6E}" type="presParOf" srcId="{B2C9AFBA-048B-4B5B-B593-0852AB3FB110}" destId="{17316A66-E100-4ED0-8E99-C348D3C1CD8F}" srcOrd="0" destOrd="0" presId="urn:microsoft.com/office/officeart/2005/8/layout/cycle1"/>
    <dgm:cxn modelId="{7FC2CFE6-7C2E-4F67-AAD5-35BA5275DEC7}" type="presParOf" srcId="{B2C9AFBA-048B-4B5B-B593-0852AB3FB110}" destId="{C759E262-AEA2-4163-9D01-C5595886346F}" srcOrd="1" destOrd="0" presId="urn:microsoft.com/office/officeart/2005/8/layout/cycle1"/>
    <dgm:cxn modelId="{641D6DCB-BDBE-4363-AB37-0425E3C3D311}" type="presParOf" srcId="{B2C9AFBA-048B-4B5B-B593-0852AB3FB110}" destId="{FDF45DD5-47BC-4F4A-867E-9EDB6FF6F17D}" srcOrd="2" destOrd="0" presId="urn:microsoft.com/office/officeart/2005/8/layout/cycle1"/>
    <dgm:cxn modelId="{1A760A44-AB12-4D70-B22A-1BB3BDD652ED}" type="presParOf" srcId="{B2C9AFBA-048B-4B5B-B593-0852AB3FB110}" destId="{1A687A3C-8CB2-4B2C-9433-432CF620BB77}" srcOrd="3" destOrd="0" presId="urn:microsoft.com/office/officeart/2005/8/layout/cycle1"/>
    <dgm:cxn modelId="{210391D3-376C-487D-B372-9D80841E4527}" type="presParOf" srcId="{B2C9AFBA-048B-4B5B-B593-0852AB3FB110}" destId="{62FB4A80-B2AD-4EDB-B4EB-B2AE57B9473E}" srcOrd="4" destOrd="0" presId="urn:microsoft.com/office/officeart/2005/8/layout/cycle1"/>
    <dgm:cxn modelId="{7A0A16ED-FAE9-4DA6-9ADB-E60624BD2473}" type="presParOf" srcId="{B2C9AFBA-048B-4B5B-B593-0852AB3FB110}" destId="{2B95C7D2-9735-4595-8893-D1199DE91F68}" srcOrd="5" destOrd="0" presId="urn:microsoft.com/office/officeart/2005/8/layout/cycle1"/>
    <dgm:cxn modelId="{E0802A6A-ED19-4509-BDC3-EE3CB9E683F1}" type="presParOf" srcId="{B2C9AFBA-048B-4B5B-B593-0852AB3FB110}" destId="{1090583C-39DE-4884-876B-58C907BD0D42}" srcOrd="6" destOrd="0" presId="urn:microsoft.com/office/officeart/2005/8/layout/cycle1"/>
    <dgm:cxn modelId="{553C98A7-CB75-4B8A-BD45-EC24E354B445}" type="presParOf" srcId="{B2C9AFBA-048B-4B5B-B593-0852AB3FB110}" destId="{65156A0A-48C4-4C98-B934-FE44ED0C9A32}" srcOrd="7" destOrd="0" presId="urn:microsoft.com/office/officeart/2005/8/layout/cycle1"/>
    <dgm:cxn modelId="{C00747C2-47BB-4EDF-8E5E-45610437D3FC}" type="presParOf" srcId="{B2C9AFBA-048B-4B5B-B593-0852AB3FB110}" destId="{715D8CF1-DD28-4F52-9D25-4DCC367F8BDE}" srcOrd="8" destOrd="0" presId="urn:microsoft.com/office/officeart/2005/8/layout/cycle1"/>
    <dgm:cxn modelId="{D51358B5-E8E8-414F-8231-D09F7761BB20}" type="presParOf" srcId="{B2C9AFBA-048B-4B5B-B593-0852AB3FB110}" destId="{8450D755-E582-445F-B639-B66A93A26550}" srcOrd="9" destOrd="0" presId="urn:microsoft.com/office/officeart/2005/8/layout/cycle1"/>
    <dgm:cxn modelId="{159EAA7C-1385-49DC-81D3-CED2239B78A2}" type="presParOf" srcId="{B2C9AFBA-048B-4B5B-B593-0852AB3FB110}" destId="{B300E07E-730E-472C-AB64-B864F6C73BCD}" srcOrd="10" destOrd="0" presId="urn:microsoft.com/office/officeart/2005/8/layout/cycle1"/>
    <dgm:cxn modelId="{65F282D9-112D-4741-B166-7CA774F59228}" type="presParOf" srcId="{B2C9AFBA-048B-4B5B-B593-0852AB3FB110}" destId="{5BE47674-C342-4311-85E0-A7D73A72D6EF}" srcOrd="11" destOrd="0" presId="urn:microsoft.com/office/officeart/2005/8/layout/cycle1"/>
    <dgm:cxn modelId="{ED9E99EF-BBC0-4247-B83D-4EC7900EB968}" type="presParOf" srcId="{B2C9AFBA-048B-4B5B-B593-0852AB3FB110}" destId="{7BA0DFAB-EE76-46DB-ADF8-310520749F41}" srcOrd="12" destOrd="0" presId="urn:microsoft.com/office/officeart/2005/8/layout/cycle1"/>
    <dgm:cxn modelId="{F610CC8C-FA4B-4ABD-BEF5-00E763E7113A}" type="presParOf" srcId="{B2C9AFBA-048B-4B5B-B593-0852AB3FB110}" destId="{18FEA403-3FC9-4961-8436-5F652D65D755}" srcOrd="13" destOrd="0" presId="urn:microsoft.com/office/officeart/2005/8/layout/cycle1"/>
    <dgm:cxn modelId="{E8246DA3-FF45-46CA-83EB-8FF9B9CD0647}" type="presParOf" srcId="{B2C9AFBA-048B-4B5B-B593-0852AB3FB110}" destId="{137F2CFB-4358-4483-B1B1-06BE27B4A21E}" srcOrd="14"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9E262-AEA2-4163-9D01-C5595886346F}">
      <dsp:nvSpPr>
        <dsp:cNvPr id="0" name=""/>
        <dsp:cNvSpPr/>
      </dsp:nvSpPr>
      <dsp:spPr>
        <a:xfrm>
          <a:off x="3391165" y="28678"/>
          <a:ext cx="958088" cy="958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Calibri Light" panose="020F0302020204030204"/>
            </a:rPr>
            <a:t> Investigate</a:t>
          </a:r>
          <a:endParaRPr lang="en-US" sz="1600" kern="1200" dirty="0">
            <a:solidFill>
              <a:schemeClr val="bg1"/>
            </a:solidFill>
          </a:endParaRPr>
        </a:p>
      </dsp:txBody>
      <dsp:txXfrm>
        <a:off x="3391165" y="28678"/>
        <a:ext cx="958088" cy="958088"/>
      </dsp:txXfrm>
    </dsp:sp>
    <dsp:sp modelId="{FDF45DD5-47BC-4F4A-867E-9EDB6FF6F17D}">
      <dsp:nvSpPr>
        <dsp:cNvPr id="0" name=""/>
        <dsp:cNvSpPr/>
      </dsp:nvSpPr>
      <dsp:spPr>
        <a:xfrm>
          <a:off x="1136076" y="802"/>
          <a:ext cx="3593809" cy="3593809"/>
        </a:xfrm>
        <a:prstGeom prst="circularArrow">
          <a:avLst>
            <a:gd name="adj1" fmla="val 5199"/>
            <a:gd name="adj2" fmla="val 335798"/>
            <a:gd name="adj3" fmla="val 21293710"/>
            <a:gd name="adj4" fmla="val 19765829"/>
            <a:gd name="adj5" fmla="val 6065"/>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FB4A80-B2AD-4EDB-B4EB-B2AE57B9473E}">
      <dsp:nvSpPr>
        <dsp:cNvPr id="0" name=""/>
        <dsp:cNvSpPr/>
      </dsp:nvSpPr>
      <dsp:spPr>
        <a:xfrm>
          <a:off x="3970404" y="1811393"/>
          <a:ext cx="958088" cy="958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Calibri Light" panose="020F0302020204030204"/>
            </a:rPr>
            <a:t> Discover</a:t>
          </a:r>
          <a:endParaRPr lang="en-US" sz="1600" kern="1200" dirty="0">
            <a:solidFill>
              <a:schemeClr val="bg1"/>
            </a:solidFill>
          </a:endParaRPr>
        </a:p>
      </dsp:txBody>
      <dsp:txXfrm>
        <a:off x="3970404" y="1811393"/>
        <a:ext cx="958088" cy="958088"/>
      </dsp:txXfrm>
    </dsp:sp>
    <dsp:sp modelId="{2B95C7D2-9735-4595-8893-D1199DE91F68}">
      <dsp:nvSpPr>
        <dsp:cNvPr id="0" name=""/>
        <dsp:cNvSpPr/>
      </dsp:nvSpPr>
      <dsp:spPr>
        <a:xfrm>
          <a:off x="1136076" y="802"/>
          <a:ext cx="3593809" cy="3593809"/>
        </a:xfrm>
        <a:prstGeom prst="circularArrow">
          <a:avLst>
            <a:gd name="adj1" fmla="val 5199"/>
            <a:gd name="adj2" fmla="val 335798"/>
            <a:gd name="adj3" fmla="val 4015183"/>
            <a:gd name="adj4" fmla="val 2252987"/>
            <a:gd name="adj5" fmla="val 6065"/>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156A0A-48C4-4C98-B934-FE44ED0C9A32}">
      <dsp:nvSpPr>
        <dsp:cNvPr id="0" name=""/>
        <dsp:cNvSpPr/>
      </dsp:nvSpPr>
      <dsp:spPr>
        <a:xfrm>
          <a:off x="2453936" y="2913172"/>
          <a:ext cx="958088" cy="958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Calibri Light" panose="020F0302020204030204"/>
            </a:rPr>
            <a:t> Stimulate </a:t>
          </a:r>
          <a:endParaRPr lang="en-US" sz="1600" kern="1200" dirty="0">
            <a:solidFill>
              <a:schemeClr val="bg1"/>
            </a:solidFill>
          </a:endParaRPr>
        </a:p>
      </dsp:txBody>
      <dsp:txXfrm>
        <a:off x="2453936" y="2913172"/>
        <a:ext cx="958088" cy="958088"/>
      </dsp:txXfrm>
    </dsp:sp>
    <dsp:sp modelId="{715D8CF1-DD28-4F52-9D25-4DCC367F8BDE}">
      <dsp:nvSpPr>
        <dsp:cNvPr id="0" name=""/>
        <dsp:cNvSpPr/>
      </dsp:nvSpPr>
      <dsp:spPr>
        <a:xfrm>
          <a:off x="1136076" y="802"/>
          <a:ext cx="3593809" cy="3593809"/>
        </a:xfrm>
        <a:prstGeom prst="circularArrow">
          <a:avLst>
            <a:gd name="adj1" fmla="val 5199"/>
            <a:gd name="adj2" fmla="val 335798"/>
            <a:gd name="adj3" fmla="val 8211215"/>
            <a:gd name="adj4" fmla="val 6449019"/>
            <a:gd name="adj5" fmla="val 6065"/>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00E07E-730E-472C-AB64-B864F6C73BCD}">
      <dsp:nvSpPr>
        <dsp:cNvPr id="0" name=""/>
        <dsp:cNvSpPr/>
      </dsp:nvSpPr>
      <dsp:spPr>
        <a:xfrm>
          <a:off x="937468" y="1811393"/>
          <a:ext cx="958088" cy="958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Calibri Light" panose="020F0302020204030204"/>
            </a:rPr>
            <a:t>  Explore</a:t>
          </a:r>
          <a:endParaRPr lang="en-US" sz="1600" kern="1200" dirty="0">
            <a:solidFill>
              <a:schemeClr val="bg1"/>
            </a:solidFill>
          </a:endParaRPr>
        </a:p>
      </dsp:txBody>
      <dsp:txXfrm>
        <a:off x="937468" y="1811393"/>
        <a:ext cx="958088" cy="958088"/>
      </dsp:txXfrm>
    </dsp:sp>
    <dsp:sp modelId="{5BE47674-C342-4311-85E0-A7D73A72D6EF}">
      <dsp:nvSpPr>
        <dsp:cNvPr id="0" name=""/>
        <dsp:cNvSpPr/>
      </dsp:nvSpPr>
      <dsp:spPr>
        <a:xfrm>
          <a:off x="1136076" y="802"/>
          <a:ext cx="3593809" cy="3593809"/>
        </a:xfrm>
        <a:prstGeom prst="circularArrow">
          <a:avLst>
            <a:gd name="adj1" fmla="val 5199"/>
            <a:gd name="adj2" fmla="val 335798"/>
            <a:gd name="adj3" fmla="val 12298373"/>
            <a:gd name="adj4" fmla="val 10770492"/>
            <a:gd name="adj5" fmla="val 6065"/>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FEA403-3FC9-4961-8436-5F652D65D755}">
      <dsp:nvSpPr>
        <dsp:cNvPr id="0" name=""/>
        <dsp:cNvSpPr/>
      </dsp:nvSpPr>
      <dsp:spPr>
        <a:xfrm>
          <a:off x="1516708" y="28678"/>
          <a:ext cx="958088" cy="958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Calibri Light" panose="020F0302020204030204"/>
            </a:rPr>
            <a:t> Learn</a:t>
          </a:r>
        </a:p>
      </dsp:txBody>
      <dsp:txXfrm>
        <a:off x="1516708" y="28678"/>
        <a:ext cx="958088" cy="958088"/>
      </dsp:txXfrm>
    </dsp:sp>
    <dsp:sp modelId="{137F2CFB-4358-4483-B1B1-06BE27B4A21E}">
      <dsp:nvSpPr>
        <dsp:cNvPr id="0" name=""/>
        <dsp:cNvSpPr/>
      </dsp:nvSpPr>
      <dsp:spPr>
        <a:xfrm>
          <a:off x="1136076" y="802"/>
          <a:ext cx="3593809" cy="3593809"/>
        </a:xfrm>
        <a:prstGeom prst="circularArrow">
          <a:avLst>
            <a:gd name="adj1" fmla="val 5199"/>
            <a:gd name="adj2" fmla="val 335798"/>
            <a:gd name="adj3" fmla="val 16866170"/>
            <a:gd name="adj4" fmla="val 15198032"/>
            <a:gd name="adj5" fmla="val 6065"/>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4EB887D-32A9-43BB-83C0-488BDB997F81}" type="datetimeFigureOut">
              <a:t>9/7/2026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E12302E1-DC3C-4BDE-8E7D-482E71676A63}" type="slidenum">
              <a:t>‹#›</a:t>
            </a:fld>
            <a:endParaRPr lang="en-US"/>
          </a:p>
        </p:txBody>
      </p:sp>
    </p:spTree>
    <p:extLst>
      <p:ext uri="{BB962C8B-B14F-4D97-AF65-F5344CB8AC3E}">
        <p14:creationId xmlns:p14="http://schemas.microsoft.com/office/powerpoint/2010/main" val="3067728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38.svg"/><Relationship Id="rId4" Type="http://schemas.openxmlformats.org/officeDocument/2006/relationships/image" Target="../media/image37.svg"/></Relationships>
</file>

<file path=ppt/slides/_rels/slide2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1.svg"/><Relationship Id="rId4" Type="http://schemas.openxmlformats.org/officeDocument/2006/relationships/image" Target="../media/image40.svg"/></Relationships>
</file>

<file path=ppt/slides/_rels/slide2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03794" y="1412081"/>
            <a:ext cx="6355993"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CureVerseAI</a:t>
            </a:r>
            <a:endParaRPr lang="en-US" sz="3250" dirty="0"/>
          </a:p>
        </p:txBody>
      </p:sp>
      <p:sp>
        <p:nvSpPr>
          <p:cNvPr id="4" name="Text 1"/>
          <p:cNvSpPr/>
          <p:nvPr/>
        </p:nvSpPr>
        <p:spPr>
          <a:xfrm>
            <a:off x="5203794" y="2168624"/>
            <a:ext cx="6355993" cy="1434108"/>
          </a:xfrm>
          <a:prstGeom prst="rect">
            <a:avLst/>
          </a:prstGeom>
          <a:noFill/>
          <a:ln/>
        </p:spPr>
        <p:txBody>
          <a:bodyPr wrap="square" lIns="0" tIns="0" rIns="0" bIns="0" rtlCol="0" anchor="t">
            <a:normAutofit/>
          </a:bodyPr>
          <a:lstStyle/>
          <a:p>
            <a:pPr marL="0" indent="0" algn="l">
              <a:lnSpc>
                <a:spcPct val="104000"/>
              </a:lnSpc>
              <a:buNone/>
            </a:pPr>
            <a:r>
              <a:rPr lang="en-US" sz="4500" dirty="0">
                <a:solidFill>
                  <a:srgbClr val="FAEBEB"/>
                </a:solidFill>
                <a:latin typeface="Dela Gothic One" pitchFamily="34" charset="0"/>
                <a:ea typeface="Dela Gothic One" pitchFamily="34" charset="-122"/>
                <a:cs typeface="Dela Gothic One" pitchFamily="34" charset="-120"/>
              </a:rPr>
              <a:t>The Biological Intelligence Layer</a:t>
            </a:r>
            <a:endParaRPr lang="en-US" sz="4500" dirty="0"/>
          </a:p>
        </p:txBody>
      </p:sp>
      <p:sp>
        <p:nvSpPr>
          <p:cNvPr id="5" name="Text 2"/>
          <p:cNvSpPr/>
          <p:nvPr/>
        </p:nvSpPr>
        <p:spPr>
          <a:xfrm>
            <a:off x="5203794" y="3839666"/>
            <a:ext cx="6355993" cy="1188541"/>
          </a:xfrm>
          <a:prstGeom prst="rect">
            <a:avLst/>
          </a:prstGeom>
          <a:noFill/>
          <a:ln/>
        </p:spPr>
        <p:txBody>
          <a:bodyPr wrap="square" lIns="0" tIns="0" rIns="0" bIns="0" rtlCol="0" anchor="t">
            <a:normAutofit/>
          </a:bodyPr>
          <a:lstStyle/>
          <a:p>
            <a:pPr marL="0" indent="0" algn="l">
              <a:lnSpc>
                <a:spcPct val="133000"/>
              </a:lnSpc>
              <a:spcAft>
                <a:spcPts val="1350"/>
              </a:spcAft>
              <a:buNone/>
            </a:pPr>
            <a:r>
              <a:rPr lang="en-US" sz="1200" dirty="0">
                <a:solidFill>
                  <a:srgbClr val="FFE5E5"/>
                </a:solidFill>
                <a:latin typeface="DM Sans" pitchFamily="34" charset="0"/>
                <a:ea typeface="DM Sans" pitchFamily="34" charset="-122"/>
                <a:cs typeface="DM Sans" pitchFamily="34" charset="-120"/>
              </a:rPr>
              <a:t>AI-powered biological intelligence connecting scientific data, AI models, evidence, reasoning, visualization, and simulation across Research, Drug Development, Medicine, Biotechnology, and Education.</a:t>
            </a:r>
            <a:endParaRPr lang="en-US" sz="1200" dirty="0"/>
          </a:p>
          <a:p>
            <a:pPr marL="0" indent="0" algn="l">
              <a:lnSpc>
                <a:spcPct val="133000"/>
              </a:lnSpc>
              <a:buNone/>
            </a:pPr>
            <a:r>
              <a:rPr lang="en-US" sz="1200" b="1" dirty="0">
                <a:solidFill>
                  <a:srgbClr val="FFE5E5"/>
                </a:solidFill>
                <a:latin typeface="DM Sans Bold" pitchFamily="34" charset="0"/>
                <a:ea typeface="DM Sans Bold" pitchFamily="34" charset="-122"/>
                <a:cs typeface="DM Sans Bold" pitchFamily="34" charset="-120"/>
              </a:rPr>
              <a:t>Team:</a:t>
            </a:r>
            <a:r>
              <a:rPr lang="en-US" sz="1200" dirty="0">
                <a:solidFill>
                  <a:srgbClr val="FFE5E5"/>
                </a:solidFill>
                <a:latin typeface="DM Sans" pitchFamily="34" charset="0"/>
                <a:ea typeface="DM Sans" pitchFamily="34" charset="-122"/>
                <a:cs typeface="DM Sans" pitchFamily="34" charset="-120"/>
              </a:rPr>
              <a:t> Arooj Kanwal • Umme Hani • Aatazaz Hussain</a:t>
            </a:r>
            <a:endParaRPr lang="en-US" sz="1200" dirty="0"/>
          </a:p>
        </p:txBody>
      </p:sp>
      <p:sp>
        <p:nvSpPr>
          <p:cNvPr id="6" name="Shape 3"/>
          <p:cNvSpPr/>
          <p:nvPr/>
        </p:nvSpPr>
        <p:spPr>
          <a:xfrm>
            <a:off x="5203794" y="5205909"/>
            <a:ext cx="2413337" cy="240010"/>
          </a:xfrm>
          <a:prstGeom prst="roundRect">
            <a:avLst>
              <a:gd name="adj" fmla="val 22116"/>
            </a:avLst>
          </a:prstGeom>
          <a:solidFill>
            <a:srgbClr val="460707"/>
          </a:solidFill>
          <a:ln/>
        </p:spPr>
      </p:sp>
      <p:sp>
        <p:nvSpPr>
          <p:cNvPr id="7" name="Text 4"/>
          <p:cNvSpPr/>
          <p:nvPr/>
        </p:nvSpPr>
        <p:spPr>
          <a:xfrm>
            <a:off x="5298546" y="5253236"/>
            <a:ext cx="2833418" cy="145355"/>
          </a:xfrm>
          <a:prstGeom prst="rect">
            <a:avLst/>
          </a:prstGeom>
          <a:noFill/>
          <a:ln/>
        </p:spPr>
        <p:txBody>
          <a:bodyPr wrap="none" lIns="0" tIns="0" rIns="0" bIns="0" rtlCol="0" anchor="t"/>
          <a:lstStyle/>
          <a:p>
            <a:pPr marL="0" indent="0" algn="l">
              <a:lnSpc>
                <a:spcPct val="96000"/>
              </a:lnSpc>
              <a:buNone/>
            </a:pPr>
            <a:r>
              <a:rPr lang="en-US" sz="950" dirty="0">
                <a:solidFill>
                  <a:srgbClr val="FFE5E5"/>
                </a:solidFill>
                <a:latin typeface="DM Sans" pitchFamily="34" charset="0"/>
                <a:ea typeface="DM Sans" pitchFamily="34" charset="-122"/>
                <a:cs typeface="DM Sans" pitchFamily="34" charset="-120"/>
              </a:rPr>
              <a:t>HACKATHON PROJECT PRESENTATION</a:t>
            </a:r>
            <a:endParaRPr lang="en-US" sz="950" dirty="0"/>
          </a:p>
        </p:txBody>
      </p:sp>
      <p:sp>
        <p:nvSpPr>
          <p:cNvPr id="9" name="Rectangle: Rounded Corners 8">
            <a:extLst>
              <a:ext uri="{FF2B5EF4-FFF2-40B4-BE49-F238E27FC236}">
                <a16:creationId xmlns:a16="http://schemas.microsoft.com/office/drawing/2014/main" id="{E6C00ECA-F22C-39DA-10C8-CAF3764906E6}"/>
              </a:ext>
            </a:extLst>
          </p:cNvPr>
          <p:cNvSpPr/>
          <p:nvPr/>
        </p:nvSpPr>
        <p:spPr>
          <a:xfrm>
            <a:off x="10473618" y="6510068"/>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1908" y="443111"/>
            <a:ext cx="10927878" cy="470892"/>
          </a:xfrm>
          <a:prstGeom prst="rect">
            <a:avLst/>
          </a:prstGeom>
          <a:noFill/>
          <a:ln/>
        </p:spPr>
        <p:txBody>
          <a:bodyPr wrap="none" lIns="0" tIns="0" rIns="0" bIns="0" rtlCol="0" anchor="t"/>
          <a:lstStyle/>
          <a:p>
            <a:pPr marL="0" indent="0" algn="l">
              <a:lnSpc>
                <a:spcPct val="104000"/>
              </a:lnSpc>
              <a:buNone/>
            </a:pPr>
            <a:r>
              <a:rPr lang="en-US" sz="2950" dirty="0">
                <a:solidFill>
                  <a:srgbClr val="FAEBEB"/>
                </a:solidFill>
                <a:latin typeface="Dela Gothic One" pitchFamily="34" charset="0"/>
                <a:ea typeface="Dela Gothic One" pitchFamily="34" charset="-122"/>
                <a:cs typeface="Dela Gothic One" pitchFamily="34" charset="-120"/>
              </a:rPr>
              <a:t>The Big Idea</a:t>
            </a:r>
            <a:endParaRPr lang="en-US" sz="2950" dirty="0"/>
          </a:p>
        </p:txBody>
      </p:sp>
      <p:sp>
        <p:nvSpPr>
          <p:cNvPr id="3" name="Text 1"/>
          <p:cNvSpPr/>
          <p:nvPr/>
        </p:nvSpPr>
        <p:spPr>
          <a:xfrm>
            <a:off x="631908" y="1173460"/>
            <a:ext cx="10927878" cy="800795"/>
          </a:xfrm>
          <a:prstGeom prst="rect">
            <a:avLst/>
          </a:prstGeom>
          <a:noFill/>
          <a:ln/>
        </p:spPr>
        <p:txBody>
          <a:bodyPr wrap="square" lIns="0" tIns="0" rIns="0" bIns="0" rtlCol="0" anchor="t">
            <a:noAutofit/>
          </a:bodyPr>
          <a:lstStyle/>
          <a:p>
            <a:pPr marL="0" indent="0" algn="just">
              <a:lnSpc>
                <a:spcPct val="127000"/>
              </a:lnSpc>
              <a:spcAft>
                <a:spcPts val="1100"/>
              </a:spcAft>
              <a:buNone/>
            </a:pPr>
            <a:r>
              <a:rPr lang="en-US" sz="1600" dirty="0">
                <a:solidFill>
                  <a:srgbClr val="FFE5E5"/>
                </a:solidFill>
                <a:latin typeface="DM Sans"/>
                <a:ea typeface="DM Sans" pitchFamily="34" charset="-122"/>
                <a:cs typeface="DM Sans" pitchFamily="34" charset="-120"/>
              </a:rPr>
              <a:t>CureVerseAI is a </a:t>
            </a:r>
            <a:r>
              <a:rPr lang="en-US" sz="1600" b="1" dirty="0">
                <a:solidFill>
                  <a:srgbClr val="FFE5E5"/>
                </a:solidFill>
                <a:latin typeface="DM Sans Bold"/>
                <a:ea typeface="DM Sans Bold" pitchFamily="34" charset="-122"/>
                <a:cs typeface="DM Sans Bold" pitchFamily="34" charset="-120"/>
              </a:rPr>
              <a:t>unified biological intelligence platform</a:t>
            </a:r>
            <a:r>
              <a:rPr lang="en-US" sz="1600" dirty="0">
                <a:solidFill>
                  <a:srgbClr val="FFE5E5"/>
                </a:solidFill>
                <a:latin typeface="DM Sans"/>
                <a:ea typeface="DM Sans" pitchFamily="34" charset="-122"/>
                <a:cs typeface="DM Sans" pitchFamily="34" charset="-120"/>
              </a:rPr>
              <a:t> — not a collection of disconnected scientific tools. It connects biological data, AI models, scientific evidence, reasoning, visualization, simulation, and learning inside one ecosystem.</a:t>
            </a:r>
            <a:endParaRPr lang="en-US" sz="1600">
              <a:latin typeface="DM Sans"/>
              <a:ea typeface="Calibri"/>
              <a:cs typeface="Calibri"/>
            </a:endParaRPr>
          </a:p>
          <a:p>
            <a:pPr marL="0" indent="0" algn="just">
              <a:lnSpc>
                <a:spcPct val="127000"/>
              </a:lnSpc>
              <a:buNone/>
            </a:pPr>
            <a:r>
              <a:rPr lang="en-US" sz="1600" dirty="0">
                <a:solidFill>
                  <a:srgbClr val="FFE5E5"/>
                </a:solidFill>
                <a:latin typeface="DM Sans"/>
                <a:ea typeface="DM Sans" pitchFamily="34" charset="-122"/>
                <a:cs typeface="DM Sans" pitchFamily="34" charset="-120"/>
              </a:rPr>
              <a:t>Our core journey follows five stages that move from raw biological inquiry toward human understanding:</a:t>
            </a:r>
            <a:endParaRPr lang="en-US" sz="1600">
              <a:latin typeface="DM Sans"/>
              <a:ea typeface="Calibri"/>
              <a:cs typeface="Calibri"/>
            </a:endParaRPr>
          </a:p>
        </p:txBody>
      </p:sp>
      <p:sp>
        <p:nvSpPr>
          <p:cNvPr id="7" name="Text 3"/>
          <p:cNvSpPr/>
          <p:nvPr/>
        </p:nvSpPr>
        <p:spPr>
          <a:xfrm>
            <a:off x="1477330" y="3122216"/>
            <a:ext cx="10082456" cy="235446"/>
          </a:xfrm>
          <a:prstGeom prst="rect">
            <a:avLst/>
          </a:prstGeom>
          <a:noFill/>
          <a:ln/>
        </p:spPr>
        <p:txBody>
          <a:bodyPr wrap="none" lIns="0" tIns="0" rIns="0" bIns="0" rtlCol="0" anchor="t"/>
          <a:lstStyle/>
          <a:p>
            <a:pPr marL="0" indent="0" algn="l">
              <a:lnSpc>
                <a:spcPct val="104000"/>
              </a:lnSpc>
              <a:buNone/>
            </a:pPr>
            <a:endParaRPr lang="en-US" sz="1450" dirty="0">
              <a:solidFill>
                <a:srgbClr val="FFE5E5"/>
              </a:solidFill>
              <a:latin typeface="Dela Gothic One"/>
              <a:ea typeface="Dela Gothic One"/>
            </a:endParaRPr>
          </a:p>
        </p:txBody>
      </p:sp>
      <p:sp>
        <p:nvSpPr>
          <p:cNvPr id="13" name="Text 6"/>
          <p:cNvSpPr/>
          <p:nvPr/>
        </p:nvSpPr>
        <p:spPr>
          <a:xfrm>
            <a:off x="1477330" y="5699026"/>
            <a:ext cx="10082456" cy="235446"/>
          </a:xfrm>
          <a:prstGeom prst="rect">
            <a:avLst/>
          </a:prstGeom>
          <a:noFill/>
          <a:ln/>
        </p:spPr>
        <p:txBody>
          <a:bodyPr wrap="none" lIns="0" tIns="0" rIns="0" bIns="0" rtlCol="0" anchor="t"/>
          <a:lstStyle/>
          <a:p>
            <a:pPr marL="0" indent="0" algn="l">
              <a:lnSpc>
                <a:spcPct val="104000"/>
              </a:lnSpc>
              <a:buNone/>
            </a:pPr>
            <a:endParaRPr lang="en-US" sz="1450" dirty="0">
              <a:solidFill>
                <a:srgbClr val="FFE5E5"/>
              </a:solidFill>
              <a:latin typeface="Dela Gothic One"/>
              <a:ea typeface="Dela Gothic One"/>
            </a:endParaRPr>
          </a:p>
        </p:txBody>
      </p:sp>
      <p:graphicFrame>
        <p:nvGraphicFramePr>
          <p:cNvPr id="14" name="Diagram 13">
            <a:extLst>
              <a:ext uri="{FF2B5EF4-FFF2-40B4-BE49-F238E27FC236}">
                <a16:creationId xmlns:a16="http://schemas.microsoft.com/office/drawing/2014/main" id="{89DBAEDB-D8A5-A4BE-1037-D3D54243BDD7}"/>
              </a:ext>
            </a:extLst>
          </p:cNvPr>
          <p:cNvGraphicFramePr/>
          <p:nvPr>
            <p:extLst>
              <p:ext uri="{D42A27DB-BD31-4B8C-83A1-F6EECF244321}">
                <p14:modId xmlns:p14="http://schemas.microsoft.com/office/powerpoint/2010/main" val="846822086"/>
              </p:ext>
            </p:extLst>
          </p:nvPr>
        </p:nvGraphicFramePr>
        <p:xfrm>
          <a:off x="2674187" y="2980427"/>
          <a:ext cx="5865962" cy="3873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13" name="Rectangle: Rounded Corners 1112">
            <a:extLst>
              <a:ext uri="{FF2B5EF4-FFF2-40B4-BE49-F238E27FC236}">
                <a16:creationId xmlns:a16="http://schemas.microsoft.com/office/drawing/2014/main" id="{B6B9389F-8C97-5D1D-51EE-40F12F7A71F9}"/>
              </a:ext>
            </a:extLst>
          </p:cNvPr>
          <p:cNvSpPr/>
          <p:nvPr/>
        </p:nvSpPr>
        <p:spPr>
          <a:xfrm>
            <a:off x="10473618" y="6495691"/>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908" y="1988939"/>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Why Biology Needs an Intelligence Layer</a:t>
            </a:r>
            <a:endParaRPr lang="en-US" sz="3250" dirty="0"/>
          </a:p>
        </p:txBody>
      </p:sp>
      <p:sp>
        <p:nvSpPr>
          <p:cNvPr id="3" name="Shape 1"/>
          <p:cNvSpPr/>
          <p:nvPr/>
        </p:nvSpPr>
        <p:spPr>
          <a:xfrm>
            <a:off x="518207" y="2745482"/>
            <a:ext cx="5498665" cy="2123579"/>
          </a:xfrm>
          <a:prstGeom prst="roundRect">
            <a:avLst>
              <a:gd name="adj" fmla="val 5356"/>
            </a:avLst>
          </a:prstGeom>
          <a:solidFill>
            <a:srgbClr val="C91313">
              <a:alpha val="95000"/>
            </a:srgbClr>
          </a:solidFill>
          <a:ln/>
        </p:spPr>
      </p:sp>
      <p:sp>
        <p:nvSpPr>
          <p:cNvPr id="4" name="Text 2"/>
          <p:cNvSpPr/>
          <p:nvPr/>
        </p:nvSpPr>
        <p:spPr>
          <a:xfrm>
            <a:off x="676159" y="2903438"/>
            <a:ext cx="5182760"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The Scale of the Problem</a:t>
            </a:r>
            <a:endParaRPr lang="en-US" sz="1600" dirty="0"/>
          </a:p>
        </p:txBody>
      </p:sp>
      <p:sp>
        <p:nvSpPr>
          <p:cNvPr id="5" name="Text 3"/>
          <p:cNvSpPr/>
          <p:nvPr/>
        </p:nvSpPr>
        <p:spPr>
          <a:xfrm>
            <a:off x="676159" y="3321149"/>
            <a:ext cx="5182760"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FFFF"/>
                </a:solidFill>
                <a:latin typeface="DM Sans" pitchFamily="34" charset="0"/>
                <a:ea typeface="DM Sans" pitchFamily="34" charset="-122"/>
                <a:cs typeface="DM Sans" pitchFamily="34" charset="-120"/>
              </a:rPr>
              <a:t>Modern biology produces enormous amounts of information through genomic databases, protein resources, pathway systems, drug databases, disease knowledge, literature, and computational models.</a:t>
            </a:r>
            <a:endParaRPr lang="en-US" sz="1200" dirty="0"/>
          </a:p>
        </p:txBody>
      </p:sp>
      <p:sp>
        <p:nvSpPr>
          <p:cNvPr id="6" name="Text 4"/>
          <p:cNvSpPr/>
          <p:nvPr/>
        </p:nvSpPr>
        <p:spPr>
          <a:xfrm>
            <a:off x="6294875" y="2903438"/>
            <a:ext cx="5271261"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The Real Challenge</a:t>
            </a:r>
            <a:endParaRPr lang="en-US" sz="1600" dirty="0"/>
          </a:p>
        </p:txBody>
      </p:sp>
      <p:sp>
        <p:nvSpPr>
          <p:cNvPr id="7" name="Text 5"/>
          <p:cNvSpPr/>
          <p:nvPr/>
        </p:nvSpPr>
        <p:spPr>
          <a:xfrm>
            <a:off x="6294875" y="3321149"/>
            <a:ext cx="5271261" cy="1405731"/>
          </a:xfrm>
          <a:prstGeom prst="rect">
            <a:avLst/>
          </a:prstGeom>
          <a:noFill/>
          <a:ln/>
        </p:spPr>
        <p:txBody>
          <a:bodyPr wrap="square" lIns="0" tIns="0" rIns="0" bIns="0" rtlCol="0" anchor="t">
            <a:normAutofit/>
          </a:bodyPr>
          <a:lstStyle/>
          <a:p>
            <a:pPr marL="0" indent="0" algn="l">
              <a:lnSpc>
                <a:spcPct val="133000"/>
              </a:lnSpc>
              <a:spcAft>
                <a:spcPts val="1100"/>
              </a:spcAft>
              <a:buNone/>
            </a:pPr>
            <a:r>
              <a:rPr lang="en-US" sz="1200" dirty="0">
                <a:solidFill>
                  <a:srgbClr val="FFE5E5"/>
                </a:solidFill>
                <a:latin typeface="DM Sans" pitchFamily="34" charset="0"/>
                <a:ea typeface="DM Sans" pitchFamily="34" charset="-122"/>
                <a:cs typeface="DM Sans" pitchFamily="34" charset="-120"/>
              </a:rPr>
              <a:t>The challenge is increasingly not only </a:t>
            </a:r>
            <a:r>
              <a:rPr lang="en-US" sz="1200" b="1" dirty="0">
                <a:solidFill>
                  <a:srgbClr val="FFE5E5"/>
                </a:solidFill>
                <a:latin typeface="DM Sans Bold" pitchFamily="34" charset="0"/>
                <a:ea typeface="DM Sans Bold" pitchFamily="34" charset="-122"/>
                <a:cs typeface="DM Sans Bold" pitchFamily="34" charset="-120"/>
              </a:rPr>
              <a:t>finding</a:t>
            </a:r>
            <a:r>
              <a:rPr lang="en-US" sz="1200" dirty="0">
                <a:solidFill>
                  <a:srgbClr val="FFE5E5"/>
                </a:solidFill>
                <a:latin typeface="DM Sans" pitchFamily="34" charset="0"/>
                <a:ea typeface="DM Sans" pitchFamily="34" charset="-122"/>
                <a:cs typeface="DM Sans" pitchFamily="34" charset="-120"/>
              </a:rPr>
              <a:t> information, but </a:t>
            </a:r>
            <a:r>
              <a:rPr lang="en-US" sz="1200" b="1" dirty="0">
                <a:solidFill>
                  <a:srgbClr val="FFE5E5"/>
                </a:solidFill>
                <a:latin typeface="DM Sans Bold" pitchFamily="34" charset="0"/>
                <a:ea typeface="DM Sans Bold" pitchFamily="34" charset="-122"/>
                <a:cs typeface="DM Sans Bold" pitchFamily="34" charset="-120"/>
              </a:rPr>
              <a:t>connecting</a:t>
            </a:r>
            <a:r>
              <a:rPr lang="en-US" sz="1200" dirty="0">
                <a:solidFill>
                  <a:srgbClr val="FFE5E5"/>
                </a:solidFill>
                <a:latin typeface="DM Sans" pitchFamily="34" charset="0"/>
                <a:ea typeface="DM Sans" pitchFamily="34" charset="-122"/>
                <a:cs typeface="DM Sans" pitchFamily="34" charset="-120"/>
              </a:rPr>
              <a:t> information across sources and understanding what those relationships mean.</a:t>
            </a:r>
            <a:endParaRPr lang="en-US" sz="1200" dirty="0"/>
          </a:p>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CureVerseAI is designed to provide that connecting intelligence layer — bridging raw scientific data and human understanding.</a:t>
            </a:r>
            <a:endParaRPr lang="en-US" sz="1200" dirty="0"/>
          </a:p>
        </p:txBody>
      </p:sp>
      <p:sp>
        <p:nvSpPr>
          <p:cNvPr id="9" name="Rectangle: Rounded Corners 8">
            <a:extLst>
              <a:ext uri="{FF2B5EF4-FFF2-40B4-BE49-F238E27FC236}">
                <a16:creationId xmlns:a16="http://schemas.microsoft.com/office/drawing/2014/main" id="{31E001FF-6432-33F3-DF54-09B8F94F5353}"/>
              </a:ext>
            </a:extLst>
          </p:cNvPr>
          <p:cNvSpPr/>
          <p:nvPr/>
        </p:nvSpPr>
        <p:spPr>
          <a:xfrm>
            <a:off x="10473618" y="6524446"/>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1908" y="1531541"/>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The Problem We Are Solving</a:t>
            </a:r>
            <a:endParaRPr lang="en-US" sz="3250" dirty="0"/>
          </a:p>
        </p:txBody>
      </p:sp>
      <p:sp>
        <p:nvSpPr>
          <p:cNvPr id="3" name="Text 1"/>
          <p:cNvSpPr/>
          <p:nvPr/>
        </p:nvSpPr>
        <p:spPr>
          <a:xfrm>
            <a:off x="631908" y="2367062"/>
            <a:ext cx="10927878"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Biomedical and biological workflows are </a:t>
            </a:r>
            <a:r>
              <a:rPr lang="en-US" sz="1200" b="1" dirty="0">
                <a:solidFill>
                  <a:srgbClr val="FFE5E5"/>
                </a:solidFill>
                <a:latin typeface="DM Sans Bold" pitchFamily="34" charset="0"/>
                <a:ea typeface="DM Sans Bold" pitchFamily="34" charset="-122"/>
                <a:cs typeface="DM Sans Bold" pitchFamily="34" charset="-120"/>
              </a:rPr>
              <a:t>fragmented</a:t>
            </a:r>
            <a:r>
              <a:rPr lang="en-US" sz="1200" dirty="0">
                <a:solidFill>
                  <a:srgbClr val="FFE5E5"/>
                </a:solidFill>
                <a:latin typeface="DM Sans" pitchFamily="34" charset="0"/>
                <a:ea typeface="DM Sans" pitchFamily="34" charset="-122"/>
                <a:cs typeface="DM Sans" pitchFamily="34" charset="-120"/>
              </a:rPr>
              <a:t>. A researcher may investigate a gene in one resource, a protein in another, pathways somewhere else, drug information in a separate database, and supporting evidence in scientific literature.</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3050183"/>
            <a:ext cx="3537258" cy="1466652"/>
          </a:xfrm>
          <a:prstGeom prst="rect">
            <a:avLst/>
          </a:prstGeom>
        </p:spPr>
      </p:pic>
      <p:sp>
        <p:nvSpPr>
          <p:cNvPr id="5" name="Text 2"/>
          <p:cNvSpPr/>
          <p:nvPr/>
        </p:nvSpPr>
        <p:spPr>
          <a:xfrm>
            <a:off x="885108" y="3227189"/>
            <a:ext cx="3107057"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Context Switching</a:t>
            </a:r>
            <a:endParaRPr lang="en-US" sz="1600" dirty="0"/>
          </a:p>
        </p:txBody>
      </p:sp>
      <p:sp>
        <p:nvSpPr>
          <p:cNvPr id="6" name="Text 3"/>
          <p:cNvSpPr/>
          <p:nvPr/>
        </p:nvSpPr>
        <p:spPr>
          <a:xfrm>
            <a:off x="885108" y="3581698"/>
            <a:ext cx="3107057"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Constantly moving between disconnected tools breaks scientific thinking and slows discovery.</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27119" y="3050183"/>
            <a:ext cx="3537358" cy="1466652"/>
          </a:xfrm>
          <a:prstGeom prst="rect">
            <a:avLst/>
          </a:prstGeom>
        </p:spPr>
      </p:pic>
      <p:sp>
        <p:nvSpPr>
          <p:cNvPr id="8" name="Text 4"/>
          <p:cNvSpPr/>
          <p:nvPr/>
        </p:nvSpPr>
        <p:spPr>
          <a:xfrm>
            <a:off x="4580319" y="3227189"/>
            <a:ext cx="3107156"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Information Overload</a:t>
            </a:r>
            <a:endParaRPr lang="en-US" sz="1600" dirty="0"/>
          </a:p>
        </p:txBody>
      </p:sp>
      <p:sp>
        <p:nvSpPr>
          <p:cNvPr id="9" name="Text 5"/>
          <p:cNvSpPr/>
          <p:nvPr/>
        </p:nvSpPr>
        <p:spPr>
          <a:xfrm>
            <a:off x="4580319" y="3581698"/>
            <a:ext cx="3107156"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Enormous volumes of data across isolated sources make it difficult to form a connected biological picture.</a:t>
            </a:r>
            <a:endParaRPr lang="en-US" sz="12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22429" y="3050183"/>
            <a:ext cx="3537258" cy="1466652"/>
          </a:xfrm>
          <a:prstGeom prst="rect">
            <a:avLst/>
          </a:prstGeom>
        </p:spPr>
      </p:pic>
      <p:sp>
        <p:nvSpPr>
          <p:cNvPr id="11" name="Text 6"/>
          <p:cNvSpPr/>
          <p:nvPr/>
        </p:nvSpPr>
        <p:spPr>
          <a:xfrm>
            <a:off x="8275629" y="3227189"/>
            <a:ext cx="3107057"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Fragmented Workflows</a:t>
            </a:r>
            <a:endParaRPr lang="en-US" sz="1600" dirty="0"/>
          </a:p>
        </p:txBody>
      </p:sp>
      <p:sp>
        <p:nvSpPr>
          <p:cNvPr id="12" name="Text 7"/>
          <p:cNvSpPr/>
          <p:nvPr/>
        </p:nvSpPr>
        <p:spPr>
          <a:xfrm>
            <a:off x="8275629" y="3581698"/>
            <a:ext cx="3107057"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Genes, proteins, pathways, drugs, and evidence live in separate silos with no shared context.</a:t>
            </a:r>
            <a:endParaRPr lang="en-US" sz="1200" dirty="0"/>
          </a:p>
        </p:txBody>
      </p:sp>
      <p:sp>
        <p:nvSpPr>
          <p:cNvPr id="13" name="Shape 8"/>
          <p:cNvSpPr/>
          <p:nvPr/>
        </p:nvSpPr>
        <p:spPr>
          <a:xfrm>
            <a:off x="631908" y="4694535"/>
            <a:ext cx="10927878" cy="631825"/>
          </a:xfrm>
          <a:prstGeom prst="roundRect">
            <a:avLst>
              <a:gd name="adj" fmla="val 10502"/>
            </a:avLst>
          </a:prstGeom>
          <a:solidFill>
            <a:srgbClr val="740B0B"/>
          </a:solidFill>
          <a:ln/>
        </p:spPr>
      </p:sp>
      <p:pic>
        <p:nvPicPr>
          <p:cNvPr id="14" name="Image 3" descr="preencoded.png"/>
          <p:cNvPicPr>
            <a:picLocks noChangeAspect="1"/>
          </p:cNvPicPr>
          <p:nvPr/>
        </p:nvPicPr>
        <p:blipFill>
          <a:blip r:embed="rId4"/>
          <a:stretch>
            <a:fillRect/>
          </a:stretch>
        </p:blipFill>
        <p:spPr>
          <a:xfrm>
            <a:off x="789861" y="4918869"/>
            <a:ext cx="197440" cy="157956"/>
          </a:xfrm>
          <a:prstGeom prst="rect">
            <a:avLst/>
          </a:prstGeom>
        </p:spPr>
      </p:pic>
      <p:sp>
        <p:nvSpPr>
          <p:cNvPr id="15" name="Text 9"/>
          <p:cNvSpPr/>
          <p:nvPr/>
        </p:nvSpPr>
        <p:spPr>
          <a:xfrm>
            <a:off x="1145253" y="4891980"/>
            <a:ext cx="10866166" cy="252710"/>
          </a:xfrm>
          <a:prstGeom prst="rect">
            <a:avLst/>
          </a:prstGeom>
          <a:noFill/>
          <a:ln/>
        </p:spPr>
        <p:txBody>
          <a:bodyPr wrap="none" lIns="0" tIns="0" rIns="0" bIns="0" rtlCol="0" anchor="t"/>
          <a:lstStyle/>
          <a:p>
            <a:pPr marL="0" indent="0" algn="l">
              <a:lnSpc>
                <a:spcPct val="133000"/>
              </a:lnSpc>
              <a:buNone/>
            </a:pPr>
            <a:r>
              <a:rPr lang="en-US" sz="1200" dirty="0">
                <a:solidFill>
                  <a:srgbClr val="FFFFFF"/>
                </a:solidFill>
                <a:latin typeface="DM Sans" pitchFamily="34" charset="0"/>
                <a:ea typeface="DM Sans" pitchFamily="34" charset="-122"/>
                <a:cs typeface="DM Sans" pitchFamily="34" charset="-120"/>
              </a:rPr>
              <a:t>CureVerseAI brings these steps into a </a:t>
            </a:r>
            <a:r>
              <a:rPr lang="en-US" sz="1200" b="1" dirty="0">
                <a:solidFill>
                  <a:srgbClr val="FFFFFF"/>
                </a:solidFill>
                <a:latin typeface="DM Sans Bold" pitchFamily="34" charset="0"/>
                <a:ea typeface="DM Sans Bold" pitchFamily="34" charset="-122"/>
                <a:cs typeface="DM Sans Bold" pitchFamily="34" charset="-120"/>
              </a:rPr>
              <a:t>unified workflow</a:t>
            </a:r>
            <a:r>
              <a:rPr lang="en-US" sz="1200" dirty="0">
                <a:solidFill>
                  <a:srgbClr val="FFFFFF"/>
                </a:solidFill>
                <a:latin typeface="DM Sans" pitchFamily="34" charset="0"/>
                <a:ea typeface="DM Sans" pitchFamily="34" charset="-122"/>
                <a:cs typeface="DM Sans" pitchFamily="34" charset="-120"/>
              </a:rPr>
              <a:t>.</a:t>
            </a:r>
            <a:endParaRPr lang="en-US" sz="1200" dirty="0"/>
          </a:p>
        </p:txBody>
      </p:sp>
      <p:sp>
        <p:nvSpPr>
          <p:cNvPr id="17" name="Rectangle: Rounded Corners 16">
            <a:extLst>
              <a:ext uri="{FF2B5EF4-FFF2-40B4-BE49-F238E27FC236}">
                <a16:creationId xmlns:a16="http://schemas.microsoft.com/office/drawing/2014/main" id="{ABEB6A87-8CD9-0BF0-5BEA-D0982D3E47D0}"/>
              </a:ext>
            </a:extLst>
          </p:cNvPr>
          <p:cNvSpPr/>
          <p:nvPr/>
        </p:nvSpPr>
        <p:spPr>
          <a:xfrm>
            <a:off x="10473618" y="6495691"/>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03794" y="2018903"/>
            <a:ext cx="6355993" cy="1039217"/>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The Core Problem in One Sentence</a:t>
            </a:r>
            <a:endParaRPr lang="en-US" sz="3250" dirty="0"/>
          </a:p>
        </p:txBody>
      </p:sp>
      <p:sp>
        <p:nvSpPr>
          <p:cNvPr id="4" name="Text 1"/>
          <p:cNvSpPr/>
          <p:nvPr/>
        </p:nvSpPr>
        <p:spPr>
          <a:xfrm>
            <a:off x="5440722" y="3472755"/>
            <a:ext cx="6728649" cy="252710"/>
          </a:xfrm>
          <a:prstGeom prst="rect">
            <a:avLst/>
          </a:prstGeom>
          <a:noFill/>
          <a:ln/>
        </p:spPr>
        <p:txBody>
          <a:bodyPr wrap="none" lIns="0" tIns="0" rIns="0" bIns="0" rtlCol="0" anchor="t"/>
          <a:lstStyle/>
          <a:p>
            <a:pPr marL="0" indent="0" algn="l">
              <a:lnSpc>
                <a:spcPct val="133000"/>
              </a:lnSpc>
              <a:buNone/>
            </a:pPr>
            <a:r>
              <a:rPr lang="en-US" sz="1200" b="1" dirty="0">
                <a:solidFill>
                  <a:srgbClr val="FFE5E5"/>
                </a:solidFill>
                <a:latin typeface="DM Sans Bold" pitchFamily="34" charset="0"/>
                <a:ea typeface="DM Sans Bold" pitchFamily="34" charset="-122"/>
                <a:cs typeface="DM Sans Bold" pitchFamily="34" charset="-120"/>
              </a:rPr>
              <a:t>Scientific knowledge is expanding faster than humans can manually connect it.</a:t>
            </a:r>
            <a:endParaRPr lang="en-US" sz="1200" dirty="0"/>
          </a:p>
        </p:txBody>
      </p:sp>
      <p:sp>
        <p:nvSpPr>
          <p:cNvPr id="5" name="Shape 2"/>
          <p:cNvSpPr/>
          <p:nvPr/>
        </p:nvSpPr>
        <p:spPr>
          <a:xfrm>
            <a:off x="5203794" y="3295055"/>
            <a:ext cx="19050" cy="608112"/>
          </a:xfrm>
          <a:prstGeom prst="roundRect">
            <a:avLst>
              <a:gd name="adj" fmla="val 49999"/>
            </a:avLst>
          </a:prstGeom>
          <a:solidFill>
            <a:srgbClr val="C91313"/>
          </a:solidFill>
          <a:ln/>
        </p:spPr>
      </p:sp>
      <p:sp>
        <p:nvSpPr>
          <p:cNvPr id="6" name="Text 3"/>
          <p:cNvSpPr/>
          <p:nvPr/>
        </p:nvSpPr>
        <p:spPr>
          <a:xfrm>
            <a:off x="5203794" y="4080867"/>
            <a:ext cx="6355993"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CureVerseAI addresses this gap by combining </a:t>
            </a:r>
            <a:r>
              <a:rPr lang="en-US" sz="1200" b="1" dirty="0">
                <a:solidFill>
                  <a:srgbClr val="FFE5E5"/>
                </a:solidFill>
                <a:latin typeface="DM Sans Bold" pitchFamily="34" charset="0"/>
                <a:ea typeface="DM Sans Bold" pitchFamily="34" charset="-122"/>
                <a:cs typeface="DM Sans Bold" pitchFamily="34" charset="-120"/>
              </a:rPr>
              <a:t>data retrieval</a:t>
            </a:r>
            <a:r>
              <a:rPr lang="en-US" sz="1200" dirty="0">
                <a:solidFill>
                  <a:srgbClr val="FFE5E5"/>
                </a:solidFill>
                <a:latin typeface="DM Sans" pitchFamily="34" charset="0"/>
                <a:ea typeface="DM Sans" pitchFamily="34" charset="-122"/>
                <a:cs typeface="DM Sans" pitchFamily="34" charset="-120"/>
              </a:rPr>
              <a:t>, </a:t>
            </a:r>
            <a:r>
              <a:rPr lang="en-US" sz="1200" b="1" dirty="0">
                <a:solidFill>
                  <a:srgbClr val="FFE5E5"/>
                </a:solidFill>
                <a:latin typeface="DM Sans Bold" pitchFamily="34" charset="0"/>
                <a:ea typeface="DM Sans Bold" pitchFamily="34" charset="-122"/>
                <a:cs typeface="DM Sans Bold" pitchFamily="34" charset="-120"/>
              </a:rPr>
              <a:t>biological context</a:t>
            </a:r>
            <a:r>
              <a:rPr lang="en-US" sz="1200" dirty="0">
                <a:solidFill>
                  <a:srgbClr val="FFE5E5"/>
                </a:solidFill>
                <a:latin typeface="DM Sans" pitchFamily="34" charset="0"/>
                <a:ea typeface="DM Sans" pitchFamily="34" charset="-122"/>
                <a:cs typeface="DM Sans" pitchFamily="34" charset="-120"/>
              </a:rPr>
              <a:t>, </a:t>
            </a:r>
            <a:r>
              <a:rPr lang="en-US" sz="1200" b="1" dirty="0">
                <a:solidFill>
                  <a:srgbClr val="FFE5E5"/>
                </a:solidFill>
                <a:latin typeface="DM Sans Bold" pitchFamily="34" charset="0"/>
                <a:ea typeface="DM Sans Bold" pitchFamily="34" charset="-122"/>
                <a:cs typeface="DM Sans Bold" pitchFamily="34" charset="-120"/>
              </a:rPr>
              <a:t>AI-assisted analysis</a:t>
            </a:r>
            <a:r>
              <a:rPr lang="en-US" sz="1200" dirty="0">
                <a:solidFill>
                  <a:srgbClr val="FFE5E5"/>
                </a:solidFill>
                <a:latin typeface="DM Sans" pitchFamily="34" charset="0"/>
                <a:ea typeface="DM Sans" pitchFamily="34" charset="-122"/>
                <a:cs typeface="DM Sans" pitchFamily="34" charset="-120"/>
              </a:rPr>
              <a:t>, </a:t>
            </a:r>
            <a:r>
              <a:rPr lang="en-US" sz="1200" b="1" dirty="0">
                <a:solidFill>
                  <a:srgbClr val="FFE5E5"/>
                </a:solidFill>
                <a:latin typeface="DM Sans Bold" pitchFamily="34" charset="0"/>
                <a:ea typeface="DM Sans Bold" pitchFamily="34" charset="-122"/>
                <a:cs typeface="DM Sans Bold" pitchFamily="34" charset="-120"/>
              </a:rPr>
              <a:t>evidence integration</a:t>
            </a:r>
            <a:r>
              <a:rPr lang="en-US" sz="1200" dirty="0">
                <a:solidFill>
                  <a:srgbClr val="FFE5E5"/>
                </a:solidFill>
                <a:latin typeface="DM Sans" pitchFamily="34" charset="0"/>
                <a:ea typeface="DM Sans" pitchFamily="34" charset="-122"/>
                <a:cs typeface="DM Sans" pitchFamily="34" charset="-120"/>
              </a:rPr>
              <a:t>, </a:t>
            </a:r>
            <a:r>
              <a:rPr lang="en-US" sz="1200" b="1" dirty="0">
                <a:solidFill>
                  <a:srgbClr val="FFE5E5"/>
                </a:solidFill>
                <a:latin typeface="DM Sans Bold" pitchFamily="34" charset="0"/>
                <a:ea typeface="DM Sans Bold" pitchFamily="34" charset="-122"/>
                <a:cs typeface="DM Sans Bold" pitchFamily="34" charset="-120"/>
              </a:rPr>
              <a:t>reasoning</a:t>
            </a:r>
            <a:r>
              <a:rPr lang="en-US" sz="1200" dirty="0">
                <a:solidFill>
                  <a:srgbClr val="FFE5E5"/>
                </a:solidFill>
                <a:latin typeface="DM Sans" pitchFamily="34" charset="0"/>
                <a:ea typeface="DM Sans" pitchFamily="34" charset="-122"/>
                <a:cs typeface="DM Sans" pitchFamily="34" charset="-120"/>
              </a:rPr>
              <a:t>, </a:t>
            </a:r>
            <a:r>
              <a:rPr lang="en-US" sz="1200" b="1" dirty="0">
                <a:solidFill>
                  <a:srgbClr val="FFE5E5"/>
                </a:solidFill>
                <a:latin typeface="DM Sans Bold" pitchFamily="34" charset="0"/>
                <a:ea typeface="DM Sans Bold" pitchFamily="34" charset="-122"/>
                <a:cs typeface="DM Sans Bold" pitchFamily="34" charset="-120"/>
              </a:rPr>
              <a:t>visualization</a:t>
            </a:r>
            <a:r>
              <a:rPr lang="en-US" sz="1200" dirty="0">
                <a:solidFill>
                  <a:srgbClr val="FFE5E5"/>
                </a:solidFill>
                <a:latin typeface="DM Sans" pitchFamily="34" charset="0"/>
                <a:ea typeface="DM Sans" pitchFamily="34" charset="-122"/>
                <a:cs typeface="DM Sans" pitchFamily="34" charset="-120"/>
              </a:rPr>
              <a:t>, and </a:t>
            </a:r>
            <a:r>
              <a:rPr lang="en-US" sz="1200" b="1" dirty="0">
                <a:solidFill>
                  <a:srgbClr val="FFE5E5"/>
                </a:solidFill>
                <a:latin typeface="DM Sans Bold" pitchFamily="34" charset="0"/>
                <a:ea typeface="DM Sans Bold" pitchFamily="34" charset="-122"/>
                <a:cs typeface="DM Sans Bold" pitchFamily="34" charset="-120"/>
              </a:rPr>
              <a:t>simulation</a:t>
            </a:r>
            <a:r>
              <a:rPr lang="en-US" sz="1200" dirty="0">
                <a:solidFill>
                  <a:srgbClr val="FFE5E5"/>
                </a:solidFill>
                <a:latin typeface="DM Sans" pitchFamily="34" charset="0"/>
                <a:ea typeface="DM Sans" pitchFamily="34" charset="-122"/>
                <a:cs typeface="DM Sans" pitchFamily="34" charset="-120"/>
              </a:rPr>
              <a:t> in a single platform.</a:t>
            </a:r>
            <a:endParaRPr lang="en-US" sz="1200" dirty="0"/>
          </a:p>
        </p:txBody>
      </p:sp>
      <p:sp>
        <p:nvSpPr>
          <p:cNvPr id="8" name="Rectangle: Rounded Corners 7">
            <a:extLst>
              <a:ext uri="{FF2B5EF4-FFF2-40B4-BE49-F238E27FC236}">
                <a16:creationId xmlns:a16="http://schemas.microsoft.com/office/drawing/2014/main" id="{5BC5CE5B-FDF4-6CEF-3D7B-7C05DB389333}"/>
              </a:ext>
            </a:extLst>
          </p:cNvPr>
          <p:cNvSpPr/>
          <p:nvPr/>
        </p:nvSpPr>
        <p:spPr>
          <a:xfrm>
            <a:off x="10473618" y="6495691"/>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1908" y="654546"/>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Our Solution</a:t>
            </a:r>
            <a:endParaRPr lang="en-US" sz="3250" dirty="0"/>
          </a:p>
        </p:txBody>
      </p:sp>
      <p:sp>
        <p:nvSpPr>
          <p:cNvPr id="3" name="Text 1"/>
          <p:cNvSpPr/>
          <p:nvPr/>
        </p:nvSpPr>
        <p:spPr>
          <a:xfrm>
            <a:off x="631908" y="1490067"/>
            <a:ext cx="11537463"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CureVerseAI provides </a:t>
            </a:r>
            <a:r>
              <a:rPr lang="en-US" sz="1200" b="1" dirty="0">
                <a:solidFill>
                  <a:srgbClr val="FFE5E5"/>
                </a:solidFill>
                <a:latin typeface="DM Sans Bold" pitchFamily="34" charset="0"/>
                <a:ea typeface="DM Sans Bold" pitchFamily="34" charset="-122"/>
                <a:cs typeface="DM Sans Bold" pitchFamily="34" charset="-120"/>
              </a:rPr>
              <a:t>five connected scientific domains</a:t>
            </a:r>
            <a:r>
              <a:rPr lang="en-US" sz="1200" dirty="0">
                <a:solidFill>
                  <a:srgbClr val="FFE5E5"/>
                </a:solidFill>
                <a:latin typeface="DM Sans" pitchFamily="34" charset="0"/>
                <a:ea typeface="DM Sans" pitchFamily="34" charset="-122"/>
                <a:cs typeface="DM Sans" pitchFamily="34" charset="-120"/>
              </a:rPr>
              <a:t>, each with its own scientific workflow while sharing a common intelligence layer.</a:t>
            </a:r>
            <a:endParaRPr lang="en-US" sz="1200" dirty="0"/>
          </a:p>
        </p:txBody>
      </p:sp>
      <p:pic>
        <p:nvPicPr>
          <p:cNvPr id="4" name="Image 0" descr="preencoded.png"/>
          <p:cNvPicPr>
            <a:picLocks noChangeAspect="1"/>
          </p:cNvPicPr>
          <p:nvPr/>
        </p:nvPicPr>
        <p:blipFill>
          <a:blip r:embed="rId3"/>
          <a:stretch>
            <a:fillRect/>
          </a:stretch>
        </p:blipFill>
        <p:spPr>
          <a:xfrm>
            <a:off x="631908" y="1920478"/>
            <a:ext cx="1498563" cy="926108"/>
          </a:xfrm>
          <a:prstGeom prst="rect">
            <a:avLst/>
          </a:prstGeom>
        </p:spPr>
      </p:pic>
      <p:sp>
        <p:nvSpPr>
          <p:cNvPr id="5" name="Text 2"/>
          <p:cNvSpPr/>
          <p:nvPr/>
        </p:nvSpPr>
        <p:spPr>
          <a:xfrm>
            <a:off x="631908" y="3044031"/>
            <a:ext cx="258388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Research</a:t>
            </a:r>
            <a:endParaRPr lang="en-US" sz="1600" dirty="0"/>
          </a:p>
        </p:txBody>
      </p:sp>
      <p:sp>
        <p:nvSpPr>
          <p:cNvPr id="6" name="Text 3"/>
          <p:cNvSpPr/>
          <p:nvPr/>
        </p:nvSpPr>
        <p:spPr>
          <a:xfrm>
            <a:off x="631908" y="3398540"/>
            <a:ext cx="2583889"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Investigate biological evidence.</a:t>
            </a:r>
            <a:endParaRPr lang="en-US" sz="1200" dirty="0"/>
          </a:p>
        </p:txBody>
      </p:sp>
      <p:pic>
        <p:nvPicPr>
          <p:cNvPr id="7" name="Image 1" descr="preencoded.png"/>
          <p:cNvPicPr>
            <a:picLocks noChangeAspect="1"/>
          </p:cNvPicPr>
          <p:nvPr/>
        </p:nvPicPr>
        <p:blipFill>
          <a:blip r:embed="rId4"/>
          <a:stretch>
            <a:fillRect/>
          </a:stretch>
        </p:blipFill>
        <p:spPr>
          <a:xfrm>
            <a:off x="3413238" y="1920478"/>
            <a:ext cx="1498563" cy="926108"/>
          </a:xfrm>
          <a:prstGeom prst="rect">
            <a:avLst/>
          </a:prstGeom>
        </p:spPr>
      </p:pic>
      <p:sp>
        <p:nvSpPr>
          <p:cNvPr id="8" name="Text 4"/>
          <p:cNvSpPr/>
          <p:nvPr/>
        </p:nvSpPr>
        <p:spPr>
          <a:xfrm>
            <a:off x="3413238" y="3044031"/>
            <a:ext cx="258388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Drug Development</a:t>
            </a:r>
            <a:endParaRPr lang="en-US" sz="1600" dirty="0"/>
          </a:p>
        </p:txBody>
      </p:sp>
      <p:sp>
        <p:nvSpPr>
          <p:cNvPr id="9" name="Text 5"/>
          <p:cNvSpPr/>
          <p:nvPr/>
        </p:nvSpPr>
        <p:spPr>
          <a:xfrm>
            <a:off x="3413238" y="3398540"/>
            <a:ext cx="258388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Discover therapeutic opportunities.</a:t>
            </a:r>
            <a:endParaRPr lang="en-US" sz="1200" dirty="0"/>
          </a:p>
        </p:txBody>
      </p:sp>
      <p:pic>
        <p:nvPicPr>
          <p:cNvPr id="10" name="Image 2" descr="preencoded.png"/>
          <p:cNvPicPr>
            <a:picLocks noChangeAspect="1"/>
          </p:cNvPicPr>
          <p:nvPr/>
        </p:nvPicPr>
        <p:blipFill>
          <a:blip r:embed="rId5"/>
          <a:stretch>
            <a:fillRect/>
          </a:stretch>
        </p:blipFill>
        <p:spPr>
          <a:xfrm>
            <a:off x="6194568" y="1920478"/>
            <a:ext cx="1498563" cy="926108"/>
          </a:xfrm>
          <a:prstGeom prst="rect">
            <a:avLst/>
          </a:prstGeom>
        </p:spPr>
      </p:pic>
      <p:sp>
        <p:nvSpPr>
          <p:cNvPr id="11" name="Text 6"/>
          <p:cNvSpPr/>
          <p:nvPr/>
        </p:nvSpPr>
        <p:spPr>
          <a:xfrm>
            <a:off x="6194568" y="3044031"/>
            <a:ext cx="258388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Medicine</a:t>
            </a:r>
            <a:endParaRPr lang="en-US" sz="1600" dirty="0"/>
          </a:p>
        </p:txBody>
      </p:sp>
      <p:sp>
        <p:nvSpPr>
          <p:cNvPr id="12" name="Text 7"/>
          <p:cNvSpPr/>
          <p:nvPr/>
        </p:nvSpPr>
        <p:spPr>
          <a:xfrm>
            <a:off x="6194568" y="3398540"/>
            <a:ext cx="258388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Simulate biological states and interventions.</a:t>
            </a:r>
            <a:endParaRPr lang="en-US" sz="1200" dirty="0"/>
          </a:p>
        </p:txBody>
      </p:sp>
      <p:pic>
        <p:nvPicPr>
          <p:cNvPr id="13" name="Image 3" descr="preencoded.png"/>
          <p:cNvPicPr>
            <a:picLocks noChangeAspect="1"/>
          </p:cNvPicPr>
          <p:nvPr/>
        </p:nvPicPr>
        <p:blipFill>
          <a:blip r:embed="rId6"/>
          <a:stretch>
            <a:fillRect/>
          </a:stretch>
        </p:blipFill>
        <p:spPr>
          <a:xfrm>
            <a:off x="8975897" y="1920478"/>
            <a:ext cx="1498563" cy="926108"/>
          </a:xfrm>
          <a:prstGeom prst="rect">
            <a:avLst/>
          </a:prstGeom>
        </p:spPr>
      </p:pic>
      <p:sp>
        <p:nvSpPr>
          <p:cNvPr id="14" name="Text 8"/>
          <p:cNvSpPr/>
          <p:nvPr/>
        </p:nvSpPr>
        <p:spPr>
          <a:xfrm>
            <a:off x="8975897" y="3044031"/>
            <a:ext cx="258388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Biotechnology</a:t>
            </a:r>
            <a:endParaRPr lang="en-US" sz="1600" dirty="0"/>
          </a:p>
        </p:txBody>
      </p:sp>
      <p:sp>
        <p:nvSpPr>
          <p:cNvPr id="15" name="Text 9"/>
          <p:cNvSpPr/>
          <p:nvPr/>
        </p:nvSpPr>
        <p:spPr>
          <a:xfrm>
            <a:off x="8975897" y="3398540"/>
            <a:ext cx="258388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Explore biological materials and molecular potential.</a:t>
            </a:r>
            <a:endParaRPr lang="en-US" sz="1200" dirty="0"/>
          </a:p>
        </p:txBody>
      </p:sp>
      <p:pic>
        <p:nvPicPr>
          <p:cNvPr id="16" name="Image 4" descr="preencoded.png"/>
          <p:cNvPicPr>
            <a:picLocks noChangeAspect="1"/>
          </p:cNvPicPr>
          <p:nvPr/>
        </p:nvPicPr>
        <p:blipFill>
          <a:blip r:embed="rId7"/>
          <a:stretch>
            <a:fillRect/>
          </a:stretch>
        </p:blipFill>
        <p:spPr>
          <a:xfrm>
            <a:off x="631908" y="4219873"/>
            <a:ext cx="1498563" cy="926108"/>
          </a:xfrm>
          <a:prstGeom prst="rect">
            <a:avLst/>
          </a:prstGeom>
        </p:spPr>
      </p:pic>
      <p:sp>
        <p:nvSpPr>
          <p:cNvPr id="17" name="Text 10"/>
          <p:cNvSpPr/>
          <p:nvPr/>
        </p:nvSpPr>
        <p:spPr>
          <a:xfrm>
            <a:off x="631908" y="5343426"/>
            <a:ext cx="258388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Education</a:t>
            </a:r>
            <a:endParaRPr lang="en-US" sz="1600" dirty="0"/>
          </a:p>
        </p:txBody>
      </p:sp>
      <p:sp>
        <p:nvSpPr>
          <p:cNvPr id="18" name="Text 11"/>
          <p:cNvSpPr/>
          <p:nvPr/>
        </p:nvSpPr>
        <p:spPr>
          <a:xfrm>
            <a:off x="631908" y="5697934"/>
            <a:ext cx="258388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Turn scientific intelligence into understandable learning.</a:t>
            </a:r>
            <a:endParaRPr lang="en-US" sz="1200" dirty="0"/>
          </a:p>
        </p:txBody>
      </p:sp>
      <p:sp>
        <p:nvSpPr>
          <p:cNvPr id="20" name="Rectangle: Rounded Corners 19">
            <a:extLst>
              <a:ext uri="{FF2B5EF4-FFF2-40B4-BE49-F238E27FC236}">
                <a16:creationId xmlns:a16="http://schemas.microsoft.com/office/drawing/2014/main" id="{21E227B1-E3D7-A731-F510-0BEC40C5719E}"/>
              </a:ext>
            </a:extLst>
          </p:cNvPr>
          <p:cNvSpPr/>
          <p:nvPr/>
        </p:nvSpPr>
        <p:spPr>
          <a:xfrm>
            <a:off x="10473618" y="6495691"/>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31908" y="1351260"/>
            <a:ext cx="6355993"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Our Theme</a:t>
            </a:r>
            <a:endParaRPr lang="en-US" sz="3250" dirty="0"/>
          </a:p>
        </p:txBody>
      </p:sp>
      <p:sp>
        <p:nvSpPr>
          <p:cNvPr id="4" name="Text 1"/>
          <p:cNvSpPr/>
          <p:nvPr/>
        </p:nvSpPr>
        <p:spPr>
          <a:xfrm>
            <a:off x="631908" y="2107803"/>
            <a:ext cx="6355993" cy="2151162"/>
          </a:xfrm>
          <a:prstGeom prst="rect">
            <a:avLst/>
          </a:prstGeom>
          <a:noFill/>
          <a:ln/>
        </p:spPr>
        <p:txBody>
          <a:bodyPr wrap="square" lIns="0" tIns="0" rIns="0" bIns="0" rtlCol="0" anchor="t">
            <a:normAutofit/>
          </a:bodyPr>
          <a:lstStyle/>
          <a:p>
            <a:pPr marL="0" indent="0" algn="l">
              <a:lnSpc>
                <a:spcPct val="104000"/>
              </a:lnSpc>
              <a:buNone/>
            </a:pPr>
            <a:r>
              <a:rPr lang="en-US" sz="4500" dirty="0">
                <a:solidFill>
                  <a:srgbClr val="FAEBEB"/>
                </a:solidFill>
                <a:latin typeface="Dela Gothic One" pitchFamily="34" charset="0"/>
                <a:ea typeface="Dela Gothic One" pitchFamily="34" charset="-122"/>
                <a:cs typeface="Dela Gothic One" pitchFamily="34" charset="-120"/>
              </a:rPr>
              <a:t>"The Biological Intelligence Layer"</a:t>
            </a:r>
            <a:endParaRPr lang="en-US" sz="4500" dirty="0"/>
          </a:p>
        </p:txBody>
      </p:sp>
      <p:sp>
        <p:nvSpPr>
          <p:cNvPr id="5" name="Text 2"/>
          <p:cNvSpPr/>
          <p:nvPr/>
        </p:nvSpPr>
        <p:spPr>
          <a:xfrm>
            <a:off x="631908" y="4495899"/>
            <a:ext cx="6355993" cy="1010841"/>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The platform is built around the idea that </a:t>
            </a:r>
            <a:r>
              <a:rPr lang="en-US" sz="1200" b="1" dirty="0">
                <a:solidFill>
                  <a:srgbClr val="FFE5E5"/>
                </a:solidFill>
                <a:latin typeface="DM Sans Bold" pitchFamily="34" charset="0"/>
                <a:ea typeface="DM Sans Bold" pitchFamily="34" charset="-122"/>
                <a:cs typeface="DM Sans Bold" pitchFamily="34" charset="-120"/>
              </a:rPr>
              <a:t>biological intelligence should sit between raw scientific data and human understanding</a:t>
            </a:r>
            <a:r>
              <a:rPr lang="en-US" sz="1200" dirty="0">
                <a:solidFill>
                  <a:srgbClr val="FFE5E5"/>
                </a:solidFill>
                <a:latin typeface="DM Sans" pitchFamily="34" charset="0"/>
                <a:ea typeface="DM Sans" pitchFamily="34" charset="-122"/>
                <a:cs typeface="DM Sans" pitchFamily="34" charset="-120"/>
              </a:rPr>
              <a:t>. Instead of returning disconnected records, CureVerseAI aims to connect evidence, relationships, mechanisms, models, and visual explanations.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1908" y="1805285"/>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What We Want to Achieve</a:t>
            </a:r>
            <a:endParaRPr lang="en-US" sz="3250" dirty="0"/>
          </a:p>
        </p:txBody>
      </p:sp>
      <p:sp>
        <p:nvSpPr>
          <p:cNvPr id="3" name="Text 1"/>
          <p:cNvSpPr/>
          <p:nvPr/>
        </p:nvSpPr>
        <p:spPr>
          <a:xfrm>
            <a:off x="631908" y="2640806"/>
            <a:ext cx="11537463"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We want to make complex biological intelligence more </a:t>
            </a:r>
            <a:r>
              <a:rPr lang="en-US" sz="1200" b="1" dirty="0">
                <a:solidFill>
                  <a:srgbClr val="FFE5E5"/>
                </a:solidFill>
                <a:latin typeface="DM Sans Bold" pitchFamily="34" charset="0"/>
                <a:ea typeface="DM Sans Bold" pitchFamily="34" charset="-122"/>
                <a:cs typeface="DM Sans Bold" pitchFamily="34" charset="-120"/>
              </a:rPr>
              <a:t>connected</a:t>
            </a:r>
            <a:r>
              <a:rPr lang="en-US" sz="1200" dirty="0">
                <a:solidFill>
                  <a:srgbClr val="FFE5E5"/>
                </a:solidFill>
                <a:latin typeface="DM Sans" pitchFamily="34" charset="0"/>
                <a:ea typeface="DM Sans" pitchFamily="34" charset="-122"/>
                <a:cs typeface="DM Sans" pitchFamily="34" charset="-120"/>
              </a:rPr>
              <a:t>, </a:t>
            </a:r>
            <a:r>
              <a:rPr lang="en-US" sz="1200" b="1" dirty="0">
                <a:solidFill>
                  <a:srgbClr val="FFE5E5"/>
                </a:solidFill>
                <a:latin typeface="DM Sans Bold" pitchFamily="34" charset="0"/>
                <a:ea typeface="DM Sans Bold" pitchFamily="34" charset="-122"/>
                <a:cs typeface="DM Sans Bold" pitchFamily="34" charset="-120"/>
              </a:rPr>
              <a:t>interpretable</a:t>
            </a:r>
            <a:r>
              <a:rPr lang="en-US" sz="1200" dirty="0">
                <a:solidFill>
                  <a:srgbClr val="FFE5E5"/>
                </a:solidFill>
                <a:latin typeface="DM Sans" pitchFamily="34" charset="0"/>
                <a:ea typeface="DM Sans" pitchFamily="34" charset="-122"/>
                <a:cs typeface="DM Sans" pitchFamily="34" charset="-120"/>
              </a:rPr>
              <a:t>, </a:t>
            </a:r>
            <a:r>
              <a:rPr lang="en-US" sz="1200" b="1" dirty="0">
                <a:solidFill>
                  <a:srgbClr val="FFE5E5"/>
                </a:solidFill>
                <a:latin typeface="DM Sans Bold" pitchFamily="34" charset="0"/>
                <a:ea typeface="DM Sans Bold" pitchFamily="34" charset="-122"/>
                <a:cs typeface="DM Sans Bold" pitchFamily="34" charset="-120"/>
              </a:rPr>
              <a:t>interactive</a:t>
            </a:r>
            <a:r>
              <a:rPr lang="en-US" sz="1200" dirty="0">
                <a:solidFill>
                  <a:srgbClr val="FFE5E5"/>
                </a:solidFill>
                <a:latin typeface="DM Sans" pitchFamily="34" charset="0"/>
                <a:ea typeface="DM Sans" pitchFamily="34" charset="-122"/>
                <a:cs typeface="DM Sans" pitchFamily="34" charset="-120"/>
              </a:rPr>
              <a:t>, and </a:t>
            </a:r>
            <a:r>
              <a:rPr lang="en-US" sz="1200" b="1" dirty="0">
                <a:solidFill>
                  <a:srgbClr val="FFE5E5"/>
                </a:solidFill>
                <a:latin typeface="DM Sans Bold" pitchFamily="34" charset="0"/>
                <a:ea typeface="DM Sans Bold" pitchFamily="34" charset="-122"/>
                <a:cs typeface="DM Sans Bold" pitchFamily="34" charset="-120"/>
              </a:rPr>
              <a:t>accessible</a:t>
            </a:r>
            <a:r>
              <a:rPr lang="en-US" sz="1200" dirty="0">
                <a:solidFill>
                  <a:srgbClr val="FFE5E5"/>
                </a:solidFill>
                <a:latin typeface="DM Sans" pitchFamily="34" charset="0"/>
                <a:ea typeface="DM Sans" pitchFamily="34" charset="-122"/>
                <a:cs typeface="DM Sans" pitchFamily="34" charset="-120"/>
              </a:rPr>
              <a:t>.</a:t>
            </a:r>
            <a:endParaRPr lang="en-US" sz="1200" dirty="0"/>
          </a:p>
        </p:txBody>
      </p:sp>
      <p:sp>
        <p:nvSpPr>
          <p:cNvPr id="4" name="Text 2"/>
          <p:cNvSpPr/>
          <p:nvPr/>
        </p:nvSpPr>
        <p:spPr>
          <a:xfrm>
            <a:off x="631908" y="3229173"/>
            <a:ext cx="5271261"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Long-Term Objective</a:t>
            </a:r>
            <a:endParaRPr lang="en-US" sz="1600" dirty="0"/>
          </a:p>
        </p:txBody>
      </p:sp>
      <p:sp>
        <p:nvSpPr>
          <p:cNvPr id="5" name="Text 3"/>
          <p:cNvSpPr/>
          <p:nvPr/>
        </p:nvSpPr>
        <p:spPr>
          <a:xfrm>
            <a:off x="631908" y="3646884"/>
            <a:ext cx="5271261" cy="1263551"/>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An ecosystem where a discovery made in </a:t>
            </a:r>
            <a:r>
              <a:rPr lang="en-US" sz="1200" b="1" dirty="0">
                <a:solidFill>
                  <a:srgbClr val="FFE5E5"/>
                </a:solidFill>
                <a:latin typeface="DM Sans Bold" pitchFamily="34" charset="0"/>
                <a:ea typeface="DM Sans Bold" pitchFamily="34" charset="-122"/>
                <a:cs typeface="DM Sans Bold" pitchFamily="34" charset="-120"/>
              </a:rPr>
              <a:t>Research</a:t>
            </a:r>
            <a:r>
              <a:rPr lang="en-US" sz="1200" dirty="0">
                <a:solidFill>
                  <a:srgbClr val="FFE5E5"/>
                </a:solidFill>
                <a:latin typeface="DM Sans" pitchFamily="34" charset="0"/>
                <a:ea typeface="DM Sans" pitchFamily="34" charset="-122"/>
                <a:cs typeface="DM Sans" pitchFamily="34" charset="-120"/>
              </a:rPr>
              <a:t> can inform </a:t>
            </a:r>
            <a:r>
              <a:rPr lang="en-US" sz="1200" b="1" dirty="0">
                <a:solidFill>
                  <a:srgbClr val="FFE5E5"/>
                </a:solidFill>
                <a:latin typeface="DM Sans Bold" pitchFamily="34" charset="0"/>
                <a:ea typeface="DM Sans Bold" pitchFamily="34" charset="-122"/>
                <a:cs typeface="DM Sans Bold" pitchFamily="34" charset="-120"/>
              </a:rPr>
              <a:t>Drug Development</a:t>
            </a:r>
            <a:r>
              <a:rPr lang="en-US" sz="1200" dirty="0">
                <a:solidFill>
                  <a:srgbClr val="FFE5E5"/>
                </a:solidFill>
                <a:latin typeface="DM Sans" pitchFamily="34" charset="0"/>
                <a:ea typeface="DM Sans" pitchFamily="34" charset="-122"/>
                <a:cs typeface="DM Sans" pitchFamily="34" charset="-120"/>
              </a:rPr>
              <a:t>, a target or compound can enter </a:t>
            </a:r>
            <a:r>
              <a:rPr lang="en-US" sz="1200" b="1" dirty="0">
                <a:solidFill>
                  <a:srgbClr val="FFE5E5"/>
                </a:solidFill>
                <a:latin typeface="DM Sans Bold" pitchFamily="34" charset="0"/>
                <a:ea typeface="DM Sans Bold" pitchFamily="34" charset="-122"/>
                <a:cs typeface="DM Sans Bold" pitchFamily="34" charset="-120"/>
              </a:rPr>
              <a:t>Medicine</a:t>
            </a:r>
            <a:r>
              <a:rPr lang="en-US" sz="1200" dirty="0">
                <a:solidFill>
                  <a:srgbClr val="FFE5E5"/>
                </a:solidFill>
                <a:latin typeface="DM Sans" pitchFamily="34" charset="0"/>
                <a:ea typeface="DM Sans" pitchFamily="34" charset="-122"/>
                <a:cs typeface="DM Sans" pitchFamily="34" charset="-120"/>
              </a:rPr>
              <a:t> simulation, </a:t>
            </a:r>
            <a:r>
              <a:rPr lang="en-US" sz="1200" b="1" dirty="0">
                <a:solidFill>
                  <a:srgbClr val="FFE5E5"/>
                </a:solidFill>
                <a:latin typeface="DM Sans Bold" pitchFamily="34" charset="0"/>
                <a:ea typeface="DM Sans Bold" pitchFamily="34" charset="-122"/>
                <a:cs typeface="DM Sans Bold" pitchFamily="34" charset="-120"/>
              </a:rPr>
              <a:t>Biotechnology</a:t>
            </a:r>
            <a:r>
              <a:rPr lang="en-US" sz="1200" dirty="0">
                <a:solidFill>
                  <a:srgbClr val="FFE5E5"/>
                </a:solidFill>
                <a:latin typeface="DM Sans" pitchFamily="34" charset="0"/>
                <a:ea typeface="DM Sans" pitchFamily="34" charset="-122"/>
                <a:cs typeface="DM Sans" pitchFamily="34" charset="-120"/>
              </a:rPr>
              <a:t> can contribute biological materials and compounds, and all of these scientific concepts can become understandable through </a:t>
            </a:r>
            <a:r>
              <a:rPr lang="en-US" sz="1200" b="1" dirty="0">
                <a:solidFill>
                  <a:srgbClr val="FFE5E5"/>
                </a:solidFill>
                <a:latin typeface="DM Sans Bold" pitchFamily="34" charset="0"/>
                <a:ea typeface="DM Sans Bold" pitchFamily="34" charset="-122"/>
                <a:cs typeface="DM Sans Bold" pitchFamily="34" charset="-120"/>
              </a:rPr>
              <a:t>Education</a:t>
            </a:r>
            <a:r>
              <a:rPr lang="en-US" sz="1200" dirty="0">
                <a:solidFill>
                  <a:srgbClr val="FFE5E5"/>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6181173" y="3071217"/>
            <a:ext cx="5498665" cy="1981398"/>
          </a:xfrm>
          <a:prstGeom prst="roundRect">
            <a:avLst>
              <a:gd name="adj" fmla="val 5741"/>
            </a:avLst>
          </a:prstGeom>
          <a:solidFill>
            <a:srgbClr val="C91313">
              <a:alpha val="95000"/>
            </a:srgbClr>
          </a:solidFill>
          <a:ln/>
        </p:spPr>
      </p:sp>
      <p:sp>
        <p:nvSpPr>
          <p:cNvPr id="7" name="Text 5"/>
          <p:cNvSpPr/>
          <p:nvPr/>
        </p:nvSpPr>
        <p:spPr>
          <a:xfrm>
            <a:off x="6339126" y="3229173"/>
            <a:ext cx="5182760"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Core Goals</a:t>
            </a:r>
            <a:endParaRPr lang="en-US" sz="1600" dirty="0"/>
          </a:p>
        </p:txBody>
      </p:sp>
      <p:sp>
        <p:nvSpPr>
          <p:cNvPr id="8" name="Text 6"/>
          <p:cNvSpPr/>
          <p:nvPr/>
        </p:nvSpPr>
        <p:spPr>
          <a:xfrm>
            <a:off x="6339126" y="3646884"/>
            <a:ext cx="5182760" cy="1176635"/>
          </a:xfrm>
          <a:prstGeom prst="rect">
            <a:avLst/>
          </a:prstGeom>
          <a:noFill/>
          <a:ln/>
        </p:spPr>
        <p:txBody>
          <a:bodyPr wrap="square" lIns="0" tIns="0" rIns="0" bIns="0" rtlCol="0" anchor="t">
            <a:normAutofit/>
          </a:bodyPr>
          <a:lstStyle/>
          <a:p>
            <a:pPr marL="243840" indent="-243840" algn="l">
              <a:lnSpc>
                <a:spcPct val="133000"/>
              </a:lnSpc>
              <a:buSzPct val="100000"/>
              <a:buChar char="•"/>
            </a:pPr>
            <a:r>
              <a:rPr lang="en-US" sz="1200" dirty="0">
                <a:solidFill>
                  <a:srgbClr val="FFFFFF"/>
                </a:solidFill>
                <a:latin typeface="DM Sans" pitchFamily="34" charset="0"/>
                <a:ea typeface="DM Sans" pitchFamily="34" charset="-122"/>
                <a:cs typeface="DM Sans" pitchFamily="34" charset="-120"/>
              </a:rPr>
              <a:t>Connected biological intelligence</a:t>
            </a:r>
            <a:endParaRPr lang="en-US" sz="1200" dirty="0"/>
          </a:p>
          <a:p>
            <a:pPr marL="243840" indent="-243840" algn="l">
              <a:lnSpc>
                <a:spcPct val="133000"/>
              </a:lnSpc>
              <a:buSzPct val="100000"/>
              <a:buChar char="•"/>
            </a:pPr>
            <a:r>
              <a:rPr lang="en-US" sz="1200" dirty="0">
                <a:solidFill>
                  <a:srgbClr val="FFFFFF"/>
                </a:solidFill>
                <a:latin typeface="DM Sans" pitchFamily="34" charset="0"/>
                <a:ea typeface="DM Sans" pitchFamily="34" charset="-122"/>
                <a:cs typeface="DM Sans" pitchFamily="34" charset="-120"/>
              </a:rPr>
              <a:t>Interpretable scientific workflows</a:t>
            </a:r>
            <a:endParaRPr lang="en-US" sz="1200" dirty="0"/>
          </a:p>
          <a:p>
            <a:pPr marL="243840" indent="-243840" algn="l">
              <a:lnSpc>
                <a:spcPct val="133000"/>
              </a:lnSpc>
              <a:buSzPct val="100000"/>
              <a:buChar char="•"/>
            </a:pPr>
            <a:r>
              <a:rPr lang="en-US" sz="1200" dirty="0">
                <a:solidFill>
                  <a:srgbClr val="FFFFFF"/>
                </a:solidFill>
                <a:latin typeface="DM Sans" pitchFamily="34" charset="0"/>
                <a:ea typeface="DM Sans" pitchFamily="34" charset="-122"/>
                <a:cs typeface="DM Sans" pitchFamily="34" charset="-120"/>
              </a:rPr>
              <a:t>Interactive simulation and exploration</a:t>
            </a:r>
            <a:endParaRPr lang="en-US" sz="1200" dirty="0"/>
          </a:p>
          <a:p>
            <a:pPr marL="243840" indent="-243840" algn="l">
              <a:lnSpc>
                <a:spcPct val="133000"/>
              </a:lnSpc>
              <a:buSzPct val="100000"/>
              <a:buChar char="•"/>
            </a:pPr>
            <a:r>
              <a:rPr lang="en-US" sz="1200" dirty="0">
                <a:solidFill>
                  <a:srgbClr val="FFFFFF"/>
                </a:solidFill>
                <a:latin typeface="DM Sans" pitchFamily="34" charset="0"/>
                <a:ea typeface="DM Sans" pitchFamily="34" charset="-122"/>
                <a:cs typeface="DM Sans" pitchFamily="34" charset="-120"/>
              </a:rPr>
              <a:t>Accessible learning for all levels</a:t>
            </a:r>
            <a:endParaRPr lang="en-US" sz="1200" dirty="0"/>
          </a:p>
        </p:txBody>
      </p:sp>
      <p:sp>
        <p:nvSpPr>
          <p:cNvPr id="10" name="Rectangle: Rounded Corners 9">
            <a:extLst>
              <a:ext uri="{FF2B5EF4-FFF2-40B4-BE49-F238E27FC236}">
                <a16:creationId xmlns:a16="http://schemas.microsoft.com/office/drawing/2014/main" id="{1D0EFA8E-5AD6-D9A9-5176-36CAC41DF859}"/>
              </a:ext>
            </a:extLst>
          </p:cNvPr>
          <p:cNvSpPr/>
          <p:nvPr/>
        </p:nvSpPr>
        <p:spPr>
          <a:xfrm>
            <a:off x="10473618" y="6495691"/>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1908" y="491728"/>
            <a:ext cx="10927878" cy="495300"/>
          </a:xfrm>
          <a:prstGeom prst="rect">
            <a:avLst/>
          </a:prstGeom>
          <a:noFill/>
          <a:ln/>
        </p:spPr>
        <p:txBody>
          <a:bodyPr wrap="none" lIns="0" tIns="0" rIns="0" bIns="0" rtlCol="0" anchor="t"/>
          <a:lstStyle/>
          <a:p>
            <a:pPr marL="0" indent="0" algn="l">
              <a:lnSpc>
                <a:spcPct val="104000"/>
              </a:lnSpc>
              <a:buNone/>
            </a:pPr>
            <a:r>
              <a:rPr lang="en-US" sz="3100" dirty="0">
                <a:solidFill>
                  <a:srgbClr val="FAEBEB"/>
                </a:solidFill>
                <a:latin typeface="Dela Gothic One" pitchFamily="34" charset="0"/>
                <a:ea typeface="Dela Gothic One" pitchFamily="34" charset="-122"/>
                <a:cs typeface="Dela Gothic One" pitchFamily="34" charset="-120"/>
              </a:rPr>
              <a:t>Platform Journey</a:t>
            </a:r>
            <a:endParaRPr lang="en-US" sz="3100" dirty="0"/>
          </a:p>
        </p:txBody>
      </p:sp>
      <p:sp>
        <p:nvSpPr>
          <p:cNvPr id="3" name="Text 1"/>
          <p:cNvSpPr/>
          <p:nvPr/>
        </p:nvSpPr>
        <p:spPr>
          <a:xfrm>
            <a:off x="631908" y="1273969"/>
            <a:ext cx="10927878" cy="470495"/>
          </a:xfrm>
          <a:prstGeom prst="rect">
            <a:avLst/>
          </a:prstGeom>
          <a:noFill/>
          <a:ln/>
        </p:spPr>
        <p:txBody>
          <a:bodyPr wrap="square" lIns="0" tIns="0" rIns="0" bIns="0" rtlCol="0" anchor="t">
            <a:normAutofit/>
          </a:bodyPr>
          <a:lstStyle/>
          <a:p>
            <a:pPr marL="0" indent="0" algn="l">
              <a:lnSpc>
                <a:spcPct val="130000"/>
              </a:lnSpc>
              <a:buNone/>
            </a:pPr>
            <a:r>
              <a:rPr lang="en-US" sz="1150" dirty="0">
                <a:solidFill>
                  <a:srgbClr val="FFE5E5"/>
                </a:solidFill>
                <a:latin typeface="DM Sans" pitchFamily="34" charset="0"/>
                <a:ea typeface="DM Sans" pitchFamily="34" charset="-122"/>
                <a:cs typeface="DM Sans" pitchFamily="34" charset="-120"/>
              </a:rPr>
              <a:t>CureVerseAI follows </a:t>
            </a:r>
            <a:r>
              <a:rPr lang="en-US" sz="1150" b="1" dirty="0">
                <a:solidFill>
                  <a:srgbClr val="FFE5E5"/>
                </a:solidFill>
                <a:latin typeface="DM Sans Bold" pitchFamily="34" charset="0"/>
                <a:ea typeface="DM Sans Bold" pitchFamily="34" charset="-122"/>
                <a:cs typeface="DM Sans Bold" pitchFamily="34" charset="-120"/>
              </a:rPr>
              <a:t>five cognitive stages</a:t>
            </a:r>
            <a:r>
              <a:rPr lang="en-US" sz="1150" dirty="0">
                <a:solidFill>
                  <a:srgbClr val="FFE5E5"/>
                </a:solidFill>
                <a:latin typeface="DM Sans" pitchFamily="34" charset="0"/>
                <a:ea typeface="DM Sans" pitchFamily="34" charset="-122"/>
                <a:cs typeface="DM Sans" pitchFamily="34" charset="-120"/>
              </a:rPr>
              <a:t> that move from raw biological inquiry toward human understanding. Each stage maps to a scientific domain and a distinct mode of intelligence.</a:t>
            </a:r>
            <a:endParaRPr lang="en-US" sz="1150" dirty="0"/>
          </a:p>
        </p:txBody>
      </p:sp>
      <p:sp>
        <p:nvSpPr>
          <p:cNvPr id="4" name="Shape 2"/>
          <p:cNvSpPr/>
          <p:nvPr/>
        </p:nvSpPr>
        <p:spPr>
          <a:xfrm>
            <a:off x="6086323" y="1905893"/>
            <a:ext cx="19050" cy="4460379"/>
          </a:xfrm>
          <a:prstGeom prst="roundRect">
            <a:avLst>
              <a:gd name="adj" fmla="val 49999"/>
            </a:avLst>
          </a:prstGeom>
          <a:solidFill>
            <a:srgbClr val="8D2424"/>
          </a:solidFill>
          <a:ln/>
        </p:spPr>
      </p:sp>
      <p:sp>
        <p:nvSpPr>
          <p:cNvPr id="5" name="Shape 3"/>
          <p:cNvSpPr/>
          <p:nvPr/>
        </p:nvSpPr>
        <p:spPr>
          <a:xfrm>
            <a:off x="5493902" y="2065734"/>
            <a:ext cx="451632" cy="19050"/>
          </a:xfrm>
          <a:prstGeom prst="roundRect">
            <a:avLst>
              <a:gd name="adj" fmla="val 49999"/>
            </a:avLst>
          </a:prstGeom>
          <a:solidFill>
            <a:srgbClr val="8D2424"/>
          </a:solidFill>
          <a:ln/>
        </p:spPr>
      </p:sp>
      <p:sp>
        <p:nvSpPr>
          <p:cNvPr id="6" name="Shape 4"/>
          <p:cNvSpPr/>
          <p:nvPr/>
        </p:nvSpPr>
        <p:spPr>
          <a:xfrm>
            <a:off x="5926485" y="1905893"/>
            <a:ext cx="338724" cy="338733"/>
          </a:xfrm>
          <a:prstGeom prst="roundRect">
            <a:avLst>
              <a:gd name="adj" fmla="val 18670"/>
            </a:avLst>
          </a:prstGeom>
          <a:solidFill>
            <a:srgbClr val="740B0B"/>
          </a:solidFill>
          <a:ln w="6350">
            <a:solidFill>
              <a:srgbClr val="8D2424"/>
            </a:solidFill>
            <a:prstDash val="solid"/>
          </a:ln>
        </p:spPr>
      </p:sp>
      <p:sp>
        <p:nvSpPr>
          <p:cNvPr id="7" name="Text 5"/>
          <p:cNvSpPr/>
          <p:nvPr/>
        </p:nvSpPr>
        <p:spPr>
          <a:xfrm>
            <a:off x="5976986" y="1926679"/>
            <a:ext cx="237722" cy="297160"/>
          </a:xfrm>
          <a:prstGeom prst="rect">
            <a:avLst/>
          </a:prstGeom>
          <a:noFill/>
          <a:ln/>
        </p:spPr>
        <p:txBody>
          <a:bodyPr wrap="none" lIns="0" tIns="0" rIns="0" bIns="0" rtlCol="0" anchor="ctr"/>
          <a:lstStyle/>
          <a:p>
            <a:pPr marL="0" indent="0" algn="ctr">
              <a:lnSpc>
                <a:spcPct val="100000"/>
              </a:lnSpc>
              <a:buNone/>
            </a:pPr>
            <a:r>
              <a:rPr lang="en-US" sz="1850" dirty="0">
                <a:solidFill>
                  <a:srgbClr val="FFE5E5"/>
                </a:solidFill>
                <a:latin typeface="Dela Gothic One" pitchFamily="34" charset="0"/>
                <a:ea typeface="Dela Gothic One" pitchFamily="34" charset="-122"/>
                <a:cs typeface="Dela Gothic One" pitchFamily="34" charset="-120"/>
              </a:rPr>
              <a:t>1</a:t>
            </a:r>
            <a:endParaRPr lang="en-US" sz="1850" dirty="0"/>
          </a:p>
        </p:txBody>
      </p:sp>
      <p:sp>
        <p:nvSpPr>
          <p:cNvPr id="8" name="Text 6"/>
          <p:cNvSpPr/>
          <p:nvPr/>
        </p:nvSpPr>
        <p:spPr>
          <a:xfrm>
            <a:off x="631908" y="1957586"/>
            <a:ext cx="4711086" cy="247650"/>
          </a:xfrm>
          <a:prstGeom prst="rect">
            <a:avLst/>
          </a:prstGeom>
          <a:noFill/>
          <a:ln/>
        </p:spPr>
        <p:txBody>
          <a:bodyPr wrap="none" lIns="0" tIns="0" rIns="0" bIns="0" rtlCol="0" anchor="t"/>
          <a:lstStyle/>
          <a:p>
            <a:pPr marL="0" indent="0" algn="r">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Investigate</a:t>
            </a:r>
            <a:endParaRPr lang="en-US" sz="1550" dirty="0"/>
          </a:p>
        </p:txBody>
      </p:sp>
      <p:sp>
        <p:nvSpPr>
          <p:cNvPr id="9" name="Text 7"/>
          <p:cNvSpPr/>
          <p:nvPr/>
        </p:nvSpPr>
        <p:spPr>
          <a:xfrm>
            <a:off x="631908" y="2291259"/>
            <a:ext cx="4711086" cy="470495"/>
          </a:xfrm>
          <a:prstGeom prst="rect">
            <a:avLst/>
          </a:prstGeom>
          <a:noFill/>
          <a:ln/>
        </p:spPr>
        <p:txBody>
          <a:bodyPr wrap="square" lIns="0" tIns="0" rIns="0" bIns="0" rtlCol="0" anchor="t">
            <a:normAutofit/>
          </a:bodyPr>
          <a:lstStyle/>
          <a:p>
            <a:pPr marL="0" indent="0" algn="r">
              <a:lnSpc>
                <a:spcPct val="130000"/>
              </a:lnSpc>
              <a:buNone/>
            </a:pPr>
            <a:r>
              <a:rPr lang="en-US" sz="1150" b="1" dirty="0">
                <a:solidFill>
                  <a:srgbClr val="FFE5E5"/>
                </a:solidFill>
                <a:latin typeface="DM Sans Bold" pitchFamily="34" charset="0"/>
                <a:ea typeface="DM Sans Bold" pitchFamily="34" charset="-122"/>
                <a:cs typeface="DM Sans Bold" pitchFamily="34" charset="-120"/>
              </a:rPr>
              <a:t>Research</a:t>
            </a:r>
            <a:r>
              <a:rPr lang="en-US" sz="1150" dirty="0">
                <a:solidFill>
                  <a:srgbClr val="FFE5E5"/>
                </a:solidFill>
                <a:latin typeface="DM Sans" pitchFamily="34" charset="0"/>
                <a:ea typeface="DM Sans" pitchFamily="34" charset="-122"/>
                <a:cs typeface="DM Sans" pitchFamily="34" charset="-120"/>
              </a:rPr>
              <a:t> — investigates biological evidence: genes, proteins, variants, pathways, and supporting literature.</a:t>
            </a:r>
            <a:endParaRPr lang="en-US" sz="1150" dirty="0"/>
          </a:p>
        </p:txBody>
      </p:sp>
      <p:sp>
        <p:nvSpPr>
          <p:cNvPr id="10" name="Shape 8"/>
          <p:cNvSpPr/>
          <p:nvPr/>
        </p:nvSpPr>
        <p:spPr>
          <a:xfrm>
            <a:off x="6246160" y="2954933"/>
            <a:ext cx="451632" cy="19050"/>
          </a:xfrm>
          <a:prstGeom prst="roundRect">
            <a:avLst>
              <a:gd name="adj" fmla="val 49999"/>
            </a:avLst>
          </a:prstGeom>
          <a:solidFill>
            <a:srgbClr val="8D2424"/>
          </a:solidFill>
          <a:ln/>
        </p:spPr>
      </p:sp>
      <p:sp>
        <p:nvSpPr>
          <p:cNvPr id="11" name="Shape 9"/>
          <p:cNvSpPr/>
          <p:nvPr/>
        </p:nvSpPr>
        <p:spPr>
          <a:xfrm>
            <a:off x="5926485" y="2795091"/>
            <a:ext cx="338724" cy="338733"/>
          </a:xfrm>
          <a:prstGeom prst="roundRect">
            <a:avLst>
              <a:gd name="adj" fmla="val 18670"/>
            </a:avLst>
          </a:prstGeom>
          <a:solidFill>
            <a:srgbClr val="740B0B"/>
          </a:solidFill>
          <a:ln w="6350">
            <a:solidFill>
              <a:srgbClr val="8D2424"/>
            </a:solidFill>
            <a:prstDash val="solid"/>
          </a:ln>
        </p:spPr>
      </p:sp>
      <p:sp>
        <p:nvSpPr>
          <p:cNvPr id="12" name="Text 10"/>
          <p:cNvSpPr/>
          <p:nvPr/>
        </p:nvSpPr>
        <p:spPr>
          <a:xfrm>
            <a:off x="5976986" y="2815878"/>
            <a:ext cx="237722" cy="297160"/>
          </a:xfrm>
          <a:prstGeom prst="rect">
            <a:avLst/>
          </a:prstGeom>
          <a:noFill/>
          <a:ln/>
        </p:spPr>
        <p:txBody>
          <a:bodyPr wrap="none" lIns="0" tIns="0" rIns="0" bIns="0" rtlCol="0" anchor="ctr"/>
          <a:lstStyle/>
          <a:p>
            <a:pPr marL="0" indent="0" algn="ctr">
              <a:lnSpc>
                <a:spcPct val="100000"/>
              </a:lnSpc>
              <a:buNone/>
            </a:pPr>
            <a:r>
              <a:rPr lang="en-US" sz="1850" dirty="0">
                <a:solidFill>
                  <a:srgbClr val="FFE5E5"/>
                </a:solidFill>
                <a:latin typeface="Dela Gothic One" pitchFamily="34" charset="0"/>
                <a:ea typeface="Dela Gothic One" pitchFamily="34" charset="-122"/>
                <a:cs typeface="Dela Gothic One" pitchFamily="34" charset="-120"/>
              </a:rPr>
              <a:t>2</a:t>
            </a:r>
            <a:endParaRPr lang="en-US" sz="1850" dirty="0"/>
          </a:p>
        </p:txBody>
      </p:sp>
      <p:sp>
        <p:nvSpPr>
          <p:cNvPr id="13" name="Text 11"/>
          <p:cNvSpPr/>
          <p:nvPr/>
        </p:nvSpPr>
        <p:spPr>
          <a:xfrm>
            <a:off x="6848701" y="2846784"/>
            <a:ext cx="4711086" cy="247650"/>
          </a:xfrm>
          <a:prstGeom prst="rect">
            <a:avLst/>
          </a:prstGeom>
          <a:noFill/>
          <a:ln/>
        </p:spPr>
        <p:txBody>
          <a:bodyPr wrap="none" lIns="0" tIns="0" rIns="0" bIns="0" rtlCol="0" anchor="t"/>
          <a:lstStyle/>
          <a:p>
            <a:pPr marL="0" indent="0" algn="l">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Discover</a:t>
            </a:r>
            <a:endParaRPr lang="en-US" sz="1550" dirty="0"/>
          </a:p>
        </p:txBody>
      </p:sp>
      <p:sp>
        <p:nvSpPr>
          <p:cNvPr id="14" name="Text 12"/>
          <p:cNvSpPr/>
          <p:nvPr/>
        </p:nvSpPr>
        <p:spPr>
          <a:xfrm>
            <a:off x="6848701" y="3180457"/>
            <a:ext cx="4711086" cy="705743"/>
          </a:xfrm>
          <a:prstGeom prst="rect">
            <a:avLst/>
          </a:prstGeom>
          <a:noFill/>
          <a:ln/>
        </p:spPr>
        <p:txBody>
          <a:bodyPr wrap="square" lIns="0" tIns="0" rIns="0" bIns="0" rtlCol="0" anchor="t">
            <a:normAutofit/>
          </a:bodyPr>
          <a:lstStyle/>
          <a:p>
            <a:pPr marL="0" indent="0" algn="l">
              <a:lnSpc>
                <a:spcPct val="130000"/>
              </a:lnSpc>
              <a:buNone/>
            </a:pPr>
            <a:r>
              <a:rPr lang="en-US" sz="1150" b="1" dirty="0">
                <a:solidFill>
                  <a:srgbClr val="FFE5E5"/>
                </a:solidFill>
                <a:latin typeface="DM Sans Bold" pitchFamily="34" charset="0"/>
                <a:ea typeface="DM Sans Bold" pitchFamily="34" charset="-122"/>
                <a:cs typeface="DM Sans Bold" pitchFamily="34" charset="-120"/>
              </a:rPr>
              <a:t>Drug Development</a:t>
            </a:r>
            <a:r>
              <a:rPr lang="en-US" sz="1150" dirty="0">
                <a:solidFill>
                  <a:srgbClr val="FFE5E5"/>
                </a:solidFill>
                <a:latin typeface="DM Sans" pitchFamily="34" charset="0"/>
                <a:ea typeface="DM Sans" pitchFamily="34" charset="-122"/>
                <a:cs typeface="DM Sans" pitchFamily="34" charset="-120"/>
              </a:rPr>
              <a:t> — discovers therapeutic opportunities by reasoning from disease mechanisms toward targets and hypotheses.</a:t>
            </a:r>
            <a:endParaRPr lang="en-US" sz="1150" dirty="0"/>
          </a:p>
        </p:txBody>
      </p:sp>
      <p:sp>
        <p:nvSpPr>
          <p:cNvPr id="15" name="Shape 13"/>
          <p:cNvSpPr/>
          <p:nvPr/>
        </p:nvSpPr>
        <p:spPr>
          <a:xfrm>
            <a:off x="5493902" y="3726557"/>
            <a:ext cx="451632" cy="19050"/>
          </a:xfrm>
          <a:prstGeom prst="roundRect">
            <a:avLst>
              <a:gd name="adj" fmla="val 49999"/>
            </a:avLst>
          </a:prstGeom>
          <a:solidFill>
            <a:srgbClr val="8D2424"/>
          </a:solidFill>
          <a:ln/>
        </p:spPr>
      </p:sp>
      <p:sp>
        <p:nvSpPr>
          <p:cNvPr id="16" name="Shape 14"/>
          <p:cNvSpPr/>
          <p:nvPr/>
        </p:nvSpPr>
        <p:spPr>
          <a:xfrm>
            <a:off x="5926485" y="3566716"/>
            <a:ext cx="338724" cy="338733"/>
          </a:xfrm>
          <a:prstGeom prst="roundRect">
            <a:avLst>
              <a:gd name="adj" fmla="val 18670"/>
            </a:avLst>
          </a:prstGeom>
          <a:solidFill>
            <a:srgbClr val="740B0B"/>
          </a:solidFill>
          <a:ln w="6350">
            <a:solidFill>
              <a:srgbClr val="8D2424"/>
            </a:solidFill>
            <a:prstDash val="solid"/>
          </a:ln>
        </p:spPr>
      </p:sp>
      <p:sp>
        <p:nvSpPr>
          <p:cNvPr id="17" name="Text 15"/>
          <p:cNvSpPr/>
          <p:nvPr/>
        </p:nvSpPr>
        <p:spPr>
          <a:xfrm>
            <a:off x="5976986" y="3587502"/>
            <a:ext cx="237722" cy="297160"/>
          </a:xfrm>
          <a:prstGeom prst="rect">
            <a:avLst/>
          </a:prstGeom>
          <a:noFill/>
          <a:ln/>
        </p:spPr>
        <p:txBody>
          <a:bodyPr wrap="none" lIns="0" tIns="0" rIns="0" bIns="0" rtlCol="0" anchor="ctr"/>
          <a:lstStyle/>
          <a:p>
            <a:pPr marL="0" indent="0" algn="ctr">
              <a:lnSpc>
                <a:spcPct val="100000"/>
              </a:lnSpc>
              <a:buNone/>
            </a:pPr>
            <a:r>
              <a:rPr lang="en-US" sz="1850" dirty="0">
                <a:solidFill>
                  <a:srgbClr val="FFE5E5"/>
                </a:solidFill>
                <a:latin typeface="Dela Gothic One" pitchFamily="34" charset="0"/>
                <a:ea typeface="Dela Gothic One" pitchFamily="34" charset="-122"/>
                <a:cs typeface="Dela Gothic One" pitchFamily="34" charset="-120"/>
              </a:rPr>
              <a:t>3</a:t>
            </a:r>
            <a:endParaRPr lang="en-US" sz="1850" dirty="0"/>
          </a:p>
        </p:txBody>
      </p:sp>
      <p:sp>
        <p:nvSpPr>
          <p:cNvPr id="18" name="Text 16"/>
          <p:cNvSpPr/>
          <p:nvPr/>
        </p:nvSpPr>
        <p:spPr>
          <a:xfrm>
            <a:off x="631908" y="3618409"/>
            <a:ext cx="4711086" cy="247650"/>
          </a:xfrm>
          <a:prstGeom prst="rect">
            <a:avLst/>
          </a:prstGeom>
          <a:noFill/>
          <a:ln/>
        </p:spPr>
        <p:txBody>
          <a:bodyPr wrap="none" lIns="0" tIns="0" rIns="0" bIns="0" rtlCol="0" anchor="t"/>
          <a:lstStyle/>
          <a:p>
            <a:pPr marL="0" indent="0" algn="r">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Simulate</a:t>
            </a:r>
            <a:endParaRPr lang="en-US" sz="1550" dirty="0"/>
          </a:p>
        </p:txBody>
      </p:sp>
      <p:sp>
        <p:nvSpPr>
          <p:cNvPr id="19" name="Text 17"/>
          <p:cNvSpPr/>
          <p:nvPr/>
        </p:nvSpPr>
        <p:spPr>
          <a:xfrm>
            <a:off x="631908" y="3952081"/>
            <a:ext cx="4711086" cy="470495"/>
          </a:xfrm>
          <a:prstGeom prst="rect">
            <a:avLst/>
          </a:prstGeom>
          <a:noFill/>
          <a:ln/>
        </p:spPr>
        <p:txBody>
          <a:bodyPr wrap="square" lIns="0" tIns="0" rIns="0" bIns="0" rtlCol="0" anchor="t">
            <a:normAutofit/>
          </a:bodyPr>
          <a:lstStyle/>
          <a:p>
            <a:pPr marL="0" indent="0" algn="r">
              <a:lnSpc>
                <a:spcPct val="130000"/>
              </a:lnSpc>
              <a:buNone/>
            </a:pPr>
            <a:r>
              <a:rPr lang="en-US" sz="1150" b="1" dirty="0">
                <a:solidFill>
                  <a:srgbClr val="FFE5E5"/>
                </a:solidFill>
                <a:latin typeface="DM Sans Bold" pitchFamily="34" charset="0"/>
                <a:ea typeface="DM Sans Bold" pitchFamily="34" charset="-122"/>
                <a:cs typeface="DM Sans Bold" pitchFamily="34" charset="-120"/>
              </a:rPr>
              <a:t>Medicine</a:t>
            </a:r>
            <a:r>
              <a:rPr lang="en-US" sz="1150" dirty="0">
                <a:solidFill>
                  <a:srgbClr val="FFE5E5"/>
                </a:solidFill>
                <a:latin typeface="DM Sans" pitchFamily="34" charset="0"/>
                <a:ea typeface="DM Sans" pitchFamily="34" charset="-122"/>
                <a:cs typeface="DM Sans" pitchFamily="34" charset="-120"/>
              </a:rPr>
              <a:t> — simulates biological states and interventions through a Virtual Cell model.</a:t>
            </a:r>
            <a:endParaRPr lang="en-US" sz="1150" dirty="0"/>
          </a:p>
        </p:txBody>
      </p:sp>
      <p:sp>
        <p:nvSpPr>
          <p:cNvPr id="20" name="Shape 18"/>
          <p:cNvSpPr/>
          <p:nvPr/>
        </p:nvSpPr>
        <p:spPr>
          <a:xfrm>
            <a:off x="6246160" y="4498181"/>
            <a:ext cx="451632" cy="19050"/>
          </a:xfrm>
          <a:prstGeom prst="roundRect">
            <a:avLst>
              <a:gd name="adj" fmla="val 49999"/>
            </a:avLst>
          </a:prstGeom>
          <a:solidFill>
            <a:srgbClr val="8D2424"/>
          </a:solidFill>
          <a:ln/>
        </p:spPr>
      </p:sp>
      <p:sp>
        <p:nvSpPr>
          <p:cNvPr id="21" name="Shape 19"/>
          <p:cNvSpPr/>
          <p:nvPr/>
        </p:nvSpPr>
        <p:spPr>
          <a:xfrm>
            <a:off x="5926485" y="4338340"/>
            <a:ext cx="338724" cy="338733"/>
          </a:xfrm>
          <a:prstGeom prst="roundRect">
            <a:avLst>
              <a:gd name="adj" fmla="val 18670"/>
            </a:avLst>
          </a:prstGeom>
          <a:solidFill>
            <a:srgbClr val="740B0B"/>
          </a:solidFill>
          <a:ln w="6350">
            <a:solidFill>
              <a:srgbClr val="8D2424"/>
            </a:solidFill>
            <a:prstDash val="solid"/>
          </a:ln>
        </p:spPr>
      </p:sp>
      <p:sp>
        <p:nvSpPr>
          <p:cNvPr id="22" name="Text 20"/>
          <p:cNvSpPr/>
          <p:nvPr/>
        </p:nvSpPr>
        <p:spPr>
          <a:xfrm>
            <a:off x="5976986" y="4359126"/>
            <a:ext cx="237722" cy="297160"/>
          </a:xfrm>
          <a:prstGeom prst="rect">
            <a:avLst/>
          </a:prstGeom>
          <a:noFill/>
          <a:ln/>
        </p:spPr>
        <p:txBody>
          <a:bodyPr wrap="none" lIns="0" tIns="0" rIns="0" bIns="0" rtlCol="0" anchor="ctr"/>
          <a:lstStyle/>
          <a:p>
            <a:pPr marL="0" indent="0" algn="ctr">
              <a:lnSpc>
                <a:spcPct val="100000"/>
              </a:lnSpc>
              <a:buNone/>
            </a:pPr>
            <a:r>
              <a:rPr lang="en-US" sz="1850" dirty="0">
                <a:solidFill>
                  <a:srgbClr val="FFE5E5"/>
                </a:solidFill>
                <a:latin typeface="Dela Gothic One" pitchFamily="34" charset="0"/>
                <a:ea typeface="Dela Gothic One" pitchFamily="34" charset="-122"/>
                <a:cs typeface="Dela Gothic One" pitchFamily="34" charset="-120"/>
              </a:rPr>
              <a:t>4</a:t>
            </a:r>
            <a:endParaRPr lang="en-US" sz="1850" dirty="0"/>
          </a:p>
        </p:txBody>
      </p:sp>
      <p:sp>
        <p:nvSpPr>
          <p:cNvPr id="23" name="Text 21"/>
          <p:cNvSpPr/>
          <p:nvPr/>
        </p:nvSpPr>
        <p:spPr>
          <a:xfrm>
            <a:off x="6848701" y="4390033"/>
            <a:ext cx="4711086" cy="247650"/>
          </a:xfrm>
          <a:prstGeom prst="rect">
            <a:avLst/>
          </a:prstGeom>
          <a:noFill/>
          <a:ln/>
        </p:spPr>
        <p:txBody>
          <a:bodyPr wrap="none" lIns="0" tIns="0" rIns="0" bIns="0" rtlCol="0" anchor="t"/>
          <a:lstStyle/>
          <a:p>
            <a:pPr marL="0" indent="0" algn="l">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Explore</a:t>
            </a:r>
            <a:endParaRPr lang="en-US" sz="1550" dirty="0"/>
          </a:p>
        </p:txBody>
      </p:sp>
      <p:sp>
        <p:nvSpPr>
          <p:cNvPr id="24" name="Text 22"/>
          <p:cNvSpPr/>
          <p:nvPr/>
        </p:nvSpPr>
        <p:spPr>
          <a:xfrm>
            <a:off x="6848701" y="4723705"/>
            <a:ext cx="4711086" cy="470495"/>
          </a:xfrm>
          <a:prstGeom prst="rect">
            <a:avLst/>
          </a:prstGeom>
          <a:noFill/>
          <a:ln/>
        </p:spPr>
        <p:txBody>
          <a:bodyPr wrap="square" lIns="0" tIns="0" rIns="0" bIns="0" rtlCol="0" anchor="t">
            <a:normAutofit/>
          </a:bodyPr>
          <a:lstStyle/>
          <a:p>
            <a:pPr marL="0" indent="0" algn="l">
              <a:lnSpc>
                <a:spcPct val="130000"/>
              </a:lnSpc>
              <a:buNone/>
            </a:pPr>
            <a:r>
              <a:rPr lang="en-US" sz="1150" b="1" dirty="0">
                <a:solidFill>
                  <a:srgbClr val="FFE5E5"/>
                </a:solidFill>
                <a:latin typeface="DM Sans Bold" pitchFamily="34" charset="0"/>
                <a:ea typeface="DM Sans Bold" pitchFamily="34" charset="-122"/>
                <a:cs typeface="DM Sans Bold" pitchFamily="34" charset="-120"/>
              </a:rPr>
              <a:t>Biotechnology</a:t>
            </a:r>
            <a:r>
              <a:rPr lang="en-US" sz="1150" dirty="0">
                <a:solidFill>
                  <a:srgbClr val="FFE5E5"/>
                </a:solidFill>
                <a:latin typeface="DM Sans" pitchFamily="34" charset="0"/>
                <a:ea typeface="DM Sans" pitchFamily="34" charset="-122"/>
                <a:cs typeface="DM Sans" pitchFamily="34" charset="-120"/>
              </a:rPr>
              <a:t> — explores biological materials, anatomy, compounds, and molecular potential.</a:t>
            </a:r>
            <a:endParaRPr lang="en-US" sz="1150" dirty="0"/>
          </a:p>
        </p:txBody>
      </p:sp>
      <p:sp>
        <p:nvSpPr>
          <p:cNvPr id="25" name="Shape 23"/>
          <p:cNvSpPr/>
          <p:nvPr/>
        </p:nvSpPr>
        <p:spPr>
          <a:xfrm>
            <a:off x="5493902" y="5269805"/>
            <a:ext cx="451632" cy="19050"/>
          </a:xfrm>
          <a:prstGeom prst="roundRect">
            <a:avLst>
              <a:gd name="adj" fmla="val 49999"/>
            </a:avLst>
          </a:prstGeom>
          <a:solidFill>
            <a:srgbClr val="8D2424"/>
          </a:solidFill>
          <a:ln/>
        </p:spPr>
      </p:sp>
      <p:sp>
        <p:nvSpPr>
          <p:cNvPr id="26" name="Shape 24"/>
          <p:cNvSpPr/>
          <p:nvPr/>
        </p:nvSpPr>
        <p:spPr>
          <a:xfrm>
            <a:off x="5926485" y="5109964"/>
            <a:ext cx="338724" cy="338733"/>
          </a:xfrm>
          <a:prstGeom prst="roundRect">
            <a:avLst>
              <a:gd name="adj" fmla="val 18670"/>
            </a:avLst>
          </a:prstGeom>
          <a:solidFill>
            <a:srgbClr val="740B0B"/>
          </a:solidFill>
          <a:ln w="6350">
            <a:solidFill>
              <a:srgbClr val="8D2424"/>
            </a:solidFill>
            <a:prstDash val="solid"/>
          </a:ln>
        </p:spPr>
      </p:sp>
      <p:sp>
        <p:nvSpPr>
          <p:cNvPr id="27" name="Text 25"/>
          <p:cNvSpPr/>
          <p:nvPr/>
        </p:nvSpPr>
        <p:spPr>
          <a:xfrm>
            <a:off x="5976986" y="5130750"/>
            <a:ext cx="237722" cy="297160"/>
          </a:xfrm>
          <a:prstGeom prst="rect">
            <a:avLst/>
          </a:prstGeom>
          <a:noFill/>
          <a:ln/>
        </p:spPr>
        <p:txBody>
          <a:bodyPr wrap="none" lIns="0" tIns="0" rIns="0" bIns="0" rtlCol="0" anchor="ctr"/>
          <a:lstStyle/>
          <a:p>
            <a:pPr marL="0" indent="0" algn="ctr">
              <a:lnSpc>
                <a:spcPct val="100000"/>
              </a:lnSpc>
              <a:buNone/>
            </a:pPr>
            <a:r>
              <a:rPr lang="en-US" sz="1850" dirty="0">
                <a:solidFill>
                  <a:srgbClr val="FFE5E5"/>
                </a:solidFill>
                <a:latin typeface="Dela Gothic One" pitchFamily="34" charset="0"/>
                <a:ea typeface="Dela Gothic One" pitchFamily="34" charset="-122"/>
                <a:cs typeface="Dela Gothic One" pitchFamily="34" charset="-120"/>
              </a:rPr>
              <a:t>5</a:t>
            </a:r>
            <a:endParaRPr lang="en-US" sz="1850" dirty="0"/>
          </a:p>
        </p:txBody>
      </p:sp>
      <p:sp>
        <p:nvSpPr>
          <p:cNvPr id="28" name="Text 26"/>
          <p:cNvSpPr/>
          <p:nvPr/>
        </p:nvSpPr>
        <p:spPr>
          <a:xfrm>
            <a:off x="631908" y="5161657"/>
            <a:ext cx="4711086" cy="247650"/>
          </a:xfrm>
          <a:prstGeom prst="rect">
            <a:avLst/>
          </a:prstGeom>
          <a:noFill/>
          <a:ln/>
        </p:spPr>
        <p:txBody>
          <a:bodyPr wrap="none" lIns="0" tIns="0" rIns="0" bIns="0" rtlCol="0" anchor="t"/>
          <a:lstStyle/>
          <a:p>
            <a:pPr marL="0" indent="0" algn="r">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Learn</a:t>
            </a:r>
            <a:endParaRPr lang="en-US" sz="1550" dirty="0"/>
          </a:p>
        </p:txBody>
      </p:sp>
      <p:sp>
        <p:nvSpPr>
          <p:cNvPr id="29" name="Text 27"/>
          <p:cNvSpPr/>
          <p:nvPr/>
        </p:nvSpPr>
        <p:spPr>
          <a:xfrm>
            <a:off x="631908" y="5495330"/>
            <a:ext cx="4711086" cy="470495"/>
          </a:xfrm>
          <a:prstGeom prst="rect">
            <a:avLst/>
          </a:prstGeom>
          <a:noFill/>
          <a:ln/>
        </p:spPr>
        <p:txBody>
          <a:bodyPr wrap="square" lIns="0" tIns="0" rIns="0" bIns="0" rtlCol="0" anchor="t">
            <a:normAutofit/>
          </a:bodyPr>
          <a:lstStyle/>
          <a:p>
            <a:pPr marL="0" indent="0" algn="r">
              <a:lnSpc>
                <a:spcPct val="130000"/>
              </a:lnSpc>
              <a:buNone/>
            </a:pPr>
            <a:r>
              <a:rPr lang="en-US" sz="1150" b="1" dirty="0">
                <a:solidFill>
                  <a:srgbClr val="FFE5E5"/>
                </a:solidFill>
                <a:latin typeface="DM Sans Bold" pitchFamily="34" charset="0"/>
                <a:ea typeface="DM Sans Bold" pitchFamily="34" charset="-122"/>
                <a:cs typeface="DM Sans Bold" pitchFamily="34" charset="-120"/>
              </a:rPr>
              <a:t>Education</a:t>
            </a:r>
            <a:r>
              <a:rPr lang="en-US" sz="1150" dirty="0">
                <a:solidFill>
                  <a:srgbClr val="FFE5E5"/>
                </a:solidFill>
                <a:latin typeface="DM Sans" pitchFamily="34" charset="0"/>
                <a:ea typeface="DM Sans" pitchFamily="34" charset="-122"/>
                <a:cs typeface="DM Sans" pitchFamily="34" charset="-120"/>
              </a:rPr>
              <a:t> — turns scientific intelligence into understandable, interactive learning content.</a:t>
            </a:r>
            <a:endParaRPr lang="en-US" sz="1150" dirty="0"/>
          </a:p>
        </p:txBody>
      </p:sp>
      <p:sp>
        <p:nvSpPr>
          <p:cNvPr id="31" name="Rectangle: Rounded Corners 30">
            <a:extLst>
              <a:ext uri="{FF2B5EF4-FFF2-40B4-BE49-F238E27FC236}">
                <a16:creationId xmlns:a16="http://schemas.microsoft.com/office/drawing/2014/main" id="{A02300E9-0675-F28D-2742-EA6F58DB7D55}"/>
              </a:ext>
            </a:extLst>
          </p:cNvPr>
          <p:cNvSpPr/>
          <p:nvPr/>
        </p:nvSpPr>
        <p:spPr>
          <a:xfrm>
            <a:off x="10473618" y="6495691"/>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31908" y="1319907"/>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Five Domains at a Glance</a:t>
            </a:r>
            <a:endParaRPr lang="en-US" sz="3250" dirty="0"/>
          </a:p>
        </p:txBody>
      </p:sp>
      <p:sp>
        <p:nvSpPr>
          <p:cNvPr id="3" name="Shape 1"/>
          <p:cNvSpPr/>
          <p:nvPr/>
        </p:nvSpPr>
        <p:spPr>
          <a:xfrm>
            <a:off x="631908" y="2155428"/>
            <a:ext cx="3537258" cy="1207591"/>
          </a:xfrm>
          <a:prstGeom prst="roundRect">
            <a:avLst>
              <a:gd name="adj" fmla="val 5495"/>
            </a:avLst>
          </a:prstGeom>
          <a:solidFill>
            <a:srgbClr val="740B0B"/>
          </a:solidFill>
          <a:ln w="6350">
            <a:solidFill>
              <a:srgbClr val="8D2424"/>
            </a:solidFill>
            <a:prstDash val="solid"/>
          </a:ln>
        </p:spPr>
      </p:sp>
      <p:sp>
        <p:nvSpPr>
          <p:cNvPr id="4" name="Text 2"/>
          <p:cNvSpPr/>
          <p:nvPr/>
        </p:nvSpPr>
        <p:spPr>
          <a:xfrm>
            <a:off x="796211" y="2319734"/>
            <a:ext cx="3208654" cy="27880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Dela Gothic One" pitchFamily="34" charset="0"/>
                <a:ea typeface="Dela Gothic One" pitchFamily="34" charset="-122"/>
                <a:cs typeface="Dela Gothic One" pitchFamily="34" charset="-120"/>
              </a:rPr>
              <a:t>🔬</a:t>
            </a:r>
            <a:r>
              <a:rPr lang="en-US" sz="1600" dirty="0">
                <a:solidFill>
                  <a:srgbClr val="FFE5E5"/>
                </a:solidFill>
                <a:latin typeface="Dela Gothic One" pitchFamily="34" charset="0"/>
                <a:ea typeface="Dela Gothic One" pitchFamily="34" charset="-122"/>
                <a:cs typeface="Dela Gothic One" pitchFamily="34" charset="-120"/>
              </a:rPr>
              <a:t> Research</a:t>
            </a:r>
            <a:endParaRPr lang="en-US" sz="1600" dirty="0"/>
          </a:p>
        </p:txBody>
      </p:sp>
      <p:sp>
        <p:nvSpPr>
          <p:cNvPr id="5" name="Text 3"/>
          <p:cNvSpPr/>
          <p:nvPr/>
        </p:nvSpPr>
        <p:spPr>
          <a:xfrm>
            <a:off x="796211" y="2693293"/>
            <a:ext cx="3208654"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Investigate genes, proteins, variants, pathways, and evidence.</a:t>
            </a:r>
            <a:endParaRPr lang="en-US" sz="1200" dirty="0"/>
          </a:p>
        </p:txBody>
      </p:sp>
      <p:sp>
        <p:nvSpPr>
          <p:cNvPr id="6" name="Shape 4"/>
          <p:cNvSpPr/>
          <p:nvPr/>
        </p:nvSpPr>
        <p:spPr>
          <a:xfrm>
            <a:off x="4327119" y="2155428"/>
            <a:ext cx="3537358" cy="1207591"/>
          </a:xfrm>
          <a:prstGeom prst="roundRect">
            <a:avLst>
              <a:gd name="adj" fmla="val 5495"/>
            </a:avLst>
          </a:prstGeom>
          <a:solidFill>
            <a:srgbClr val="740B0B"/>
          </a:solidFill>
          <a:ln w="6350">
            <a:solidFill>
              <a:srgbClr val="8D2424"/>
            </a:solidFill>
            <a:prstDash val="solid"/>
          </a:ln>
        </p:spPr>
      </p:sp>
      <p:sp>
        <p:nvSpPr>
          <p:cNvPr id="7" name="Text 5"/>
          <p:cNvSpPr/>
          <p:nvPr/>
        </p:nvSpPr>
        <p:spPr>
          <a:xfrm>
            <a:off x="4491421" y="2319734"/>
            <a:ext cx="3208753" cy="27880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Dela Gothic One" pitchFamily="34" charset="0"/>
                <a:ea typeface="Dela Gothic One" pitchFamily="34" charset="-122"/>
                <a:cs typeface="Dela Gothic One" pitchFamily="34" charset="-120"/>
              </a:rPr>
              <a:t>💊</a:t>
            </a:r>
            <a:r>
              <a:rPr lang="en-US" sz="1600" dirty="0">
                <a:solidFill>
                  <a:srgbClr val="FFE5E5"/>
                </a:solidFill>
                <a:latin typeface="Dela Gothic One" pitchFamily="34" charset="0"/>
                <a:ea typeface="Dela Gothic One" pitchFamily="34" charset="-122"/>
                <a:cs typeface="Dela Gothic One" pitchFamily="34" charset="-120"/>
              </a:rPr>
              <a:t> Drug Development</a:t>
            </a:r>
            <a:endParaRPr lang="en-US" sz="1600" dirty="0"/>
          </a:p>
        </p:txBody>
      </p:sp>
      <p:sp>
        <p:nvSpPr>
          <p:cNvPr id="8" name="Text 6"/>
          <p:cNvSpPr/>
          <p:nvPr/>
        </p:nvSpPr>
        <p:spPr>
          <a:xfrm>
            <a:off x="4491421" y="2693293"/>
            <a:ext cx="3208753"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Reason from disease mechanisms toward targets and therapeutic hypotheses.</a:t>
            </a:r>
            <a:endParaRPr lang="en-US" sz="1200" dirty="0"/>
          </a:p>
        </p:txBody>
      </p:sp>
      <p:sp>
        <p:nvSpPr>
          <p:cNvPr id="9" name="Shape 7"/>
          <p:cNvSpPr/>
          <p:nvPr/>
        </p:nvSpPr>
        <p:spPr>
          <a:xfrm>
            <a:off x="8022429" y="2155428"/>
            <a:ext cx="3537258" cy="1207591"/>
          </a:xfrm>
          <a:prstGeom prst="roundRect">
            <a:avLst>
              <a:gd name="adj" fmla="val 5495"/>
            </a:avLst>
          </a:prstGeom>
          <a:solidFill>
            <a:srgbClr val="740B0B"/>
          </a:solidFill>
          <a:ln w="6350">
            <a:solidFill>
              <a:srgbClr val="8D2424"/>
            </a:solidFill>
            <a:prstDash val="solid"/>
          </a:ln>
        </p:spPr>
      </p:sp>
      <p:sp>
        <p:nvSpPr>
          <p:cNvPr id="10" name="Text 8"/>
          <p:cNvSpPr/>
          <p:nvPr/>
        </p:nvSpPr>
        <p:spPr>
          <a:xfrm>
            <a:off x="8186731" y="2319734"/>
            <a:ext cx="3208654" cy="27880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Dela Gothic One" pitchFamily="34" charset="0"/>
                <a:ea typeface="Dela Gothic One" pitchFamily="34" charset="-122"/>
                <a:cs typeface="Dela Gothic One" pitchFamily="34" charset="-120"/>
              </a:rPr>
              <a:t>🏥</a:t>
            </a:r>
            <a:r>
              <a:rPr lang="en-US" sz="1600" dirty="0">
                <a:solidFill>
                  <a:srgbClr val="FFE5E5"/>
                </a:solidFill>
                <a:latin typeface="Dela Gothic One" pitchFamily="34" charset="0"/>
                <a:ea typeface="Dela Gothic One" pitchFamily="34" charset="-122"/>
                <a:cs typeface="Dela Gothic One" pitchFamily="34" charset="-120"/>
              </a:rPr>
              <a:t> Medicine</a:t>
            </a:r>
            <a:endParaRPr lang="en-US" sz="1600" dirty="0"/>
          </a:p>
        </p:txBody>
      </p:sp>
      <p:sp>
        <p:nvSpPr>
          <p:cNvPr id="11" name="Text 9"/>
          <p:cNvSpPr/>
          <p:nvPr/>
        </p:nvSpPr>
        <p:spPr>
          <a:xfrm>
            <a:off x="8186731" y="2693293"/>
            <a:ext cx="3208654"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Simulate disease and treatment behavior through a Virtual Cell.</a:t>
            </a:r>
            <a:endParaRPr lang="en-US" sz="1200" dirty="0"/>
          </a:p>
        </p:txBody>
      </p:sp>
      <p:sp>
        <p:nvSpPr>
          <p:cNvPr id="12" name="Shape 10"/>
          <p:cNvSpPr/>
          <p:nvPr/>
        </p:nvSpPr>
        <p:spPr>
          <a:xfrm>
            <a:off x="631908" y="3520976"/>
            <a:ext cx="5384864" cy="1207591"/>
          </a:xfrm>
          <a:prstGeom prst="roundRect">
            <a:avLst>
              <a:gd name="adj" fmla="val 5495"/>
            </a:avLst>
          </a:prstGeom>
          <a:solidFill>
            <a:srgbClr val="740B0B"/>
          </a:solidFill>
          <a:ln w="6350">
            <a:solidFill>
              <a:srgbClr val="8D2424"/>
            </a:solidFill>
            <a:prstDash val="solid"/>
          </a:ln>
        </p:spPr>
      </p:sp>
      <p:sp>
        <p:nvSpPr>
          <p:cNvPr id="13" name="Text 11"/>
          <p:cNvSpPr/>
          <p:nvPr/>
        </p:nvSpPr>
        <p:spPr>
          <a:xfrm>
            <a:off x="796211" y="3685282"/>
            <a:ext cx="5056259" cy="27880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Dela Gothic One" pitchFamily="34" charset="0"/>
                <a:ea typeface="Dela Gothic One" pitchFamily="34" charset="-122"/>
                <a:cs typeface="Dela Gothic One" pitchFamily="34" charset="-120"/>
              </a:rPr>
              <a:t>🧬</a:t>
            </a:r>
            <a:r>
              <a:rPr lang="en-US" sz="1600" dirty="0">
                <a:solidFill>
                  <a:srgbClr val="FFE5E5"/>
                </a:solidFill>
                <a:latin typeface="Dela Gothic One" pitchFamily="34" charset="0"/>
                <a:ea typeface="Dela Gothic One" pitchFamily="34" charset="-122"/>
                <a:cs typeface="Dela Gothic One" pitchFamily="34" charset="-120"/>
              </a:rPr>
              <a:t> Biotechnology</a:t>
            </a:r>
            <a:endParaRPr lang="en-US" sz="1600" dirty="0"/>
          </a:p>
        </p:txBody>
      </p:sp>
      <p:sp>
        <p:nvSpPr>
          <p:cNvPr id="14" name="Text 12"/>
          <p:cNvSpPr/>
          <p:nvPr/>
        </p:nvSpPr>
        <p:spPr>
          <a:xfrm>
            <a:off x="796211" y="4058841"/>
            <a:ext cx="505625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Analyze biological materials, anatomy, compounds, and potential applications.</a:t>
            </a:r>
            <a:endParaRPr lang="en-US" sz="1200" dirty="0"/>
          </a:p>
        </p:txBody>
      </p:sp>
      <p:sp>
        <p:nvSpPr>
          <p:cNvPr id="15" name="Shape 13"/>
          <p:cNvSpPr/>
          <p:nvPr/>
        </p:nvSpPr>
        <p:spPr>
          <a:xfrm>
            <a:off x="6174724" y="3520976"/>
            <a:ext cx="5384963" cy="1207591"/>
          </a:xfrm>
          <a:prstGeom prst="roundRect">
            <a:avLst>
              <a:gd name="adj" fmla="val 5495"/>
            </a:avLst>
          </a:prstGeom>
          <a:solidFill>
            <a:srgbClr val="740B0B"/>
          </a:solidFill>
          <a:ln w="6350">
            <a:solidFill>
              <a:srgbClr val="8D2424"/>
            </a:solidFill>
            <a:prstDash val="solid"/>
          </a:ln>
        </p:spPr>
      </p:sp>
      <p:sp>
        <p:nvSpPr>
          <p:cNvPr id="16" name="Text 14"/>
          <p:cNvSpPr/>
          <p:nvPr/>
        </p:nvSpPr>
        <p:spPr>
          <a:xfrm>
            <a:off x="6339027" y="3685282"/>
            <a:ext cx="5056359" cy="27880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Dela Gothic One" pitchFamily="34" charset="0"/>
                <a:ea typeface="Dela Gothic One" pitchFamily="34" charset="-122"/>
                <a:cs typeface="Dela Gothic One" pitchFamily="34" charset="-120"/>
              </a:rPr>
              <a:t>📚</a:t>
            </a:r>
            <a:r>
              <a:rPr lang="en-US" sz="1600" dirty="0">
                <a:solidFill>
                  <a:srgbClr val="FFE5E5"/>
                </a:solidFill>
                <a:latin typeface="Dela Gothic One" pitchFamily="34" charset="0"/>
                <a:ea typeface="Dela Gothic One" pitchFamily="34" charset="-122"/>
                <a:cs typeface="Dela Gothic One" pitchFamily="34" charset="-120"/>
              </a:rPr>
              <a:t> Education</a:t>
            </a:r>
            <a:endParaRPr lang="en-US" sz="1600" dirty="0"/>
          </a:p>
        </p:txBody>
      </p:sp>
      <p:sp>
        <p:nvSpPr>
          <p:cNvPr id="17" name="Text 15"/>
          <p:cNvSpPr/>
          <p:nvPr/>
        </p:nvSpPr>
        <p:spPr>
          <a:xfrm>
            <a:off x="6339027" y="4058841"/>
            <a:ext cx="505635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Learn complex biology through interactive scientific content and AI assistance.</a:t>
            </a:r>
            <a:endParaRPr lang="en-US" sz="1200" dirty="0"/>
          </a:p>
        </p:txBody>
      </p:sp>
      <p:sp>
        <p:nvSpPr>
          <p:cNvPr id="18" name="Shape 16"/>
          <p:cNvSpPr/>
          <p:nvPr/>
        </p:nvSpPr>
        <p:spPr>
          <a:xfrm>
            <a:off x="631908" y="4906268"/>
            <a:ext cx="10927878" cy="631825"/>
          </a:xfrm>
          <a:prstGeom prst="roundRect">
            <a:avLst>
              <a:gd name="adj" fmla="val 10502"/>
            </a:avLst>
          </a:prstGeom>
          <a:solidFill>
            <a:srgbClr val="740B0B"/>
          </a:solidFill>
          <a:ln/>
        </p:spPr>
      </p:sp>
      <p:pic>
        <p:nvPicPr>
          <p:cNvPr id="19" name="Image 0" descr="preencoded.png"/>
          <p:cNvPicPr>
            <a:picLocks noChangeAspect="1"/>
          </p:cNvPicPr>
          <p:nvPr/>
        </p:nvPicPr>
        <p:blipFill>
          <a:blip r:embed="rId3"/>
          <a:stretch>
            <a:fillRect/>
          </a:stretch>
        </p:blipFill>
        <p:spPr>
          <a:xfrm>
            <a:off x="789861" y="5130602"/>
            <a:ext cx="197440" cy="157956"/>
          </a:xfrm>
          <a:prstGeom prst="rect">
            <a:avLst/>
          </a:prstGeom>
        </p:spPr>
      </p:pic>
      <p:sp>
        <p:nvSpPr>
          <p:cNvPr id="20" name="Text 17"/>
          <p:cNvSpPr/>
          <p:nvPr/>
        </p:nvSpPr>
        <p:spPr>
          <a:xfrm>
            <a:off x="1145253" y="5103713"/>
            <a:ext cx="10866166" cy="252710"/>
          </a:xfrm>
          <a:prstGeom prst="rect">
            <a:avLst/>
          </a:prstGeom>
          <a:noFill/>
          <a:ln/>
        </p:spPr>
        <p:txBody>
          <a:bodyPr wrap="none" lIns="0" tIns="0" rIns="0" bIns="0" rtlCol="0" anchor="t"/>
          <a:lstStyle/>
          <a:p>
            <a:pPr marL="0" indent="0" algn="l">
              <a:lnSpc>
                <a:spcPct val="133000"/>
              </a:lnSpc>
              <a:buNone/>
            </a:pPr>
            <a:r>
              <a:rPr lang="en-US" sz="1200" b="1" dirty="0">
                <a:solidFill>
                  <a:srgbClr val="FFFFFF"/>
                </a:solidFill>
                <a:latin typeface="DM Sans Bold" pitchFamily="34" charset="0"/>
                <a:ea typeface="DM Sans Bold" pitchFamily="34" charset="-122"/>
                <a:cs typeface="DM Sans Bold" pitchFamily="34" charset="-120"/>
              </a:rPr>
              <a:t>CureVerseAI</a:t>
            </a:r>
            <a:r>
              <a:rPr lang="en-US" sz="1200" dirty="0">
                <a:solidFill>
                  <a:srgbClr val="FFFFFF"/>
                </a:solidFill>
                <a:latin typeface="DM Sans" pitchFamily="34" charset="0"/>
                <a:ea typeface="DM Sans" pitchFamily="34" charset="-122"/>
                <a:cs typeface="DM Sans" pitchFamily="34" charset="-120"/>
              </a:rPr>
              <a:t> — The Biological Intelligence Layer connecting all five domains in a single unified ecosystem.</a:t>
            </a:r>
            <a:endParaRPr lang="en-US" sz="1200" dirty="0"/>
          </a:p>
        </p:txBody>
      </p:sp>
      <p:sp>
        <p:nvSpPr>
          <p:cNvPr id="22" name="Rectangle: Rounded Corners 21">
            <a:extLst>
              <a:ext uri="{FF2B5EF4-FFF2-40B4-BE49-F238E27FC236}">
                <a16:creationId xmlns:a16="http://schemas.microsoft.com/office/drawing/2014/main" id="{C2E8283A-86A1-4A5D-D467-DAB2A3D1FC0A}"/>
              </a:ext>
            </a:extLst>
          </p:cNvPr>
          <p:cNvSpPr/>
          <p:nvPr/>
        </p:nvSpPr>
        <p:spPr>
          <a:xfrm>
            <a:off x="10473618" y="6495691"/>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Shape 0"/>
          <p:cNvSpPr/>
          <p:nvPr/>
        </p:nvSpPr>
        <p:spPr>
          <a:xfrm>
            <a:off x="631908" y="452041"/>
            <a:ext cx="1301717" cy="232470"/>
          </a:xfrm>
          <a:prstGeom prst="roundRect">
            <a:avLst>
              <a:gd name="adj" fmla="val 22120"/>
            </a:avLst>
          </a:prstGeom>
          <a:noFill/>
          <a:ln w="6350">
            <a:solidFill>
              <a:srgbClr val="C91313"/>
            </a:solidFill>
            <a:prstDash val="solid"/>
          </a:ln>
        </p:spPr>
      </p:sp>
      <p:sp>
        <p:nvSpPr>
          <p:cNvPr id="4" name="Text 1"/>
          <p:cNvSpPr/>
          <p:nvPr/>
        </p:nvSpPr>
        <p:spPr>
          <a:xfrm>
            <a:off x="723683" y="497880"/>
            <a:ext cx="1727752" cy="140791"/>
          </a:xfrm>
          <a:prstGeom prst="rect">
            <a:avLst/>
          </a:prstGeom>
          <a:noFill/>
          <a:ln/>
        </p:spPr>
        <p:txBody>
          <a:bodyPr wrap="none" lIns="0" tIns="0" rIns="0" bIns="0" rtlCol="0" anchor="t"/>
          <a:lstStyle/>
          <a:p>
            <a:pPr marL="0" indent="0" algn="l">
              <a:lnSpc>
                <a:spcPct val="96000"/>
              </a:lnSpc>
              <a:buNone/>
            </a:pPr>
            <a:r>
              <a:rPr lang="en-US" sz="950" dirty="0">
                <a:solidFill>
                  <a:srgbClr val="C91313"/>
                </a:solidFill>
                <a:latin typeface="DM Sans" pitchFamily="34" charset="0"/>
                <a:ea typeface="DM Sans" pitchFamily="34" charset="-122"/>
                <a:cs typeface="DM Sans" pitchFamily="34" charset="-120"/>
              </a:rPr>
              <a:t>DOMAIN OVERVIEW</a:t>
            </a:r>
            <a:endParaRPr lang="en-US" sz="950" dirty="0"/>
          </a:p>
        </p:txBody>
      </p:sp>
      <p:sp>
        <p:nvSpPr>
          <p:cNvPr id="5" name="Text 2"/>
          <p:cNvSpPr/>
          <p:nvPr/>
        </p:nvSpPr>
        <p:spPr>
          <a:xfrm>
            <a:off x="631908" y="743744"/>
            <a:ext cx="6355993" cy="503337"/>
          </a:xfrm>
          <a:prstGeom prst="rect">
            <a:avLst/>
          </a:prstGeom>
          <a:noFill/>
          <a:ln/>
        </p:spPr>
        <p:txBody>
          <a:bodyPr wrap="none" lIns="0" tIns="0" rIns="0" bIns="0" rtlCol="0" anchor="t"/>
          <a:lstStyle/>
          <a:p>
            <a:pPr marL="0" indent="0" algn="l">
              <a:lnSpc>
                <a:spcPct val="104000"/>
              </a:lnSpc>
              <a:buNone/>
            </a:pPr>
            <a:r>
              <a:rPr lang="en-US" sz="3150" dirty="0">
                <a:solidFill>
                  <a:srgbClr val="FAEBEB"/>
                </a:solidFill>
                <a:latin typeface="Dela Gothic One" pitchFamily="34" charset="0"/>
                <a:ea typeface="Dela Gothic One" pitchFamily="34" charset="-122"/>
                <a:cs typeface="Dela Gothic One" pitchFamily="34" charset="-120"/>
              </a:rPr>
              <a:t>The Research Domain</a:t>
            </a:r>
            <a:endParaRPr lang="en-US" sz="3150" dirty="0"/>
          </a:p>
        </p:txBody>
      </p:sp>
      <p:sp>
        <p:nvSpPr>
          <p:cNvPr id="6" name="Text 3"/>
          <p:cNvSpPr/>
          <p:nvPr/>
        </p:nvSpPr>
        <p:spPr>
          <a:xfrm>
            <a:off x="631908" y="1469430"/>
            <a:ext cx="6355993" cy="723305"/>
          </a:xfrm>
          <a:prstGeom prst="rect">
            <a:avLst/>
          </a:prstGeom>
          <a:noFill/>
          <a:ln/>
        </p:spPr>
        <p:txBody>
          <a:bodyPr wrap="square" lIns="0" tIns="0" rIns="0" bIns="0" rtlCol="0" anchor="t">
            <a:normAutofit/>
          </a:bodyPr>
          <a:lstStyle/>
          <a:p>
            <a:pPr marL="0" indent="0" algn="l">
              <a:lnSpc>
                <a:spcPct val="131000"/>
              </a:lnSpc>
              <a:buNone/>
            </a:pPr>
            <a:r>
              <a:rPr lang="en-US" sz="1200" dirty="0">
                <a:solidFill>
                  <a:srgbClr val="FFE5E5"/>
                </a:solidFill>
                <a:latin typeface="DM Sans" pitchFamily="34" charset="0"/>
                <a:ea typeface="DM Sans" pitchFamily="34" charset="-122"/>
                <a:cs typeface="DM Sans" pitchFamily="34" charset="-120"/>
              </a:rPr>
              <a:t>Research is the scientific investigation layer of CureVerseAI. It allows users to explore biological entities and relationships through structured workflows rather than isolated searches.</a:t>
            </a:r>
            <a:endParaRPr lang="en-US" sz="1200" dirty="0"/>
          </a:p>
        </p:txBody>
      </p:sp>
      <p:sp>
        <p:nvSpPr>
          <p:cNvPr id="7" name="Shape 4"/>
          <p:cNvSpPr/>
          <p:nvPr/>
        </p:nvSpPr>
        <p:spPr>
          <a:xfrm>
            <a:off x="631908" y="2359521"/>
            <a:ext cx="6355993" cy="900410"/>
          </a:xfrm>
          <a:prstGeom prst="roundRect">
            <a:avLst>
              <a:gd name="adj" fmla="val 7139"/>
            </a:avLst>
          </a:prstGeom>
          <a:solidFill>
            <a:srgbClr val="740B0B"/>
          </a:solidFill>
          <a:ln w="6350">
            <a:solidFill>
              <a:srgbClr val="8D2424"/>
            </a:solidFill>
            <a:prstDash val="solid"/>
          </a:ln>
        </p:spPr>
      </p:sp>
      <p:sp>
        <p:nvSpPr>
          <p:cNvPr id="8" name="Text 5"/>
          <p:cNvSpPr/>
          <p:nvPr/>
        </p:nvSpPr>
        <p:spPr>
          <a:xfrm>
            <a:off x="791250" y="2518866"/>
            <a:ext cx="6037310" cy="251718"/>
          </a:xfrm>
          <a:prstGeom prst="rect">
            <a:avLst/>
          </a:prstGeom>
          <a:noFill/>
          <a:ln/>
        </p:spPr>
        <p:txBody>
          <a:bodyPr wrap="none" lIns="0" tIns="0" rIns="0" bIns="0" rtlCol="0" anchor="t"/>
          <a:lstStyle/>
          <a:p>
            <a:pPr marL="0" indent="0" algn="l">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Biological Context</a:t>
            </a:r>
            <a:endParaRPr lang="en-US" sz="1550" dirty="0"/>
          </a:p>
        </p:txBody>
      </p:sp>
      <p:sp>
        <p:nvSpPr>
          <p:cNvPr id="9" name="Text 6"/>
          <p:cNvSpPr/>
          <p:nvPr/>
        </p:nvSpPr>
        <p:spPr>
          <a:xfrm>
            <a:off x="791250" y="2859484"/>
            <a:ext cx="6037310" cy="241102"/>
          </a:xfrm>
          <a:prstGeom prst="rect">
            <a:avLst/>
          </a:prstGeom>
          <a:noFill/>
          <a:ln/>
        </p:spPr>
        <p:txBody>
          <a:bodyPr wrap="none" lIns="0" tIns="0" rIns="0" bIns="0" rtlCol="0" anchor="t"/>
          <a:lstStyle/>
          <a:p>
            <a:pPr marL="0" indent="0" algn="l">
              <a:lnSpc>
                <a:spcPct val="131000"/>
              </a:lnSpc>
              <a:buNone/>
            </a:pPr>
            <a:r>
              <a:rPr lang="en-US" sz="1200" dirty="0">
                <a:solidFill>
                  <a:srgbClr val="FFE5E5"/>
                </a:solidFill>
                <a:latin typeface="DM Sans" pitchFamily="34" charset="0"/>
                <a:ea typeface="DM Sans" pitchFamily="34" charset="-122"/>
                <a:cs typeface="DM Sans" pitchFamily="34" charset="-120"/>
              </a:rPr>
              <a:t>Connects entities to their biological environment</a:t>
            </a:r>
            <a:endParaRPr lang="en-US" sz="1200" dirty="0"/>
          </a:p>
        </p:txBody>
      </p:sp>
      <p:sp>
        <p:nvSpPr>
          <p:cNvPr id="10" name="Shape 7"/>
          <p:cNvSpPr/>
          <p:nvPr/>
        </p:nvSpPr>
        <p:spPr>
          <a:xfrm>
            <a:off x="631908" y="3408164"/>
            <a:ext cx="6355993" cy="900410"/>
          </a:xfrm>
          <a:prstGeom prst="roundRect">
            <a:avLst>
              <a:gd name="adj" fmla="val 7139"/>
            </a:avLst>
          </a:prstGeom>
          <a:solidFill>
            <a:srgbClr val="740B0B"/>
          </a:solidFill>
          <a:ln w="6350">
            <a:solidFill>
              <a:srgbClr val="8D2424"/>
            </a:solidFill>
            <a:prstDash val="solid"/>
          </a:ln>
        </p:spPr>
      </p:sp>
      <p:sp>
        <p:nvSpPr>
          <p:cNvPr id="11" name="Text 8"/>
          <p:cNvSpPr/>
          <p:nvPr/>
        </p:nvSpPr>
        <p:spPr>
          <a:xfrm>
            <a:off x="791250" y="3567509"/>
            <a:ext cx="6037310" cy="251718"/>
          </a:xfrm>
          <a:prstGeom prst="rect">
            <a:avLst/>
          </a:prstGeom>
          <a:noFill/>
          <a:ln/>
        </p:spPr>
        <p:txBody>
          <a:bodyPr wrap="none" lIns="0" tIns="0" rIns="0" bIns="0" rtlCol="0" anchor="t"/>
          <a:lstStyle/>
          <a:p>
            <a:pPr marL="0" indent="0" algn="l">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Molecular Information</a:t>
            </a:r>
            <a:endParaRPr lang="en-US" sz="1550" dirty="0"/>
          </a:p>
        </p:txBody>
      </p:sp>
      <p:sp>
        <p:nvSpPr>
          <p:cNvPr id="12" name="Text 9"/>
          <p:cNvSpPr/>
          <p:nvPr/>
        </p:nvSpPr>
        <p:spPr>
          <a:xfrm>
            <a:off x="791250" y="3908127"/>
            <a:ext cx="6037310" cy="241102"/>
          </a:xfrm>
          <a:prstGeom prst="rect">
            <a:avLst/>
          </a:prstGeom>
          <a:noFill/>
          <a:ln/>
        </p:spPr>
        <p:txBody>
          <a:bodyPr wrap="none" lIns="0" tIns="0" rIns="0" bIns="0" rtlCol="0" anchor="t"/>
          <a:lstStyle/>
          <a:p>
            <a:pPr marL="0" indent="0" algn="l">
              <a:lnSpc>
                <a:spcPct val="131000"/>
              </a:lnSpc>
              <a:buNone/>
            </a:pPr>
            <a:r>
              <a:rPr lang="en-US" sz="1200" dirty="0">
                <a:solidFill>
                  <a:srgbClr val="FFE5E5"/>
                </a:solidFill>
                <a:latin typeface="DM Sans" pitchFamily="34" charset="0"/>
                <a:ea typeface="DM Sans" pitchFamily="34" charset="-122"/>
                <a:cs typeface="DM Sans" pitchFamily="34" charset="-120"/>
              </a:rPr>
              <a:t>Structured molecular data and representations</a:t>
            </a:r>
            <a:endParaRPr lang="en-US" sz="1200" dirty="0"/>
          </a:p>
        </p:txBody>
      </p:sp>
      <p:sp>
        <p:nvSpPr>
          <p:cNvPr id="13" name="Shape 10"/>
          <p:cNvSpPr/>
          <p:nvPr/>
        </p:nvSpPr>
        <p:spPr>
          <a:xfrm>
            <a:off x="631908" y="4456807"/>
            <a:ext cx="6355993" cy="900410"/>
          </a:xfrm>
          <a:prstGeom prst="roundRect">
            <a:avLst>
              <a:gd name="adj" fmla="val 7139"/>
            </a:avLst>
          </a:prstGeom>
          <a:solidFill>
            <a:srgbClr val="740B0B"/>
          </a:solidFill>
          <a:ln w="6350">
            <a:solidFill>
              <a:srgbClr val="8D2424"/>
            </a:solidFill>
            <a:prstDash val="solid"/>
          </a:ln>
        </p:spPr>
      </p:sp>
      <p:sp>
        <p:nvSpPr>
          <p:cNvPr id="14" name="Text 11"/>
          <p:cNvSpPr/>
          <p:nvPr/>
        </p:nvSpPr>
        <p:spPr>
          <a:xfrm>
            <a:off x="791250" y="4616152"/>
            <a:ext cx="6037310" cy="251718"/>
          </a:xfrm>
          <a:prstGeom prst="rect">
            <a:avLst/>
          </a:prstGeom>
          <a:noFill/>
          <a:ln/>
        </p:spPr>
        <p:txBody>
          <a:bodyPr wrap="none" lIns="0" tIns="0" rIns="0" bIns="0" rtlCol="0" anchor="t"/>
          <a:lstStyle/>
          <a:p>
            <a:pPr marL="0" indent="0" algn="l">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Pathways &amp; Variants</a:t>
            </a:r>
            <a:endParaRPr lang="en-US" sz="1550" dirty="0"/>
          </a:p>
        </p:txBody>
      </p:sp>
      <p:sp>
        <p:nvSpPr>
          <p:cNvPr id="15" name="Text 12"/>
          <p:cNvSpPr/>
          <p:nvPr/>
        </p:nvSpPr>
        <p:spPr>
          <a:xfrm>
            <a:off x="791250" y="4956770"/>
            <a:ext cx="6037310" cy="241102"/>
          </a:xfrm>
          <a:prstGeom prst="rect">
            <a:avLst/>
          </a:prstGeom>
          <a:noFill/>
          <a:ln/>
        </p:spPr>
        <p:txBody>
          <a:bodyPr wrap="none" lIns="0" tIns="0" rIns="0" bIns="0" rtlCol="0" anchor="t"/>
          <a:lstStyle/>
          <a:p>
            <a:pPr marL="0" indent="0" algn="l">
              <a:lnSpc>
                <a:spcPct val="131000"/>
              </a:lnSpc>
              <a:buNone/>
            </a:pPr>
            <a:r>
              <a:rPr lang="en-US" sz="1200" dirty="0">
                <a:solidFill>
                  <a:srgbClr val="FFE5E5"/>
                </a:solidFill>
                <a:latin typeface="DM Sans" pitchFamily="34" charset="0"/>
                <a:ea typeface="DM Sans" pitchFamily="34" charset="-122"/>
                <a:cs typeface="DM Sans" pitchFamily="34" charset="-120"/>
              </a:rPr>
              <a:t>System-level relationships and variant context</a:t>
            </a:r>
            <a:endParaRPr lang="en-US" sz="1200" dirty="0"/>
          </a:p>
        </p:txBody>
      </p:sp>
      <p:sp>
        <p:nvSpPr>
          <p:cNvPr id="16" name="Shape 13"/>
          <p:cNvSpPr/>
          <p:nvPr/>
        </p:nvSpPr>
        <p:spPr>
          <a:xfrm>
            <a:off x="631908" y="5505450"/>
            <a:ext cx="6355993" cy="900410"/>
          </a:xfrm>
          <a:prstGeom prst="roundRect">
            <a:avLst>
              <a:gd name="adj" fmla="val 7139"/>
            </a:avLst>
          </a:prstGeom>
          <a:solidFill>
            <a:srgbClr val="740B0B"/>
          </a:solidFill>
          <a:ln w="6350">
            <a:solidFill>
              <a:srgbClr val="8D2424"/>
            </a:solidFill>
            <a:prstDash val="solid"/>
          </a:ln>
        </p:spPr>
      </p:sp>
      <p:sp>
        <p:nvSpPr>
          <p:cNvPr id="17" name="Text 14"/>
          <p:cNvSpPr/>
          <p:nvPr/>
        </p:nvSpPr>
        <p:spPr>
          <a:xfrm>
            <a:off x="791250" y="5664795"/>
            <a:ext cx="6037310" cy="251718"/>
          </a:xfrm>
          <a:prstGeom prst="rect">
            <a:avLst/>
          </a:prstGeom>
          <a:noFill/>
          <a:ln/>
        </p:spPr>
        <p:txBody>
          <a:bodyPr wrap="none" lIns="0" tIns="0" rIns="0" bIns="0" rtlCol="0" anchor="t"/>
          <a:lstStyle/>
          <a:p>
            <a:pPr marL="0" indent="0" algn="l">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AI-Assisted Reasoning</a:t>
            </a:r>
            <a:endParaRPr lang="en-US" sz="1550" dirty="0"/>
          </a:p>
        </p:txBody>
      </p:sp>
      <p:sp>
        <p:nvSpPr>
          <p:cNvPr id="18" name="Text 15"/>
          <p:cNvSpPr/>
          <p:nvPr/>
        </p:nvSpPr>
        <p:spPr>
          <a:xfrm>
            <a:off x="791250" y="6005413"/>
            <a:ext cx="6037310" cy="241102"/>
          </a:xfrm>
          <a:prstGeom prst="rect">
            <a:avLst/>
          </a:prstGeom>
          <a:noFill/>
          <a:ln/>
        </p:spPr>
        <p:txBody>
          <a:bodyPr wrap="none" lIns="0" tIns="0" rIns="0" bIns="0" rtlCol="0" anchor="t"/>
          <a:lstStyle/>
          <a:p>
            <a:pPr marL="0" indent="0" algn="l">
              <a:lnSpc>
                <a:spcPct val="131000"/>
              </a:lnSpc>
              <a:buNone/>
            </a:pPr>
            <a:r>
              <a:rPr lang="en-US" sz="1200" dirty="0">
                <a:solidFill>
                  <a:srgbClr val="FFE5E5"/>
                </a:solidFill>
                <a:latin typeface="DM Sans" pitchFamily="34" charset="0"/>
                <a:ea typeface="DM Sans" pitchFamily="34" charset="-122"/>
                <a:cs typeface="DM Sans" pitchFamily="34" charset="-120"/>
              </a:rPr>
              <a:t>Protein intelligence and external evidence integration</a:t>
            </a:r>
            <a:endParaRPr lang="en-US" sz="1200" dirty="0"/>
          </a:p>
        </p:txBody>
      </p:sp>
    </p:spTree>
    <p:extLst>
      <p:ext uri="{BB962C8B-B14F-4D97-AF65-F5344CB8AC3E}">
        <p14:creationId xmlns:p14="http://schemas.microsoft.com/office/powerpoint/2010/main" val="2251011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31908" y="434380"/>
            <a:ext cx="843934" cy="134938"/>
          </a:xfrm>
          <a:prstGeom prst="roundRect">
            <a:avLst>
              <a:gd name="adj" fmla="val 22127"/>
            </a:avLst>
          </a:prstGeom>
          <a:solidFill>
            <a:srgbClr val="460707"/>
          </a:solidFill>
          <a:ln/>
        </p:spPr>
      </p:sp>
      <p:sp>
        <p:nvSpPr>
          <p:cNvPr id="3" name="Text 1"/>
          <p:cNvSpPr/>
          <p:nvPr/>
        </p:nvSpPr>
        <p:spPr>
          <a:xfrm>
            <a:off x="685188" y="460970"/>
            <a:ext cx="1346960" cy="81756"/>
          </a:xfrm>
          <a:prstGeom prst="rect">
            <a:avLst/>
          </a:prstGeom>
          <a:noFill/>
          <a:ln/>
        </p:spPr>
        <p:txBody>
          <a:bodyPr wrap="none" lIns="0" tIns="0" rIns="0" bIns="0" rtlCol="0" anchor="t"/>
          <a:lstStyle/>
          <a:p>
            <a:pPr marL="0" indent="0" algn="l">
              <a:lnSpc>
                <a:spcPct val="96000"/>
              </a:lnSpc>
              <a:buNone/>
            </a:pPr>
            <a:r>
              <a:rPr lang="en-US" sz="550" dirty="0">
                <a:solidFill>
                  <a:srgbClr val="FFE5E5"/>
                </a:solidFill>
                <a:latin typeface="DM Sans" pitchFamily="34" charset="0"/>
                <a:ea typeface="DM Sans" pitchFamily="34" charset="-122"/>
                <a:cs typeface="DM Sans" pitchFamily="34" charset="-120"/>
              </a:rPr>
              <a:t>RESEARCH USE CASE 1</a:t>
            </a:r>
            <a:endParaRPr lang="en-US" sz="550" dirty="0"/>
          </a:p>
        </p:txBody>
      </p:sp>
      <p:sp>
        <p:nvSpPr>
          <p:cNvPr id="4" name="Text 2"/>
          <p:cNvSpPr/>
          <p:nvPr/>
        </p:nvSpPr>
        <p:spPr>
          <a:xfrm>
            <a:off x="631908" y="589260"/>
            <a:ext cx="10927878" cy="292298"/>
          </a:xfrm>
          <a:prstGeom prst="rect">
            <a:avLst/>
          </a:prstGeom>
          <a:noFill/>
          <a:ln/>
        </p:spPr>
        <p:txBody>
          <a:bodyPr wrap="none" lIns="0" tIns="0" rIns="0" bIns="0" rtlCol="0" anchor="t"/>
          <a:lstStyle/>
          <a:p>
            <a:pPr marL="0" indent="0" algn="l">
              <a:lnSpc>
                <a:spcPct val="104000"/>
              </a:lnSpc>
              <a:buNone/>
            </a:pPr>
            <a:r>
              <a:rPr lang="en-US" sz="1800" dirty="0">
                <a:solidFill>
                  <a:srgbClr val="FAEBEB"/>
                </a:solidFill>
                <a:latin typeface="Dela Gothic One" pitchFamily="34" charset="0"/>
                <a:ea typeface="Dela Gothic One" pitchFamily="34" charset="-122"/>
                <a:cs typeface="Dela Gothic One" pitchFamily="34" charset="-120"/>
              </a:rPr>
              <a:t>Gene Explorer</a:t>
            </a:r>
            <a:endParaRPr lang="en-US" sz="1800" dirty="0"/>
          </a:p>
        </p:txBody>
      </p:sp>
      <p:pic>
        <p:nvPicPr>
          <p:cNvPr id="5" name="Image 0" descr="preencoded.png"/>
          <p:cNvPicPr>
            <a:picLocks noChangeAspect="1"/>
          </p:cNvPicPr>
          <p:nvPr/>
        </p:nvPicPr>
        <p:blipFill>
          <a:blip r:embed="rId3"/>
          <a:stretch>
            <a:fillRect/>
          </a:stretch>
        </p:blipFill>
        <p:spPr>
          <a:xfrm>
            <a:off x="631908" y="1012627"/>
            <a:ext cx="5355595" cy="5355729"/>
          </a:xfrm>
          <a:prstGeom prst="rect">
            <a:avLst/>
          </a:prstGeom>
        </p:spPr>
      </p:pic>
      <p:sp>
        <p:nvSpPr>
          <p:cNvPr id="6" name="Text 3"/>
          <p:cNvSpPr/>
          <p:nvPr/>
        </p:nvSpPr>
        <p:spPr>
          <a:xfrm>
            <a:off x="6210542" y="1001415"/>
            <a:ext cx="5355595" cy="333375"/>
          </a:xfrm>
          <a:prstGeom prst="rect">
            <a:avLst/>
          </a:prstGeom>
          <a:noFill/>
          <a:ln/>
        </p:spPr>
        <p:txBody>
          <a:bodyPr wrap="square" lIns="0" tIns="0" rIns="0" bIns="0" rtlCol="0" anchor="t">
            <a:normAutofit/>
          </a:bodyPr>
          <a:lstStyle/>
          <a:p>
            <a:pPr marL="0" indent="0" algn="l">
              <a:lnSpc>
                <a:spcPct val="104000"/>
              </a:lnSpc>
              <a:buNone/>
            </a:pPr>
            <a:endParaRPr lang="en-US" sz="650" dirty="0">
              <a:solidFill>
                <a:srgbClr val="FFE5E5"/>
              </a:solidFill>
              <a:latin typeface="DM Sans"/>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0542" y="1333439"/>
            <a:ext cx="4780501" cy="2479781"/>
          </a:xfrm>
          <a:prstGeom prst="rect">
            <a:avLst/>
          </a:prstGeom>
        </p:spPr>
      </p:pic>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0542" y="4466976"/>
            <a:ext cx="4780501" cy="1559631"/>
          </a:xfrm>
          <a:prstGeom prst="rect">
            <a:avLst/>
          </a:prstGeom>
        </p:spPr>
      </p:pic>
      <p:sp>
        <p:nvSpPr>
          <p:cNvPr id="18" name="TextBox 17">
            <a:extLst>
              <a:ext uri="{FF2B5EF4-FFF2-40B4-BE49-F238E27FC236}">
                <a16:creationId xmlns:a16="http://schemas.microsoft.com/office/drawing/2014/main" id="{B5E674AA-9474-DD78-8B0C-80D6ADEDD5CB}"/>
              </a:ext>
            </a:extLst>
          </p:cNvPr>
          <p:cNvSpPr txBox="1"/>
          <p:nvPr/>
        </p:nvSpPr>
        <p:spPr>
          <a:xfrm>
            <a:off x="6397924" y="1718094"/>
            <a:ext cx="444260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solidFill>
                  <a:schemeClr val="bg1"/>
                </a:solidFill>
              </a:rPr>
              <a:t>Gene Explorer</a:t>
            </a:r>
            <a:r>
              <a:rPr lang="en-US" dirty="0">
                <a:solidFill>
                  <a:schemeClr val="bg1"/>
                </a:solidFill>
              </a:rPr>
              <a:t> transforms a simple gene query into a connected biological investigation by combining gene identity, molecular context, associated proteins, pathways, disease relationships, and scientific evidence in one view.</a:t>
            </a:r>
            <a:endParaRPr lang="en-US" dirty="0">
              <a:solidFill>
                <a:schemeClr val="bg1"/>
              </a:solidFill>
              <a:ea typeface="Calibri"/>
              <a:cs typeface="Calibri"/>
            </a:endParaRPr>
          </a:p>
          <a:p>
            <a:endParaRPr lang="en-US"/>
          </a:p>
          <a:p>
            <a:pPr algn="ctr"/>
            <a:endParaRPr lang="en-US"/>
          </a:p>
        </p:txBody>
      </p:sp>
      <p:sp>
        <p:nvSpPr>
          <p:cNvPr id="19" name="TextBox 18">
            <a:extLst>
              <a:ext uri="{FF2B5EF4-FFF2-40B4-BE49-F238E27FC236}">
                <a16:creationId xmlns:a16="http://schemas.microsoft.com/office/drawing/2014/main" id="{DB249928-E2ED-A1C6-0401-9065E815ADD4}"/>
              </a:ext>
            </a:extLst>
          </p:cNvPr>
          <p:cNvSpPr txBox="1"/>
          <p:nvPr/>
        </p:nvSpPr>
        <p:spPr>
          <a:xfrm>
            <a:off x="6282906" y="4579189"/>
            <a:ext cx="4629510" cy="3816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dirty="0">
                <a:solidFill>
                  <a:schemeClr val="bg1"/>
                </a:solidFill>
              </a:rPr>
              <a:t>Instead of only answering </a:t>
            </a:r>
            <a:r>
              <a:rPr lang="en-US" sz="1600" i="1" dirty="0">
                <a:solidFill>
                  <a:schemeClr val="bg1"/>
                </a:solidFill>
              </a:rPr>
              <a:t>“What is this gene?”</a:t>
            </a:r>
            <a:r>
              <a:rPr lang="en-US" sz="1600" dirty="0">
                <a:solidFill>
                  <a:schemeClr val="bg1"/>
                </a:solidFill>
              </a:rPr>
              <a:t>, </a:t>
            </a:r>
            <a:r>
              <a:rPr lang="en-US" sz="1600" dirty="0" err="1">
                <a:solidFill>
                  <a:schemeClr val="bg1"/>
                </a:solidFill>
              </a:rPr>
              <a:t>CureVerseAI</a:t>
            </a:r>
            <a:r>
              <a:rPr lang="en-US" sz="1600" dirty="0">
                <a:solidFill>
                  <a:schemeClr val="bg1"/>
                </a:solidFill>
              </a:rPr>
              <a:t> helps users understand </a:t>
            </a:r>
            <a:r>
              <a:rPr lang="en-US" sz="1600" i="1" dirty="0">
                <a:solidFill>
                  <a:schemeClr val="bg1"/>
                </a:solidFill>
              </a:rPr>
              <a:t>“How does this gene function within the larger biological system?”</a:t>
            </a:r>
            <a:r>
              <a:rPr lang="en-US" sz="1600" dirty="0">
                <a:solidFill>
                  <a:schemeClr val="bg1"/>
                </a:solidFill>
              </a:rPr>
              <a:t>—connecting biological data and evidence into a structured, AI-assisted research insight.</a:t>
            </a:r>
            <a:endParaRPr lang="en-US" sz="1600">
              <a:solidFill>
                <a:schemeClr val="bg1"/>
              </a:solidFill>
              <a:ea typeface="Calibri"/>
              <a:cs typeface="Calibri"/>
            </a:endParaRPr>
          </a:p>
          <a:p>
            <a:pPr algn="just"/>
            <a:endParaRPr lang="en-US" dirty="0">
              <a:solidFill>
                <a:schemeClr val="bg1"/>
              </a:solidFill>
              <a:ea typeface="Calibri"/>
              <a:cs typeface="Calibri"/>
            </a:endParaRPr>
          </a:p>
          <a:p>
            <a:pPr algn="just"/>
            <a:endParaRPr lang="en-US" dirty="0">
              <a:solidFill>
                <a:schemeClr val="bg1"/>
              </a:solidFill>
              <a:ea typeface="Calibri"/>
              <a:cs typeface="Calibri"/>
            </a:endParaRPr>
          </a:p>
          <a:p>
            <a:pPr algn="just"/>
            <a:endParaRPr lang="en-US" dirty="0">
              <a:solidFill>
                <a:schemeClr val="bg1"/>
              </a:solidFill>
              <a:ea typeface="Calibri"/>
              <a:cs typeface="Calibri"/>
            </a:endParaRPr>
          </a:p>
          <a:p>
            <a:pPr algn="just"/>
            <a:endParaRPr lang="en-US" dirty="0">
              <a:solidFill>
                <a:schemeClr val="bg1"/>
              </a:solidFill>
              <a:ea typeface="Calibri"/>
              <a:cs typeface="Calibri"/>
            </a:endParaRPr>
          </a:p>
          <a:p>
            <a:pPr algn="just"/>
            <a:endParaRPr lang="en-US" dirty="0">
              <a:solidFill>
                <a:schemeClr val="bg1"/>
              </a:solidFill>
              <a:ea typeface="Calibri"/>
              <a:cs typeface="Calibri"/>
            </a:endParaRPr>
          </a:p>
          <a:p>
            <a:pPr algn="just"/>
            <a:endParaRPr lang="en-US" dirty="0">
              <a:solidFill>
                <a:schemeClr val="bg1"/>
              </a:solidFill>
              <a:ea typeface="Calibri"/>
              <a:cs typeface="Calibri"/>
            </a:endParaRPr>
          </a:p>
          <a:p>
            <a:pPr algn="just"/>
            <a:endParaRPr lang="en-US" dirty="0">
              <a:solidFill>
                <a:schemeClr val="bg1"/>
              </a:solidFill>
              <a:ea typeface="Calibri"/>
              <a:cs typeface="Calibri"/>
            </a:endParaRPr>
          </a:p>
          <a:p>
            <a:pPr algn="just"/>
            <a:endParaRPr lang="en-US" dirty="0">
              <a:solidFill>
                <a:schemeClr val="bg1"/>
              </a:solidFill>
              <a:ea typeface="Calibri"/>
              <a:cs typeface="Calibri"/>
            </a:endParaRPr>
          </a:p>
          <a:p>
            <a:pPr algn="just"/>
            <a:endParaRPr lang="en-US" dirty="0">
              <a:solidFill>
                <a:schemeClr val="bg1"/>
              </a:solidFill>
              <a:ea typeface="Calibri"/>
              <a:cs typeface="Calibri"/>
            </a:endParaRPr>
          </a:p>
        </p:txBody>
      </p:sp>
      <p:sp>
        <p:nvSpPr>
          <p:cNvPr id="9" name="Rectangle: Rounded Corners 8">
            <a:extLst>
              <a:ext uri="{FF2B5EF4-FFF2-40B4-BE49-F238E27FC236}">
                <a16:creationId xmlns:a16="http://schemas.microsoft.com/office/drawing/2014/main" id="{DD234A18-B9BE-A6E8-AC70-2E8D93CB8CB4}"/>
              </a:ext>
            </a:extLst>
          </p:cNvPr>
          <p:cNvSpPr/>
          <p:nvPr/>
        </p:nvSpPr>
        <p:spPr>
          <a:xfrm>
            <a:off x="10473618" y="6553200"/>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581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31908" y="1143397"/>
            <a:ext cx="1533784" cy="240010"/>
          </a:xfrm>
          <a:prstGeom prst="roundRect">
            <a:avLst>
              <a:gd name="adj" fmla="val 22116"/>
            </a:avLst>
          </a:prstGeom>
          <a:solidFill>
            <a:srgbClr val="460707"/>
          </a:solidFill>
          <a:ln/>
        </p:spPr>
      </p:sp>
      <p:sp>
        <p:nvSpPr>
          <p:cNvPr id="3" name="Text 1"/>
          <p:cNvSpPr/>
          <p:nvPr/>
        </p:nvSpPr>
        <p:spPr>
          <a:xfrm>
            <a:off x="726660" y="1190724"/>
            <a:ext cx="1953866" cy="145355"/>
          </a:xfrm>
          <a:prstGeom prst="rect">
            <a:avLst/>
          </a:prstGeom>
          <a:noFill/>
          <a:ln/>
        </p:spPr>
        <p:txBody>
          <a:bodyPr wrap="none" lIns="0" tIns="0" rIns="0" bIns="0" rtlCol="0" anchor="t"/>
          <a:lstStyle/>
          <a:p>
            <a:pPr marL="0" indent="0" algn="l">
              <a:lnSpc>
                <a:spcPct val="96000"/>
              </a:lnSpc>
              <a:buNone/>
            </a:pPr>
            <a:r>
              <a:rPr lang="en-US" sz="950" dirty="0">
                <a:solidFill>
                  <a:srgbClr val="FFE5E5"/>
                </a:solidFill>
                <a:latin typeface="DM Sans" pitchFamily="34" charset="0"/>
                <a:ea typeface="DM Sans" pitchFamily="34" charset="-122"/>
                <a:cs typeface="DM Sans" pitchFamily="34" charset="-120"/>
              </a:rPr>
              <a:t>RESEARCH USE CASE 2</a:t>
            </a:r>
            <a:endParaRPr lang="en-US" sz="950" dirty="0"/>
          </a:p>
        </p:txBody>
      </p:sp>
      <p:sp>
        <p:nvSpPr>
          <p:cNvPr id="4" name="Text 2"/>
          <p:cNvSpPr/>
          <p:nvPr/>
        </p:nvSpPr>
        <p:spPr>
          <a:xfrm>
            <a:off x="631908" y="1446510"/>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Protein Explorer</a:t>
            </a:r>
            <a:endParaRPr lang="en-US" sz="3250" dirty="0"/>
          </a:p>
        </p:txBody>
      </p:sp>
      <p:sp>
        <p:nvSpPr>
          <p:cNvPr id="5" name="Text 3"/>
          <p:cNvSpPr/>
          <p:nvPr/>
        </p:nvSpPr>
        <p:spPr>
          <a:xfrm>
            <a:off x="631908" y="2203053"/>
            <a:ext cx="10927878"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Protein Explorer focuses on protein-level intelligence. It combines protein identity and sequence information with computational representations and biological context.</a:t>
            </a:r>
            <a:endParaRPr lang="en-US" sz="1200" dirty="0"/>
          </a:p>
        </p:txBody>
      </p:sp>
      <p:pic>
        <p:nvPicPr>
          <p:cNvPr id="6" name="Image 0" descr="preencoded.png"/>
          <p:cNvPicPr>
            <a:picLocks noChangeAspect="1"/>
          </p:cNvPicPr>
          <p:nvPr/>
        </p:nvPicPr>
        <p:blipFill>
          <a:blip r:embed="rId3"/>
          <a:stretch>
            <a:fillRect/>
          </a:stretch>
        </p:blipFill>
        <p:spPr>
          <a:xfrm>
            <a:off x="631908" y="2886174"/>
            <a:ext cx="2036315" cy="1258491"/>
          </a:xfrm>
          <a:prstGeom prst="rect">
            <a:avLst/>
          </a:prstGeom>
        </p:spPr>
      </p:pic>
      <p:sp>
        <p:nvSpPr>
          <p:cNvPr id="7" name="Text 4"/>
          <p:cNvSpPr/>
          <p:nvPr/>
        </p:nvSpPr>
        <p:spPr>
          <a:xfrm>
            <a:off x="631908" y="4342110"/>
            <a:ext cx="3510966"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Protein Identity &amp; Sequence</a:t>
            </a:r>
            <a:endParaRPr lang="en-US" sz="1600" dirty="0"/>
          </a:p>
        </p:txBody>
      </p:sp>
      <p:sp>
        <p:nvSpPr>
          <p:cNvPr id="8" name="Text 5"/>
          <p:cNvSpPr/>
          <p:nvPr/>
        </p:nvSpPr>
        <p:spPr>
          <a:xfrm>
            <a:off x="631908" y="4696619"/>
            <a:ext cx="3510966"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Combines protein identity and sequence information with computational representations</a:t>
            </a:r>
            <a:endParaRPr lang="en-US" sz="1200" dirty="0"/>
          </a:p>
        </p:txBody>
      </p:sp>
      <p:pic>
        <p:nvPicPr>
          <p:cNvPr id="9" name="Image 1" descr="preencoded.png"/>
          <p:cNvPicPr>
            <a:picLocks noChangeAspect="1"/>
          </p:cNvPicPr>
          <p:nvPr/>
        </p:nvPicPr>
        <p:blipFill>
          <a:blip r:embed="rId4"/>
          <a:stretch>
            <a:fillRect/>
          </a:stretch>
        </p:blipFill>
        <p:spPr>
          <a:xfrm>
            <a:off x="4340315" y="2886174"/>
            <a:ext cx="2036315" cy="1258491"/>
          </a:xfrm>
          <a:prstGeom prst="rect">
            <a:avLst/>
          </a:prstGeom>
        </p:spPr>
      </p:pic>
      <p:sp>
        <p:nvSpPr>
          <p:cNvPr id="10" name="Text 6"/>
          <p:cNvSpPr/>
          <p:nvPr/>
        </p:nvSpPr>
        <p:spPr>
          <a:xfrm>
            <a:off x="4340315" y="4342110"/>
            <a:ext cx="3510966"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Biological Context</a:t>
            </a:r>
            <a:endParaRPr lang="en-US" sz="1600" dirty="0"/>
          </a:p>
        </p:txBody>
      </p:sp>
      <p:sp>
        <p:nvSpPr>
          <p:cNvPr id="11" name="Text 7"/>
          <p:cNvSpPr/>
          <p:nvPr/>
        </p:nvSpPr>
        <p:spPr>
          <a:xfrm>
            <a:off x="4340315" y="4696619"/>
            <a:ext cx="3510966"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Integrates biological context alongside molecular data</a:t>
            </a:r>
            <a:endParaRPr lang="en-US" sz="1200" dirty="0"/>
          </a:p>
        </p:txBody>
      </p:sp>
      <p:pic>
        <p:nvPicPr>
          <p:cNvPr id="12" name="Image 2" descr="preencoded.png"/>
          <p:cNvPicPr>
            <a:picLocks noChangeAspect="1"/>
          </p:cNvPicPr>
          <p:nvPr/>
        </p:nvPicPr>
        <p:blipFill>
          <a:blip r:embed="rId5"/>
          <a:stretch>
            <a:fillRect/>
          </a:stretch>
        </p:blipFill>
        <p:spPr>
          <a:xfrm>
            <a:off x="8048721" y="2886174"/>
            <a:ext cx="2036414" cy="1258590"/>
          </a:xfrm>
          <a:prstGeom prst="rect">
            <a:avLst/>
          </a:prstGeom>
        </p:spPr>
      </p:pic>
      <p:sp>
        <p:nvSpPr>
          <p:cNvPr id="13" name="Text 8"/>
          <p:cNvSpPr/>
          <p:nvPr/>
        </p:nvSpPr>
        <p:spPr>
          <a:xfrm>
            <a:off x="8048721" y="4342209"/>
            <a:ext cx="3511065" cy="519509"/>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Molecular Role &amp; Relationships</a:t>
            </a:r>
            <a:endParaRPr lang="en-US" sz="1600" dirty="0"/>
          </a:p>
        </p:txBody>
      </p:sp>
      <p:sp>
        <p:nvSpPr>
          <p:cNvPr id="14" name="Text 9"/>
          <p:cNvSpPr/>
          <p:nvPr/>
        </p:nvSpPr>
        <p:spPr>
          <a:xfrm>
            <a:off x="8048721" y="4956473"/>
            <a:ext cx="3511065"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Helps move from a protein record toward a more meaningful understanding of its molecular role and relationships</a:t>
            </a:r>
            <a:endParaRPr lang="en-US" sz="1200" dirty="0"/>
          </a:p>
        </p:txBody>
      </p:sp>
      <p:sp>
        <p:nvSpPr>
          <p:cNvPr id="16" name="Rectangle: Rounded Corners 15">
            <a:extLst>
              <a:ext uri="{FF2B5EF4-FFF2-40B4-BE49-F238E27FC236}">
                <a16:creationId xmlns:a16="http://schemas.microsoft.com/office/drawing/2014/main" id="{6AC8F575-F58D-B9F4-C716-C93E2BB4D27D}"/>
              </a:ext>
            </a:extLst>
          </p:cNvPr>
          <p:cNvSpPr/>
          <p:nvPr/>
        </p:nvSpPr>
        <p:spPr>
          <a:xfrm>
            <a:off x="10473618" y="6538823"/>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6766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Shape 0"/>
          <p:cNvSpPr/>
          <p:nvPr/>
        </p:nvSpPr>
        <p:spPr>
          <a:xfrm>
            <a:off x="631908" y="1119187"/>
            <a:ext cx="1537654" cy="240010"/>
          </a:xfrm>
          <a:prstGeom prst="roundRect">
            <a:avLst>
              <a:gd name="adj" fmla="val 22116"/>
            </a:avLst>
          </a:prstGeom>
          <a:solidFill>
            <a:srgbClr val="460707"/>
          </a:solidFill>
          <a:ln/>
        </p:spPr>
      </p:sp>
      <p:sp>
        <p:nvSpPr>
          <p:cNvPr id="4" name="Text 1"/>
          <p:cNvSpPr/>
          <p:nvPr/>
        </p:nvSpPr>
        <p:spPr>
          <a:xfrm>
            <a:off x="726660" y="1166515"/>
            <a:ext cx="1957735" cy="145355"/>
          </a:xfrm>
          <a:prstGeom prst="rect">
            <a:avLst/>
          </a:prstGeom>
          <a:noFill/>
          <a:ln/>
        </p:spPr>
        <p:txBody>
          <a:bodyPr wrap="none" lIns="0" tIns="0" rIns="0" bIns="0" rtlCol="0" anchor="t"/>
          <a:lstStyle/>
          <a:p>
            <a:pPr marL="0" indent="0" algn="l">
              <a:lnSpc>
                <a:spcPct val="96000"/>
              </a:lnSpc>
              <a:buNone/>
            </a:pPr>
            <a:r>
              <a:rPr lang="en-US" sz="950" dirty="0">
                <a:solidFill>
                  <a:srgbClr val="FFE5E5"/>
                </a:solidFill>
                <a:latin typeface="DM Sans" pitchFamily="34" charset="0"/>
                <a:ea typeface="DM Sans" pitchFamily="34" charset="-122"/>
                <a:cs typeface="DM Sans" pitchFamily="34" charset="-120"/>
              </a:rPr>
              <a:t>RESEARCH USE CASE 4</a:t>
            </a:r>
            <a:endParaRPr lang="en-US" sz="950" dirty="0"/>
          </a:p>
        </p:txBody>
      </p:sp>
      <p:sp>
        <p:nvSpPr>
          <p:cNvPr id="5" name="Text 2"/>
          <p:cNvSpPr/>
          <p:nvPr/>
        </p:nvSpPr>
        <p:spPr>
          <a:xfrm>
            <a:off x="631908" y="1422301"/>
            <a:ext cx="6355993"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Pathway Explorer</a:t>
            </a:r>
            <a:endParaRPr lang="en-US" sz="3250" dirty="0"/>
          </a:p>
        </p:txBody>
      </p:sp>
      <p:sp>
        <p:nvSpPr>
          <p:cNvPr id="6" name="Text 3"/>
          <p:cNvSpPr/>
          <p:nvPr/>
        </p:nvSpPr>
        <p:spPr>
          <a:xfrm>
            <a:off x="631908" y="2178844"/>
            <a:ext cx="6355993"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Pathway Explorer focuses on biological systems and relationships. Instead of viewing genes and proteins independently, the workflow helps users understand how biological entities participate in pathways and signaling processes.</a:t>
            </a:r>
            <a:endParaRPr lang="en-US" sz="1200" dirty="0"/>
          </a:p>
        </p:txBody>
      </p:sp>
      <p:sp>
        <p:nvSpPr>
          <p:cNvPr id="7" name="Shape 4"/>
          <p:cNvSpPr/>
          <p:nvPr/>
        </p:nvSpPr>
        <p:spPr>
          <a:xfrm>
            <a:off x="631908" y="3114675"/>
            <a:ext cx="6355993" cy="2624138"/>
          </a:xfrm>
          <a:prstGeom prst="roundRect">
            <a:avLst>
              <a:gd name="adj" fmla="val 2528"/>
            </a:avLst>
          </a:prstGeom>
          <a:solidFill>
            <a:srgbClr val="740B0B"/>
          </a:solidFill>
          <a:ln w="6350">
            <a:solidFill>
              <a:srgbClr val="8D2424"/>
            </a:solidFill>
            <a:prstDash val="solid"/>
          </a:ln>
        </p:spPr>
      </p:sp>
      <p:sp>
        <p:nvSpPr>
          <p:cNvPr id="8" name="Shape 5"/>
          <p:cNvSpPr/>
          <p:nvPr/>
        </p:nvSpPr>
        <p:spPr>
          <a:xfrm>
            <a:off x="638258" y="3121025"/>
            <a:ext cx="3171646" cy="1688306"/>
          </a:xfrm>
          <a:custGeom>
            <a:avLst/>
            <a:gdLst/>
            <a:ahLst/>
            <a:cxnLst/>
            <a:rect l="l" t="t" r="r" b="b"/>
            <a:pathLst>
              <a:path w="3171646" h="1688306">
                <a:moveTo>
                  <a:pt x="55293" y="0"/>
                </a:moveTo>
                <a:lnTo>
                  <a:pt x="3171646" y="0"/>
                </a:lnTo>
                <a:lnTo>
                  <a:pt x="3171646" y="1688306"/>
                </a:lnTo>
                <a:lnTo>
                  <a:pt x="0" y="1688306"/>
                </a:lnTo>
                <a:lnTo>
                  <a:pt x="0" y="55294"/>
                </a:lnTo>
                <a:arcTo wR="55293" hR="55294" stAng="10800000" swAng="5400000"/>
                <a:close/>
              </a:path>
            </a:pathLst>
          </a:custGeom>
          <a:solidFill>
            <a:srgbClr val="740B0B"/>
          </a:solidFill>
          <a:ln/>
        </p:spPr>
      </p:sp>
      <p:sp>
        <p:nvSpPr>
          <p:cNvPr id="9" name="Text 6"/>
          <p:cNvSpPr/>
          <p:nvPr/>
        </p:nvSpPr>
        <p:spPr>
          <a:xfrm>
            <a:off x="796211" y="3278981"/>
            <a:ext cx="2855742" cy="519509"/>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System-Level Perspective</a:t>
            </a:r>
            <a:endParaRPr lang="en-US" sz="1600" dirty="0"/>
          </a:p>
        </p:txBody>
      </p:sp>
      <p:sp>
        <p:nvSpPr>
          <p:cNvPr id="10" name="Text 7"/>
          <p:cNvSpPr/>
          <p:nvPr/>
        </p:nvSpPr>
        <p:spPr>
          <a:xfrm>
            <a:off x="796211" y="3893245"/>
            <a:ext cx="2855742"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Understand how biological entities participate in pathways and signaling processes</a:t>
            </a:r>
            <a:endParaRPr lang="en-US" sz="1200" dirty="0"/>
          </a:p>
        </p:txBody>
      </p:sp>
      <p:sp>
        <p:nvSpPr>
          <p:cNvPr id="11" name="Shape 8"/>
          <p:cNvSpPr/>
          <p:nvPr/>
        </p:nvSpPr>
        <p:spPr>
          <a:xfrm>
            <a:off x="3809905" y="3121025"/>
            <a:ext cx="3171646" cy="1688306"/>
          </a:xfrm>
          <a:custGeom>
            <a:avLst/>
            <a:gdLst/>
            <a:ahLst/>
            <a:cxnLst/>
            <a:rect l="l" t="t" r="r" b="b"/>
            <a:pathLst>
              <a:path w="3171646" h="1688306">
                <a:moveTo>
                  <a:pt x="0" y="0"/>
                </a:moveTo>
                <a:lnTo>
                  <a:pt x="3116354" y="0"/>
                </a:lnTo>
                <a:arcTo wR="55293" hR="55294" stAng="16200000" swAng="5400000"/>
                <a:lnTo>
                  <a:pt x="3171646" y="1688306"/>
                </a:lnTo>
                <a:lnTo>
                  <a:pt x="0" y="1688306"/>
                </a:lnTo>
                <a:lnTo>
                  <a:pt x="0" y="0"/>
                </a:lnTo>
                <a:close/>
              </a:path>
            </a:pathLst>
          </a:custGeom>
          <a:solidFill>
            <a:srgbClr val="740B0B"/>
          </a:solidFill>
          <a:ln/>
        </p:spPr>
      </p:sp>
      <p:sp>
        <p:nvSpPr>
          <p:cNvPr id="12" name="Shape 9"/>
          <p:cNvSpPr/>
          <p:nvPr/>
        </p:nvSpPr>
        <p:spPr>
          <a:xfrm>
            <a:off x="3809905" y="3121025"/>
            <a:ext cx="19050" cy="1688306"/>
          </a:xfrm>
          <a:prstGeom prst="roundRect">
            <a:avLst>
              <a:gd name="adj" fmla="val 49999"/>
            </a:avLst>
          </a:prstGeom>
          <a:solidFill>
            <a:srgbClr val="8D2424"/>
          </a:solidFill>
          <a:ln/>
        </p:spPr>
      </p:sp>
      <p:sp>
        <p:nvSpPr>
          <p:cNvPr id="13" name="Text 10"/>
          <p:cNvSpPr/>
          <p:nvPr/>
        </p:nvSpPr>
        <p:spPr>
          <a:xfrm>
            <a:off x="3967857" y="3278981"/>
            <a:ext cx="2855742" cy="519509"/>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Disease Research Value</a:t>
            </a:r>
            <a:endParaRPr lang="en-US" sz="1600" dirty="0"/>
          </a:p>
        </p:txBody>
      </p:sp>
      <p:sp>
        <p:nvSpPr>
          <p:cNvPr id="14" name="Text 11"/>
          <p:cNvSpPr/>
          <p:nvPr/>
        </p:nvSpPr>
        <p:spPr>
          <a:xfrm>
            <a:off x="3967857" y="3893245"/>
            <a:ext cx="2855742"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Creates a system-level perspective valuable for disease research</a:t>
            </a:r>
            <a:endParaRPr lang="en-US" sz="1200" dirty="0"/>
          </a:p>
        </p:txBody>
      </p:sp>
      <p:sp>
        <p:nvSpPr>
          <p:cNvPr id="15" name="Shape 12"/>
          <p:cNvSpPr/>
          <p:nvPr/>
        </p:nvSpPr>
        <p:spPr>
          <a:xfrm>
            <a:off x="638258" y="4809331"/>
            <a:ext cx="6343293" cy="923131"/>
          </a:xfrm>
          <a:custGeom>
            <a:avLst/>
            <a:gdLst/>
            <a:ahLst/>
            <a:cxnLst/>
            <a:rect l="l" t="t" r="r" b="b"/>
            <a:pathLst>
              <a:path w="6343293" h="923131">
                <a:moveTo>
                  <a:pt x="0" y="0"/>
                </a:moveTo>
                <a:lnTo>
                  <a:pt x="6343293" y="0"/>
                </a:lnTo>
                <a:lnTo>
                  <a:pt x="6343293" y="867837"/>
                </a:lnTo>
                <a:arcTo wR="55293" hR="55294" stAng="0" swAng="5400000"/>
                <a:lnTo>
                  <a:pt x="55293" y="923131"/>
                </a:lnTo>
                <a:arcTo wR="55293" hR="55294" stAng="5400000" swAng="5400000"/>
                <a:lnTo>
                  <a:pt x="0" y="0"/>
                </a:lnTo>
                <a:close/>
              </a:path>
            </a:pathLst>
          </a:custGeom>
          <a:solidFill>
            <a:srgbClr val="740B0B"/>
          </a:solidFill>
          <a:ln/>
        </p:spPr>
      </p:sp>
      <p:sp>
        <p:nvSpPr>
          <p:cNvPr id="16" name="Shape 13"/>
          <p:cNvSpPr/>
          <p:nvPr/>
        </p:nvSpPr>
        <p:spPr>
          <a:xfrm>
            <a:off x="638258" y="4809331"/>
            <a:ext cx="6343293" cy="19050"/>
          </a:xfrm>
          <a:prstGeom prst="roundRect">
            <a:avLst>
              <a:gd name="adj" fmla="val 49999"/>
            </a:avLst>
          </a:prstGeom>
          <a:solidFill>
            <a:srgbClr val="8D2424"/>
          </a:solidFill>
          <a:ln/>
        </p:spPr>
      </p:sp>
      <p:sp>
        <p:nvSpPr>
          <p:cNvPr id="17" name="Text 14"/>
          <p:cNvSpPr/>
          <p:nvPr/>
        </p:nvSpPr>
        <p:spPr>
          <a:xfrm>
            <a:off x="796211" y="4967288"/>
            <a:ext cx="6027388"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Therapeutic Discovery</a:t>
            </a:r>
            <a:endParaRPr lang="en-US" sz="1600" dirty="0"/>
          </a:p>
        </p:txBody>
      </p:sp>
      <p:sp>
        <p:nvSpPr>
          <p:cNvPr id="18" name="Text 15"/>
          <p:cNvSpPr/>
          <p:nvPr/>
        </p:nvSpPr>
        <p:spPr>
          <a:xfrm>
            <a:off x="796211" y="5321796"/>
            <a:ext cx="6027388"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Supports therapeutic discovery through pathway-level understanding</a:t>
            </a:r>
            <a:endParaRPr lang="en-US" sz="1200" dirty="0"/>
          </a:p>
        </p:txBody>
      </p:sp>
    </p:spTree>
    <p:extLst>
      <p:ext uri="{BB962C8B-B14F-4D97-AF65-F5344CB8AC3E}">
        <p14:creationId xmlns:p14="http://schemas.microsoft.com/office/powerpoint/2010/main" val="3571464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31908" y="1200051"/>
            <a:ext cx="1538051" cy="240010"/>
          </a:xfrm>
          <a:prstGeom prst="roundRect">
            <a:avLst>
              <a:gd name="adj" fmla="val 22116"/>
            </a:avLst>
          </a:prstGeom>
          <a:solidFill>
            <a:srgbClr val="460707"/>
          </a:solidFill>
          <a:ln/>
        </p:spPr>
      </p:sp>
      <p:sp>
        <p:nvSpPr>
          <p:cNvPr id="3" name="Text 1"/>
          <p:cNvSpPr/>
          <p:nvPr/>
        </p:nvSpPr>
        <p:spPr>
          <a:xfrm>
            <a:off x="726660" y="1247378"/>
            <a:ext cx="1958132" cy="145355"/>
          </a:xfrm>
          <a:prstGeom prst="rect">
            <a:avLst/>
          </a:prstGeom>
          <a:noFill/>
          <a:ln/>
        </p:spPr>
        <p:txBody>
          <a:bodyPr wrap="none" lIns="0" tIns="0" rIns="0" bIns="0" rtlCol="0" anchor="t"/>
          <a:lstStyle/>
          <a:p>
            <a:pPr marL="0" indent="0" algn="l">
              <a:lnSpc>
                <a:spcPct val="96000"/>
              </a:lnSpc>
              <a:buNone/>
            </a:pPr>
            <a:r>
              <a:rPr lang="en-US" sz="950" dirty="0">
                <a:solidFill>
                  <a:srgbClr val="FFE5E5"/>
                </a:solidFill>
                <a:latin typeface="DM Sans" pitchFamily="34" charset="0"/>
                <a:ea typeface="DM Sans" pitchFamily="34" charset="-122"/>
                <a:cs typeface="DM Sans" pitchFamily="34" charset="-120"/>
              </a:rPr>
              <a:t>RESEARCH USE CASE 5</a:t>
            </a:r>
            <a:endParaRPr lang="en-US" sz="950" dirty="0"/>
          </a:p>
        </p:txBody>
      </p:sp>
      <p:sp>
        <p:nvSpPr>
          <p:cNvPr id="4" name="Text 2"/>
          <p:cNvSpPr/>
          <p:nvPr/>
        </p:nvSpPr>
        <p:spPr>
          <a:xfrm>
            <a:off x="631908" y="1503164"/>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Evidence Research</a:t>
            </a:r>
            <a:endParaRPr lang="en-US" sz="3250" dirty="0"/>
          </a:p>
        </p:txBody>
      </p:sp>
      <p:sp>
        <p:nvSpPr>
          <p:cNvPr id="5" name="Text 3"/>
          <p:cNvSpPr/>
          <p:nvPr/>
        </p:nvSpPr>
        <p:spPr>
          <a:xfrm>
            <a:off x="631908" y="2259707"/>
            <a:ext cx="10927878"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Evidence Research combines external scientific evidence with biological context and AI-assisted reasoning. CureVerseAI works with scientific resources to organize supporting evidence and provenance — the result is intended to be evidence-aware rather than unsupported generated text.</a:t>
            </a:r>
            <a:endParaRPr lang="en-US" sz="12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2942828"/>
            <a:ext cx="394881" cy="394891"/>
          </a:xfrm>
          <a:prstGeom prst="rect">
            <a:avLst/>
          </a:prstGeom>
        </p:spPr>
      </p:pic>
      <p:sp>
        <p:nvSpPr>
          <p:cNvPr id="7" name="Text 4"/>
          <p:cNvSpPr/>
          <p:nvPr/>
        </p:nvSpPr>
        <p:spPr>
          <a:xfrm>
            <a:off x="631908" y="3535164"/>
            <a:ext cx="536521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Open Targets</a:t>
            </a:r>
            <a:endParaRPr lang="en-US" sz="1600" dirty="0"/>
          </a:p>
        </p:txBody>
      </p:sp>
      <p:sp>
        <p:nvSpPr>
          <p:cNvPr id="8" name="Text 5"/>
          <p:cNvSpPr/>
          <p:nvPr/>
        </p:nvSpPr>
        <p:spPr>
          <a:xfrm>
            <a:off x="631908" y="3889673"/>
            <a:ext cx="5365219"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Target-disease association evidence</a:t>
            </a:r>
            <a:endParaRPr lang="en-US" sz="12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4568" y="2942828"/>
            <a:ext cx="394881" cy="394891"/>
          </a:xfrm>
          <a:prstGeom prst="rect">
            <a:avLst/>
          </a:prstGeom>
        </p:spPr>
      </p:pic>
      <p:sp>
        <p:nvSpPr>
          <p:cNvPr id="10" name="Text 6"/>
          <p:cNvSpPr/>
          <p:nvPr/>
        </p:nvSpPr>
        <p:spPr>
          <a:xfrm>
            <a:off x="6194568" y="3535164"/>
            <a:ext cx="536521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ChEMBL</a:t>
            </a:r>
            <a:endParaRPr lang="en-US" sz="1600" dirty="0"/>
          </a:p>
        </p:txBody>
      </p:sp>
      <p:sp>
        <p:nvSpPr>
          <p:cNvPr id="11" name="Text 7"/>
          <p:cNvSpPr/>
          <p:nvPr/>
        </p:nvSpPr>
        <p:spPr>
          <a:xfrm>
            <a:off x="6194568" y="3889673"/>
            <a:ext cx="5365219"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Bioactive compound and drug data</a:t>
            </a:r>
            <a:endParaRPr lang="en-US" sz="12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1908" y="4458295"/>
            <a:ext cx="394881" cy="394891"/>
          </a:xfrm>
          <a:prstGeom prst="rect">
            <a:avLst/>
          </a:prstGeom>
        </p:spPr>
      </p:pic>
      <p:sp>
        <p:nvSpPr>
          <p:cNvPr id="13" name="Text 8"/>
          <p:cNvSpPr/>
          <p:nvPr/>
        </p:nvSpPr>
        <p:spPr>
          <a:xfrm>
            <a:off x="631908" y="5050631"/>
            <a:ext cx="536521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UniProt</a:t>
            </a:r>
            <a:endParaRPr lang="en-US" sz="1600" dirty="0"/>
          </a:p>
        </p:txBody>
      </p:sp>
      <p:sp>
        <p:nvSpPr>
          <p:cNvPr id="14" name="Text 9"/>
          <p:cNvSpPr/>
          <p:nvPr/>
        </p:nvSpPr>
        <p:spPr>
          <a:xfrm>
            <a:off x="631908" y="5405140"/>
            <a:ext cx="5365219"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Protein sequence and functional information</a:t>
            </a:r>
            <a:endParaRPr lang="en-US" sz="12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94568" y="4458295"/>
            <a:ext cx="394881" cy="394891"/>
          </a:xfrm>
          <a:prstGeom prst="rect">
            <a:avLst/>
          </a:prstGeom>
        </p:spPr>
      </p:pic>
      <p:sp>
        <p:nvSpPr>
          <p:cNvPr id="16" name="Text 10"/>
          <p:cNvSpPr/>
          <p:nvPr/>
        </p:nvSpPr>
        <p:spPr>
          <a:xfrm>
            <a:off x="6194568" y="5050631"/>
            <a:ext cx="536521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Reactome</a:t>
            </a:r>
            <a:endParaRPr lang="en-US" sz="1600" dirty="0"/>
          </a:p>
        </p:txBody>
      </p:sp>
      <p:sp>
        <p:nvSpPr>
          <p:cNvPr id="17" name="Text 11"/>
          <p:cNvSpPr/>
          <p:nvPr/>
        </p:nvSpPr>
        <p:spPr>
          <a:xfrm>
            <a:off x="6194568" y="5405140"/>
            <a:ext cx="5365219"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Curated biological pathway data</a:t>
            </a:r>
            <a:endParaRPr lang="en-US" sz="1200" dirty="0"/>
          </a:p>
        </p:txBody>
      </p:sp>
      <p:sp>
        <p:nvSpPr>
          <p:cNvPr id="19" name="Rectangle: Rounded Corners 18">
            <a:extLst>
              <a:ext uri="{FF2B5EF4-FFF2-40B4-BE49-F238E27FC236}">
                <a16:creationId xmlns:a16="http://schemas.microsoft.com/office/drawing/2014/main" id="{28D7D29D-5071-3448-ABBE-FF9F068D973F}"/>
              </a:ext>
            </a:extLst>
          </p:cNvPr>
          <p:cNvSpPr/>
          <p:nvPr/>
        </p:nvSpPr>
        <p:spPr>
          <a:xfrm>
            <a:off x="10473618" y="6524446"/>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0512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31908" y="434380"/>
            <a:ext cx="701459" cy="119856"/>
          </a:xfrm>
          <a:prstGeom prst="roundRect">
            <a:avLst>
              <a:gd name="adj" fmla="val 22144"/>
            </a:avLst>
          </a:prstGeom>
          <a:noFill/>
          <a:ln w="6350">
            <a:solidFill>
              <a:srgbClr val="C91313"/>
            </a:solidFill>
            <a:prstDash val="solid"/>
          </a:ln>
        </p:spPr>
      </p:sp>
      <p:sp>
        <p:nvSpPr>
          <p:cNvPr id="3" name="Text 1"/>
          <p:cNvSpPr/>
          <p:nvPr/>
        </p:nvSpPr>
        <p:spPr>
          <a:xfrm>
            <a:off x="679235" y="457994"/>
            <a:ext cx="1216391" cy="72628"/>
          </a:xfrm>
          <a:prstGeom prst="rect">
            <a:avLst/>
          </a:prstGeom>
          <a:noFill/>
          <a:ln/>
        </p:spPr>
        <p:txBody>
          <a:bodyPr wrap="none" lIns="0" tIns="0" rIns="0" bIns="0" rtlCol="0" anchor="t"/>
          <a:lstStyle/>
          <a:p>
            <a:pPr marL="0" indent="0" algn="l">
              <a:lnSpc>
                <a:spcPct val="96000"/>
              </a:lnSpc>
              <a:buNone/>
            </a:pPr>
            <a:r>
              <a:rPr lang="en-US" sz="450" dirty="0">
                <a:solidFill>
                  <a:srgbClr val="C91313"/>
                </a:solidFill>
                <a:latin typeface="DM Sans" pitchFamily="34" charset="0"/>
                <a:ea typeface="DM Sans" pitchFamily="34" charset="-122"/>
                <a:cs typeface="DM Sans" pitchFamily="34" charset="-120"/>
              </a:rPr>
              <a:t>INTELLIGENCE FLOW</a:t>
            </a:r>
            <a:endParaRPr lang="en-US" sz="450" dirty="0"/>
          </a:p>
        </p:txBody>
      </p:sp>
      <p:sp>
        <p:nvSpPr>
          <p:cNvPr id="4" name="Text 2"/>
          <p:cNvSpPr/>
          <p:nvPr/>
        </p:nvSpPr>
        <p:spPr>
          <a:xfrm>
            <a:off x="631908" y="570012"/>
            <a:ext cx="10927878"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Research Intelligence Flow</a:t>
            </a:r>
            <a:endParaRPr lang="en-US" sz="1600" dirty="0"/>
          </a:p>
        </p:txBody>
      </p:sp>
      <p:sp>
        <p:nvSpPr>
          <p:cNvPr id="5" name="Text 3"/>
          <p:cNvSpPr/>
          <p:nvPr/>
        </p:nvSpPr>
        <p:spPr>
          <a:xfrm>
            <a:off x="631908" y="889000"/>
            <a:ext cx="10927878" cy="189508"/>
          </a:xfrm>
          <a:prstGeom prst="rect">
            <a:avLst/>
          </a:prstGeom>
          <a:noFill/>
          <a:ln/>
        </p:spPr>
        <p:txBody>
          <a:bodyPr wrap="square" lIns="0" tIns="0" rIns="0" bIns="0" rtlCol="0" anchor="t">
            <a:normAutofit/>
          </a:bodyPr>
          <a:lstStyle/>
          <a:p>
            <a:pPr marL="0" indent="0" algn="l">
              <a:lnSpc>
                <a:spcPct val="100000"/>
              </a:lnSpc>
              <a:buNone/>
            </a:pPr>
            <a:r>
              <a:rPr lang="en-US" sz="600" dirty="0">
                <a:solidFill>
                  <a:srgbClr val="FFE5E5"/>
                </a:solidFill>
                <a:latin typeface="DM Sans" pitchFamily="34" charset="0"/>
                <a:ea typeface="DM Sans" pitchFamily="34" charset="-122"/>
                <a:cs typeface="DM Sans" pitchFamily="34" charset="-120"/>
              </a:rPr>
              <a:t>The Research workflow moves from raw biological information toward structured scientific understanding. This demonstrates how CureVerseAI moves from Gene / Protein / Variant through Biological Context, Molecular Information, Pathways &amp; Relationships, External Evidence, and AI-Assisted Reasoning, arriving finally at Evidence-Aware Insight.</a:t>
            </a:r>
            <a:endParaRPr lang="en-US" sz="600" dirty="0"/>
          </a:p>
        </p:txBody>
      </p:sp>
      <p:pic>
        <p:nvPicPr>
          <p:cNvPr id="6" name="Image 0" descr="preencoded.png"/>
          <p:cNvPicPr>
            <a:picLocks noChangeAspect="1"/>
          </p:cNvPicPr>
          <p:nvPr/>
        </p:nvPicPr>
        <p:blipFill>
          <a:blip r:embed="rId3"/>
          <a:stretch>
            <a:fillRect/>
          </a:stretch>
        </p:blipFill>
        <p:spPr>
          <a:xfrm>
            <a:off x="631908" y="1122859"/>
            <a:ext cx="9753356" cy="5486400"/>
          </a:xfrm>
          <a:prstGeom prst="rect">
            <a:avLst/>
          </a:prstGeom>
        </p:spPr>
      </p:pic>
      <p:sp>
        <p:nvSpPr>
          <p:cNvPr id="8" name="Rectangle: Rounded Corners 7">
            <a:extLst>
              <a:ext uri="{FF2B5EF4-FFF2-40B4-BE49-F238E27FC236}">
                <a16:creationId xmlns:a16="http://schemas.microsoft.com/office/drawing/2014/main" id="{5B4C7CBB-C33E-847B-C581-99443DA6C94D}"/>
              </a:ext>
            </a:extLst>
          </p:cNvPr>
          <p:cNvSpPr/>
          <p:nvPr/>
        </p:nvSpPr>
        <p:spPr>
          <a:xfrm>
            <a:off x="10473618" y="6524446"/>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8724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Shape 0"/>
          <p:cNvSpPr/>
          <p:nvPr/>
        </p:nvSpPr>
        <p:spPr>
          <a:xfrm>
            <a:off x="631908" y="622300"/>
            <a:ext cx="1343984" cy="240010"/>
          </a:xfrm>
          <a:prstGeom prst="roundRect">
            <a:avLst>
              <a:gd name="adj" fmla="val 22116"/>
            </a:avLst>
          </a:prstGeom>
          <a:solidFill>
            <a:srgbClr val="460707"/>
          </a:solidFill>
          <a:ln/>
        </p:spPr>
      </p:sp>
      <p:sp>
        <p:nvSpPr>
          <p:cNvPr id="4" name="Text 1"/>
          <p:cNvSpPr/>
          <p:nvPr/>
        </p:nvSpPr>
        <p:spPr>
          <a:xfrm>
            <a:off x="726660" y="669627"/>
            <a:ext cx="1764065" cy="145355"/>
          </a:xfrm>
          <a:prstGeom prst="rect">
            <a:avLst/>
          </a:prstGeom>
          <a:noFill/>
          <a:ln/>
        </p:spPr>
        <p:txBody>
          <a:bodyPr wrap="none" lIns="0" tIns="0" rIns="0" bIns="0" rtlCol="0" anchor="t"/>
          <a:lstStyle/>
          <a:p>
            <a:pPr marL="0" indent="0" algn="l">
              <a:lnSpc>
                <a:spcPct val="96000"/>
              </a:lnSpc>
              <a:buNone/>
            </a:pPr>
            <a:r>
              <a:rPr lang="en-US" sz="950" dirty="0">
                <a:solidFill>
                  <a:srgbClr val="FFE5E5"/>
                </a:solidFill>
                <a:latin typeface="DM Sans" pitchFamily="34" charset="0"/>
                <a:ea typeface="DM Sans" pitchFamily="34" charset="-122"/>
                <a:cs typeface="DM Sans" pitchFamily="34" charset="-120"/>
              </a:rPr>
              <a:t>DOMAIN OVERVIEW</a:t>
            </a:r>
            <a:endParaRPr lang="en-US" sz="950" dirty="0"/>
          </a:p>
        </p:txBody>
      </p:sp>
      <p:sp>
        <p:nvSpPr>
          <p:cNvPr id="5" name="Text 2"/>
          <p:cNvSpPr/>
          <p:nvPr/>
        </p:nvSpPr>
        <p:spPr>
          <a:xfrm>
            <a:off x="631908" y="925413"/>
            <a:ext cx="6355993" cy="1039217"/>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The Drug Development Domain</a:t>
            </a:r>
            <a:endParaRPr lang="en-US" sz="3250" dirty="0"/>
          </a:p>
        </p:txBody>
      </p:sp>
      <p:sp>
        <p:nvSpPr>
          <p:cNvPr id="6" name="Text 3"/>
          <p:cNvSpPr/>
          <p:nvPr/>
        </p:nvSpPr>
        <p:spPr>
          <a:xfrm>
            <a:off x="631908" y="2201565"/>
            <a:ext cx="6355993" cy="1263551"/>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Drug Development focuses on therapeutic discovery as a biological reasoning problem. Instead of simply asking which drug exists for a disease, CureVerseAI connects disease biology, mechanisms, targets, compounds, interventions, and supporting evidence. The domain is organized around disease-centric scientific workflows.</a:t>
            </a:r>
            <a:endParaRPr lang="en-US" sz="1200" dirty="0"/>
          </a:p>
        </p:txBody>
      </p:sp>
      <p:sp>
        <p:nvSpPr>
          <p:cNvPr id="7" name="Shape 4"/>
          <p:cNvSpPr/>
          <p:nvPr/>
        </p:nvSpPr>
        <p:spPr>
          <a:xfrm>
            <a:off x="631908" y="3642816"/>
            <a:ext cx="3099020" cy="1473696"/>
          </a:xfrm>
          <a:prstGeom prst="roundRect">
            <a:avLst>
              <a:gd name="adj" fmla="val 4502"/>
            </a:avLst>
          </a:prstGeom>
          <a:solidFill>
            <a:srgbClr val="0A0A0A">
              <a:alpha val="95000"/>
            </a:srgbClr>
          </a:solidFill>
          <a:ln w="19050">
            <a:solidFill>
              <a:srgbClr val="8D2424"/>
            </a:solidFill>
            <a:prstDash val="solid"/>
          </a:ln>
        </p:spPr>
      </p:sp>
      <p:sp>
        <p:nvSpPr>
          <p:cNvPr id="8" name="Text 5"/>
          <p:cNvSpPr/>
          <p:nvPr/>
        </p:nvSpPr>
        <p:spPr>
          <a:xfrm>
            <a:off x="808910" y="3819823"/>
            <a:ext cx="2745016"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Disease Biology</a:t>
            </a:r>
            <a:endParaRPr lang="en-US" sz="1600" dirty="0"/>
          </a:p>
        </p:txBody>
      </p:sp>
      <p:sp>
        <p:nvSpPr>
          <p:cNvPr id="9" name="Text 6"/>
          <p:cNvSpPr/>
          <p:nvPr/>
        </p:nvSpPr>
        <p:spPr>
          <a:xfrm>
            <a:off x="808910" y="4174331"/>
            <a:ext cx="2745016"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Understand the biological consequences of disease</a:t>
            </a:r>
            <a:endParaRPr lang="en-US" sz="1200" dirty="0"/>
          </a:p>
        </p:txBody>
      </p:sp>
      <p:sp>
        <p:nvSpPr>
          <p:cNvPr id="10" name="Shape 7"/>
          <p:cNvSpPr/>
          <p:nvPr/>
        </p:nvSpPr>
        <p:spPr>
          <a:xfrm>
            <a:off x="3888881" y="3642816"/>
            <a:ext cx="3099020" cy="1473696"/>
          </a:xfrm>
          <a:prstGeom prst="roundRect">
            <a:avLst>
              <a:gd name="adj" fmla="val 4502"/>
            </a:avLst>
          </a:prstGeom>
          <a:solidFill>
            <a:srgbClr val="0A0A0A">
              <a:alpha val="95000"/>
            </a:srgbClr>
          </a:solidFill>
          <a:ln w="19050">
            <a:solidFill>
              <a:srgbClr val="8D2424"/>
            </a:solidFill>
            <a:prstDash val="solid"/>
          </a:ln>
        </p:spPr>
      </p:sp>
      <p:sp>
        <p:nvSpPr>
          <p:cNvPr id="11" name="Text 8"/>
          <p:cNvSpPr/>
          <p:nvPr/>
        </p:nvSpPr>
        <p:spPr>
          <a:xfrm>
            <a:off x="4065883" y="3819823"/>
            <a:ext cx="2745016" cy="519509"/>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Mechanisms &amp; Targets</a:t>
            </a:r>
            <a:endParaRPr lang="en-US" sz="1600" dirty="0"/>
          </a:p>
        </p:txBody>
      </p:sp>
      <p:sp>
        <p:nvSpPr>
          <p:cNvPr id="12" name="Text 9"/>
          <p:cNvSpPr/>
          <p:nvPr/>
        </p:nvSpPr>
        <p:spPr>
          <a:xfrm>
            <a:off x="4065883" y="4434086"/>
            <a:ext cx="2745016"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Connect mechanisms to therapeutic targets</a:t>
            </a:r>
            <a:endParaRPr lang="en-US" sz="1200" dirty="0"/>
          </a:p>
        </p:txBody>
      </p:sp>
      <p:sp>
        <p:nvSpPr>
          <p:cNvPr id="13" name="Shape 10"/>
          <p:cNvSpPr/>
          <p:nvPr/>
        </p:nvSpPr>
        <p:spPr>
          <a:xfrm>
            <a:off x="631908" y="5274469"/>
            <a:ext cx="6355993" cy="961231"/>
          </a:xfrm>
          <a:prstGeom prst="roundRect">
            <a:avLst>
              <a:gd name="adj" fmla="val 6903"/>
            </a:avLst>
          </a:prstGeom>
          <a:solidFill>
            <a:srgbClr val="0A0A0A">
              <a:alpha val="95000"/>
            </a:srgbClr>
          </a:solidFill>
          <a:ln w="19050">
            <a:solidFill>
              <a:srgbClr val="8D2424"/>
            </a:solidFill>
            <a:prstDash val="solid"/>
          </a:ln>
        </p:spPr>
      </p:sp>
      <p:sp>
        <p:nvSpPr>
          <p:cNvPr id="14" name="Text 11"/>
          <p:cNvSpPr/>
          <p:nvPr/>
        </p:nvSpPr>
        <p:spPr>
          <a:xfrm>
            <a:off x="808910" y="5451475"/>
            <a:ext cx="600198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Compounds &amp; Interventions</a:t>
            </a:r>
            <a:endParaRPr lang="en-US" sz="1600" dirty="0"/>
          </a:p>
        </p:txBody>
      </p:sp>
      <p:sp>
        <p:nvSpPr>
          <p:cNvPr id="15" name="Text 12"/>
          <p:cNvSpPr/>
          <p:nvPr/>
        </p:nvSpPr>
        <p:spPr>
          <a:xfrm>
            <a:off x="808910" y="5805984"/>
            <a:ext cx="6001989"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Link compounds and interventions to supporting evidence</a:t>
            </a:r>
            <a:endParaRPr lang="en-US" sz="1200" dirty="0"/>
          </a:p>
        </p:txBody>
      </p:sp>
    </p:spTree>
    <p:extLst>
      <p:ext uri="{BB962C8B-B14F-4D97-AF65-F5344CB8AC3E}">
        <p14:creationId xmlns:p14="http://schemas.microsoft.com/office/powerpoint/2010/main" val="997099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31908" y="1711027"/>
            <a:ext cx="2127395" cy="240010"/>
          </a:xfrm>
          <a:prstGeom prst="roundRect">
            <a:avLst>
              <a:gd name="adj" fmla="val 22116"/>
            </a:avLst>
          </a:prstGeom>
          <a:solidFill>
            <a:srgbClr val="460707"/>
          </a:solidFill>
          <a:ln/>
        </p:spPr>
      </p:sp>
      <p:sp>
        <p:nvSpPr>
          <p:cNvPr id="3" name="Text 1"/>
          <p:cNvSpPr/>
          <p:nvPr/>
        </p:nvSpPr>
        <p:spPr>
          <a:xfrm>
            <a:off x="726660" y="1758355"/>
            <a:ext cx="2547477" cy="145355"/>
          </a:xfrm>
          <a:prstGeom prst="rect">
            <a:avLst/>
          </a:prstGeom>
          <a:noFill/>
          <a:ln/>
        </p:spPr>
        <p:txBody>
          <a:bodyPr wrap="none" lIns="0" tIns="0" rIns="0" bIns="0" rtlCol="0" anchor="t"/>
          <a:lstStyle/>
          <a:p>
            <a:pPr marL="0" indent="0" algn="l">
              <a:lnSpc>
                <a:spcPct val="96000"/>
              </a:lnSpc>
              <a:buNone/>
            </a:pPr>
            <a:r>
              <a:rPr lang="en-US" sz="950" dirty="0">
                <a:solidFill>
                  <a:srgbClr val="FFE5E5"/>
                </a:solidFill>
                <a:latin typeface="DM Sans" pitchFamily="34" charset="0"/>
                <a:ea typeface="DM Sans" pitchFamily="34" charset="-122"/>
                <a:cs typeface="DM Sans" pitchFamily="34" charset="-120"/>
              </a:rPr>
              <a:t>DRUG DEVELOPMENT USE CASES</a:t>
            </a:r>
            <a:endParaRPr lang="en-US" sz="950" dirty="0"/>
          </a:p>
        </p:txBody>
      </p:sp>
      <p:sp>
        <p:nvSpPr>
          <p:cNvPr id="4" name="Text 2"/>
          <p:cNvSpPr/>
          <p:nvPr/>
        </p:nvSpPr>
        <p:spPr>
          <a:xfrm>
            <a:off x="631908" y="2014141"/>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Disease Analysis &amp; Reverse Engineering</a:t>
            </a:r>
            <a:endParaRPr lang="en-US" sz="3250" dirty="0"/>
          </a:p>
        </p:txBody>
      </p:sp>
      <p:sp>
        <p:nvSpPr>
          <p:cNvPr id="5" name="Shape 3"/>
          <p:cNvSpPr/>
          <p:nvPr/>
        </p:nvSpPr>
        <p:spPr>
          <a:xfrm>
            <a:off x="518207" y="2770684"/>
            <a:ext cx="5498665" cy="2376289"/>
          </a:xfrm>
          <a:prstGeom prst="roundRect">
            <a:avLst>
              <a:gd name="adj" fmla="val 4787"/>
            </a:avLst>
          </a:prstGeom>
          <a:solidFill>
            <a:srgbClr val="C91313">
              <a:alpha val="95000"/>
            </a:srgbClr>
          </a:solidFill>
          <a:ln/>
        </p:spPr>
      </p:sp>
      <p:sp>
        <p:nvSpPr>
          <p:cNvPr id="6" name="Text 4"/>
          <p:cNvSpPr/>
          <p:nvPr/>
        </p:nvSpPr>
        <p:spPr>
          <a:xfrm>
            <a:off x="676159" y="2928640"/>
            <a:ext cx="5182760"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Use Case 1 — Disease → Biological Impact</a:t>
            </a:r>
            <a:endParaRPr lang="en-US" sz="1600" dirty="0"/>
          </a:p>
        </p:txBody>
      </p:sp>
      <p:sp>
        <p:nvSpPr>
          <p:cNvPr id="7" name="Text 5"/>
          <p:cNvSpPr/>
          <p:nvPr/>
        </p:nvSpPr>
        <p:spPr>
          <a:xfrm>
            <a:off x="676159" y="3346351"/>
            <a:ext cx="5182760" cy="1658441"/>
          </a:xfrm>
          <a:prstGeom prst="rect">
            <a:avLst/>
          </a:prstGeom>
          <a:noFill/>
          <a:ln/>
        </p:spPr>
        <p:txBody>
          <a:bodyPr wrap="square" lIns="0" tIns="0" rIns="0" bIns="0" rtlCol="0" anchor="t">
            <a:normAutofit/>
          </a:bodyPr>
          <a:lstStyle/>
          <a:p>
            <a:pPr marL="0" indent="0" algn="l">
              <a:lnSpc>
                <a:spcPct val="133000"/>
              </a:lnSpc>
              <a:spcAft>
                <a:spcPts val="1100"/>
              </a:spcAft>
              <a:buNone/>
            </a:pPr>
            <a:r>
              <a:rPr lang="en-US" sz="1200" dirty="0">
                <a:solidFill>
                  <a:srgbClr val="FFFFFF"/>
                </a:solidFill>
                <a:latin typeface="DM Sans" pitchFamily="34" charset="0"/>
                <a:ea typeface="DM Sans" pitchFamily="34" charset="-122"/>
                <a:cs typeface="DM Sans" pitchFamily="34" charset="-120"/>
              </a:rPr>
              <a:t>A disease is analyzed through its biological consequences. The workflow moves from disease to affected organ or tissue, cellular region, molecular mechanisms, and biological impact.</a:t>
            </a:r>
            <a:endParaRPr lang="en-US" sz="1200" dirty="0"/>
          </a:p>
          <a:p>
            <a:pPr marL="0" indent="0" algn="l">
              <a:lnSpc>
                <a:spcPct val="133000"/>
              </a:lnSpc>
              <a:buNone/>
            </a:pPr>
            <a:r>
              <a:rPr lang="en-US" sz="1200" dirty="0">
                <a:solidFill>
                  <a:srgbClr val="FFFFFF"/>
                </a:solidFill>
                <a:latin typeface="DM Sans" pitchFamily="34" charset="0"/>
                <a:ea typeface="DM Sans" pitchFamily="34" charset="-122"/>
                <a:cs typeface="DM Sans" pitchFamily="34" charset="-120"/>
              </a:rPr>
              <a:t>The objective is to make disease biology understandable as a connected visual and scientific process rather than a paragraph of disconnected facts.</a:t>
            </a:r>
            <a:endParaRPr lang="en-US" sz="1200" dirty="0"/>
          </a:p>
        </p:txBody>
      </p:sp>
      <p:sp>
        <p:nvSpPr>
          <p:cNvPr id="8" name="Text 6"/>
          <p:cNvSpPr/>
          <p:nvPr/>
        </p:nvSpPr>
        <p:spPr>
          <a:xfrm>
            <a:off x="6294875" y="2928640"/>
            <a:ext cx="5271261"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Use Case 2 — Reverse Disease Engineering</a:t>
            </a:r>
            <a:endParaRPr lang="en-US" sz="1600" dirty="0"/>
          </a:p>
        </p:txBody>
      </p:sp>
      <p:sp>
        <p:nvSpPr>
          <p:cNvPr id="9" name="Text 7"/>
          <p:cNvSpPr/>
          <p:nvPr/>
        </p:nvSpPr>
        <p:spPr>
          <a:xfrm>
            <a:off x="6294875" y="3346351"/>
            <a:ext cx="5271261" cy="1658441"/>
          </a:xfrm>
          <a:prstGeom prst="rect">
            <a:avLst/>
          </a:prstGeom>
          <a:noFill/>
          <a:ln/>
        </p:spPr>
        <p:txBody>
          <a:bodyPr wrap="square" lIns="0" tIns="0" rIns="0" bIns="0" rtlCol="0" anchor="t">
            <a:normAutofit/>
          </a:bodyPr>
          <a:lstStyle/>
          <a:p>
            <a:pPr marL="0" indent="0" algn="l">
              <a:lnSpc>
                <a:spcPct val="133000"/>
              </a:lnSpc>
              <a:spcAft>
                <a:spcPts val="1100"/>
              </a:spcAft>
              <a:buNone/>
            </a:pPr>
            <a:r>
              <a:rPr lang="en-US" sz="1200" dirty="0">
                <a:solidFill>
                  <a:srgbClr val="FFE5E5"/>
                </a:solidFill>
                <a:latin typeface="DM Sans" pitchFamily="34" charset="0"/>
                <a:ea typeface="DM Sans" pitchFamily="34" charset="-122"/>
                <a:cs typeface="DM Sans" pitchFamily="34" charset="-120"/>
              </a:rPr>
              <a:t>Reverse Disease Engineering starts from the observed disease phenotype and works backward toward possible biological contributors.</a:t>
            </a:r>
            <a:endParaRPr lang="en-US" sz="1200" dirty="0"/>
          </a:p>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The reasoning chain can move through biological effects, mechanisms, genes, variants, pathways, and potential contributing factors. Evidence strength and biological relevance are emphasized instead of presenting unsupported probabilities of causation.</a:t>
            </a:r>
            <a:endParaRPr lang="en-US" sz="1200" dirty="0"/>
          </a:p>
        </p:txBody>
      </p:sp>
      <p:sp>
        <p:nvSpPr>
          <p:cNvPr id="11" name="Rectangle: Rounded Corners 10">
            <a:extLst>
              <a:ext uri="{FF2B5EF4-FFF2-40B4-BE49-F238E27FC236}">
                <a16:creationId xmlns:a16="http://schemas.microsoft.com/office/drawing/2014/main" id="{6F93360F-8F63-1800-1C9D-1509EF8172F7}"/>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6005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1908" y="449163"/>
            <a:ext cx="10927878" cy="341015"/>
          </a:xfrm>
          <a:prstGeom prst="rect">
            <a:avLst/>
          </a:prstGeom>
          <a:noFill/>
          <a:ln/>
        </p:spPr>
        <p:txBody>
          <a:bodyPr wrap="none" lIns="0" tIns="0" rIns="0" bIns="0" rtlCol="0" anchor="t"/>
          <a:lstStyle/>
          <a:p>
            <a:pPr marL="0" indent="0" algn="l">
              <a:lnSpc>
                <a:spcPct val="104000"/>
              </a:lnSpc>
              <a:buNone/>
            </a:pPr>
            <a:r>
              <a:rPr lang="en-US" sz="2100" dirty="0">
                <a:solidFill>
                  <a:srgbClr val="FAEBEB"/>
                </a:solidFill>
                <a:latin typeface="Dela Gothic One" pitchFamily="34" charset="0"/>
                <a:ea typeface="Dela Gothic One" pitchFamily="34" charset="-122"/>
                <a:cs typeface="Dela Gothic One" pitchFamily="34" charset="-120"/>
              </a:rPr>
              <a:t>Drug Development Use Case 3 — Therapeutic Discovery</a:t>
            </a:r>
            <a:endParaRPr lang="en-US" sz="2100" dirty="0"/>
          </a:p>
        </p:txBody>
      </p:sp>
      <p:sp>
        <p:nvSpPr>
          <p:cNvPr id="3" name="Text 1"/>
          <p:cNvSpPr/>
          <p:nvPr/>
        </p:nvSpPr>
        <p:spPr>
          <a:xfrm>
            <a:off x="631908" y="926207"/>
            <a:ext cx="10927878" cy="274638"/>
          </a:xfrm>
          <a:prstGeom prst="rect">
            <a:avLst/>
          </a:prstGeom>
          <a:noFill/>
          <a:ln/>
        </p:spPr>
        <p:txBody>
          <a:bodyPr wrap="square" lIns="0" tIns="0" rIns="0" bIns="0" rtlCol="0" anchor="t">
            <a:noAutofit/>
          </a:bodyPr>
          <a:lstStyle/>
          <a:p>
            <a:pPr marL="0" indent="0" algn="l">
              <a:lnSpc>
                <a:spcPct val="110000"/>
              </a:lnSpc>
              <a:buNone/>
            </a:pPr>
            <a:endParaRPr lang="en-US" sz="1200" b="1" dirty="0">
              <a:solidFill>
                <a:srgbClr val="FFE5E5"/>
              </a:solidFill>
              <a:latin typeface="DM Sans Bold"/>
              <a:ea typeface="Calibri"/>
              <a:cs typeface="Calibri"/>
            </a:endParaRPr>
          </a:p>
        </p:txBody>
      </p:sp>
      <p:pic>
        <p:nvPicPr>
          <p:cNvPr id="4" name="Image 0" descr="preencoded.png"/>
          <p:cNvPicPr>
            <a:picLocks noChangeAspect="1"/>
          </p:cNvPicPr>
          <p:nvPr/>
        </p:nvPicPr>
        <p:blipFill>
          <a:blip r:embed="rId3"/>
          <a:stretch>
            <a:fillRect/>
          </a:stretch>
        </p:blipFill>
        <p:spPr>
          <a:xfrm>
            <a:off x="631908" y="1277342"/>
            <a:ext cx="10927878" cy="4917579"/>
          </a:xfrm>
          <a:prstGeom prst="rect">
            <a:avLst/>
          </a:prstGeom>
        </p:spPr>
      </p:pic>
      <p:sp>
        <p:nvSpPr>
          <p:cNvPr id="5" name="Text 2"/>
          <p:cNvSpPr/>
          <p:nvPr/>
        </p:nvSpPr>
        <p:spPr>
          <a:xfrm>
            <a:off x="2278055" y="1416733"/>
            <a:ext cx="1912344" cy="311125"/>
          </a:xfrm>
          <a:prstGeom prst="rect">
            <a:avLst/>
          </a:prstGeom>
          <a:noFill/>
          <a:ln/>
        </p:spPr>
        <p:txBody>
          <a:bodyPr wrap="none" lIns="0" tIns="0" rIns="0" bIns="0" rtlCol="0" anchor="t"/>
          <a:lstStyle/>
          <a:p>
            <a:pPr marL="0" indent="0" algn="ctr">
              <a:lnSpc>
                <a:spcPct val="104000"/>
              </a:lnSpc>
              <a:buNone/>
            </a:pPr>
            <a:r>
              <a:rPr lang="en-US" sz="1950" dirty="0">
                <a:solidFill>
                  <a:srgbClr val="FFE5E5"/>
                </a:solidFill>
                <a:latin typeface="Dela Gothic One" pitchFamily="34" charset="0"/>
                <a:ea typeface="Dela Gothic One" pitchFamily="34" charset="-122"/>
                <a:cs typeface="Dela Gothic One" pitchFamily="34" charset="-120"/>
              </a:rPr>
              <a:t>Disease</a:t>
            </a:r>
            <a:endParaRPr lang="en-US" sz="1950" dirty="0"/>
          </a:p>
        </p:txBody>
      </p:sp>
      <p:sp>
        <p:nvSpPr>
          <p:cNvPr id="6" name="Text 3"/>
          <p:cNvSpPr/>
          <p:nvPr/>
        </p:nvSpPr>
        <p:spPr>
          <a:xfrm>
            <a:off x="2278055" y="1811919"/>
            <a:ext cx="1912344" cy="587115"/>
          </a:xfrm>
          <a:prstGeom prst="rect">
            <a:avLst/>
          </a:prstGeom>
          <a:noFill/>
          <a:ln/>
        </p:spPr>
        <p:txBody>
          <a:bodyPr wrap="square" lIns="0" tIns="0" rIns="0" bIns="0" rtlCol="0" anchor="t">
            <a:normAutofit/>
          </a:bodyPr>
          <a:lstStyle/>
          <a:p>
            <a:pPr marL="0" indent="0" algn="ctr">
              <a:lnSpc>
                <a:spcPct val="86000"/>
              </a:lnSpc>
              <a:buNone/>
            </a:pPr>
            <a:r>
              <a:rPr lang="en-US" sz="1450" dirty="0">
                <a:solidFill>
                  <a:srgbClr val="FFE5E5"/>
                </a:solidFill>
                <a:latin typeface="DM Sans" pitchFamily="34" charset="0"/>
                <a:ea typeface="DM Sans" pitchFamily="34" charset="-122"/>
                <a:cs typeface="DM Sans" pitchFamily="34" charset="-120"/>
              </a:rPr>
              <a:t>Define clinical condition and phenotype</a:t>
            </a:r>
            <a:endParaRPr lang="en-US" sz="1450" dirty="0"/>
          </a:p>
        </p:txBody>
      </p:sp>
      <p:sp>
        <p:nvSpPr>
          <p:cNvPr id="7" name="Text 4"/>
          <p:cNvSpPr/>
          <p:nvPr/>
        </p:nvSpPr>
        <p:spPr>
          <a:xfrm>
            <a:off x="4169384" y="5202769"/>
            <a:ext cx="1922851" cy="311125"/>
          </a:xfrm>
          <a:prstGeom prst="rect">
            <a:avLst/>
          </a:prstGeom>
          <a:noFill/>
          <a:ln/>
        </p:spPr>
        <p:txBody>
          <a:bodyPr wrap="none" lIns="0" tIns="0" rIns="0" bIns="0" rtlCol="0" anchor="t"/>
          <a:lstStyle/>
          <a:p>
            <a:pPr marL="0" indent="0" algn="ctr">
              <a:lnSpc>
                <a:spcPct val="104000"/>
              </a:lnSpc>
              <a:buNone/>
            </a:pPr>
            <a:r>
              <a:rPr lang="en-US" sz="1950" dirty="0">
                <a:solidFill>
                  <a:srgbClr val="FFE5E5"/>
                </a:solidFill>
                <a:latin typeface="Dela Gothic One" pitchFamily="34" charset="0"/>
                <a:ea typeface="Dela Gothic One" pitchFamily="34" charset="-122"/>
                <a:cs typeface="Dela Gothic One" pitchFamily="34" charset="-120"/>
              </a:rPr>
              <a:t>Mechanism</a:t>
            </a:r>
            <a:endParaRPr lang="en-US" sz="1950" dirty="0"/>
          </a:p>
        </p:txBody>
      </p:sp>
      <p:sp>
        <p:nvSpPr>
          <p:cNvPr id="8" name="Text 5"/>
          <p:cNvSpPr/>
          <p:nvPr/>
        </p:nvSpPr>
        <p:spPr>
          <a:xfrm>
            <a:off x="4169384" y="5597955"/>
            <a:ext cx="1922851" cy="391410"/>
          </a:xfrm>
          <a:prstGeom prst="rect">
            <a:avLst/>
          </a:prstGeom>
          <a:noFill/>
          <a:ln/>
        </p:spPr>
        <p:txBody>
          <a:bodyPr wrap="square" lIns="0" tIns="0" rIns="0" bIns="0" rtlCol="0" anchor="t">
            <a:normAutofit/>
          </a:bodyPr>
          <a:lstStyle/>
          <a:p>
            <a:pPr marL="0" indent="0" algn="ctr">
              <a:lnSpc>
                <a:spcPct val="86000"/>
              </a:lnSpc>
              <a:buNone/>
            </a:pPr>
            <a:r>
              <a:rPr lang="en-US" sz="1450" dirty="0">
                <a:solidFill>
                  <a:srgbClr val="FFE5E5"/>
                </a:solidFill>
                <a:latin typeface="DM Sans" pitchFamily="34" charset="0"/>
                <a:ea typeface="DM Sans" pitchFamily="34" charset="-122"/>
                <a:cs typeface="DM Sans" pitchFamily="34" charset="-120"/>
              </a:rPr>
              <a:t>Identify underlying biological pathway</a:t>
            </a:r>
            <a:endParaRPr lang="en-US" sz="1450" dirty="0"/>
          </a:p>
        </p:txBody>
      </p:sp>
      <p:sp>
        <p:nvSpPr>
          <p:cNvPr id="9" name="Text 6"/>
          <p:cNvSpPr/>
          <p:nvPr/>
        </p:nvSpPr>
        <p:spPr>
          <a:xfrm>
            <a:off x="6039699" y="1379956"/>
            <a:ext cx="1912344" cy="311125"/>
          </a:xfrm>
          <a:prstGeom prst="rect">
            <a:avLst/>
          </a:prstGeom>
          <a:noFill/>
          <a:ln/>
        </p:spPr>
        <p:txBody>
          <a:bodyPr wrap="none" lIns="0" tIns="0" rIns="0" bIns="0" rtlCol="0" anchor="t"/>
          <a:lstStyle/>
          <a:p>
            <a:pPr marL="0" indent="0" algn="ctr">
              <a:lnSpc>
                <a:spcPct val="104000"/>
              </a:lnSpc>
              <a:buNone/>
            </a:pPr>
            <a:r>
              <a:rPr lang="en-US" sz="1950" dirty="0">
                <a:solidFill>
                  <a:srgbClr val="FFE5E5"/>
                </a:solidFill>
                <a:latin typeface="Dela Gothic One" pitchFamily="34" charset="0"/>
                <a:ea typeface="Dela Gothic One" pitchFamily="34" charset="-122"/>
                <a:cs typeface="Dela Gothic One" pitchFamily="34" charset="-120"/>
              </a:rPr>
              <a:t>Target</a:t>
            </a:r>
            <a:endParaRPr lang="en-US" sz="1950" dirty="0"/>
          </a:p>
        </p:txBody>
      </p:sp>
      <p:sp>
        <p:nvSpPr>
          <p:cNvPr id="10" name="Text 7"/>
          <p:cNvSpPr/>
          <p:nvPr/>
        </p:nvSpPr>
        <p:spPr>
          <a:xfrm>
            <a:off x="6039699" y="1775142"/>
            <a:ext cx="1912344" cy="587115"/>
          </a:xfrm>
          <a:prstGeom prst="rect">
            <a:avLst/>
          </a:prstGeom>
          <a:noFill/>
          <a:ln/>
        </p:spPr>
        <p:txBody>
          <a:bodyPr wrap="square" lIns="0" tIns="0" rIns="0" bIns="0" rtlCol="0" anchor="t">
            <a:normAutofit/>
          </a:bodyPr>
          <a:lstStyle/>
          <a:p>
            <a:pPr marL="0" indent="0" algn="ctr">
              <a:lnSpc>
                <a:spcPct val="86000"/>
              </a:lnSpc>
              <a:buNone/>
            </a:pPr>
            <a:r>
              <a:rPr lang="en-US" sz="1450" dirty="0">
                <a:solidFill>
                  <a:srgbClr val="FFE5E5"/>
                </a:solidFill>
                <a:latin typeface="DM Sans" pitchFamily="34" charset="0"/>
                <a:ea typeface="DM Sans" pitchFamily="34" charset="-122"/>
                <a:cs typeface="DM Sans" pitchFamily="34" charset="-120"/>
              </a:rPr>
              <a:t>Select molecular target for intervention</a:t>
            </a:r>
            <a:endParaRPr lang="en-US" sz="1450" dirty="0"/>
          </a:p>
        </p:txBody>
      </p:sp>
      <p:sp>
        <p:nvSpPr>
          <p:cNvPr id="11" name="Text 8"/>
          <p:cNvSpPr/>
          <p:nvPr/>
        </p:nvSpPr>
        <p:spPr>
          <a:xfrm>
            <a:off x="7931028" y="5104917"/>
            <a:ext cx="1912344" cy="311125"/>
          </a:xfrm>
          <a:prstGeom prst="rect">
            <a:avLst/>
          </a:prstGeom>
          <a:noFill/>
          <a:ln/>
        </p:spPr>
        <p:txBody>
          <a:bodyPr wrap="none" lIns="0" tIns="0" rIns="0" bIns="0" rtlCol="0" anchor="t"/>
          <a:lstStyle/>
          <a:p>
            <a:pPr marL="0" indent="0" algn="ctr">
              <a:lnSpc>
                <a:spcPct val="104000"/>
              </a:lnSpc>
              <a:buNone/>
            </a:pPr>
            <a:r>
              <a:rPr lang="en-US" sz="1950" dirty="0">
                <a:solidFill>
                  <a:srgbClr val="FFE5E5"/>
                </a:solidFill>
                <a:latin typeface="Dela Gothic One" pitchFamily="34" charset="0"/>
                <a:ea typeface="Dela Gothic One" pitchFamily="34" charset="-122"/>
                <a:cs typeface="Dela Gothic One" pitchFamily="34" charset="-120"/>
              </a:rPr>
              <a:t>Compound</a:t>
            </a:r>
            <a:endParaRPr lang="en-US" sz="1950" dirty="0"/>
          </a:p>
        </p:txBody>
      </p:sp>
      <p:sp>
        <p:nvSpPr>
          <p:cNvPr id="12" name="Text 9"/>
          <p:cNvSpPr/>
          <p:nvPr/>
        </p:nvSpPr>
        <p:spPr>
          <a:xfrm>
            <a:off x="7931028" y="5500103"/>
            <a:ext cx="1912344" cy="587115"/>
          </a:xfrm>
          <a:prstGeom prst="rect">
            <a:avLst/>
          </a:prstGeom>
          <a:noFill/>
          <a:ln/>
        </p:spPr>
        <p:txBody>
          <a:bodyPr wrap="square" lIns="0" tIns="0" rIns="0" bIns="0" rtlCol="0" anchor="t">
            <a:normAutofit/>
          </a:bodyPr>
          <a:lstStyle/>
          <a:p>
            <a:pPr marL="0" indent="0" algn="ctr">
              <a:lnSpc>
                <a:spcPct val="86000"/>
              </a:lnSpc>
              <a:buNone/>
            </a:pPr>
            <a:r>
              <a:rPr lang="en-US" sz="1450" dirty="0">
                <a:solidFill>
                  <a:srgbClr val="FFE5E5"/>
                </a:solidFill>
                <a:latin typeface="DM Sans" pitchFamily="34" charset="0"/>
                <a:ea typeface="DM Sans" pitchFamily="34" charset="-122"/>
                <a:cs typeface="DM Sans" pitchFamily="34" charset="-120"/>
              </a:rPr>
              <a:t>Propose compound or therapeutic approach</a:t>
            </a:r>
            <a:endParaRPr lang="en-US" sz="1450" dirty="0"/>
          </a:p>
        </p:txBody>
      </p:sp>
      <p:sp>
        <p:nvSpPr>
          <p:cNvPr id="14" name="Rectangle: Rounded Corners 13">
            <a:extLst>
              <a:ext uri="{FF2B5EF4-FFF2-40B4-BE49-F238E27FC236}">
                <a16:creationId xmlns:a16="http://schemas.microsoft.com/office/drawing/2014/main" id="{85659EFE-CBCC-B910-D94E-83E59E41EB5F}"/>
              </a:ext>
            </a:extLst>
          </p:cNvPr>
          <p:cNvSpPr/>
          <p:nvPr/>
        </p:nvSpPr>
        <p:spPr>
          <a:xfrm>
            <a:off x="10473618" y="6524446"/>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8761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31908" y="470793"/>
            <a:ext cx="6355993" cy="1006673"/>
          </a:xfrm>
          <a:prstGeom prst="rect">
            <a:avLst/>
          </a:prstGeom>
          <a:noFill/>
          <a:ln/>
        </p:spPr>
        <p:txBody>
          <a:bodyPr wrap="square" lIns="0" tIns="0" rIns="0" bIns="0" rtlCol="0" anchor="t">
            <a:normAutofit/>
          </a:bodyPr>
          <a:lstStyle/>
          <a:p>
            <a:pPr marL="0" indent="0" algn="l">
              <a:lnSpc>
                <a:spcPct val="104000"/>
              </a:lnSpc>
              <a:buNone/>
            </a:pPr>
            <a:r>
              <a:rPr lang="en-US" sz="3150" dirty="0">
                <a:solidFill>
                  <a:srgbClr val="FAEBEB"/>
                </a:solidFill>
                <a:latin typeface="Dela Gothic One" pitchFamily="34" charset="0"/>
                <a:ea typeface="Dela Gothic One" pitchFamily="34" charset="-122"/>
                <a:cs typeface="Dela Gothic One" pitchFamily="34" charset="-120"/>
              </a:rPr>
              <a:t>Medicine Domain — The Virtual Cell</a:t>
            </a:r>
            <a:endParaRPr lang="en-US" sz="3150" dirty="0"/>
          </a:p>
        </p:txBody>
      </p:sp>
      <p:sp>
        <p:nvSpPr>
          <p:cNvPr id="4" name="Text 1"/>
          <p:cNvSpPr/>
          <p:nvPr/>
        </p:nvSpPr>
        <p:spPr>
          <a:xfrm>
            <a:off x="631908" y="1699816"/>
            <a:ext cx="6355993" cy="723305"/>
          </a:xfrm>
          <a:prstGeom prst="rect">
            <a:avLst/>
          </a:prstGeom>
          <a:noFill/>
          <a:ln/>
        </p:spPr>
        <p:txBody>
          <a:bodyPr wrap="square" lIns="0" tIns="0" rIns="0" bIns="0" rtlCol="0" anchor="t">
            <a:normAutofit/>
          </a:bodyPr>
          <a:lstStyle/>
          <a:p>
            <a:pPr marL="0" indent="0" algn="l">
              <a:lnSpc>
                <a:spcPct val="131000"/>
              </a:lnSpc>
              <a:buNone/>
            </a:pPr>
            <a:r>
              <a:rPr lang="en-US" sz="1200" dirty="0">
                <a:solidFill>
                  <a:srgbClr val="FFE5E5"/>
                </a:solidFill>
                <a:latin typeface="DM Sans" pitchFamily="34" charset="0"/>
                <a:ea typeface="DM Sans" pitchFamily="34" charset="-122"/>
                <a:cs typeface="DM Sans" pitchFamily="34" charset="-120"/>
              </a:rPr>
              <a:t>Medicine in CureVerseAI is built around a </a:t>
            </a:r>
            <a:r>
              <a:rPr lang="en-US" sz="1200" b="1" dirty="0">
                <a:solidFill>
                  <a:srgbClr val="FFE5E5"/>
                </a:solidFill>
                <a:latin typeface="DM Sans Bold" pitchFamily="34" charset="0"/>
                <a:ea typeface="DM Sans Bold" pitchFamily="34" charset="-122"/>
                <a:cs typeface="DM Sans Bold" pitchFamily="34" charset="-120"/>
              </a:rPr>
              <a:t>Virtual Cell</a:t>
            </a:r>
            <a:r>
              <a:rPr lang="en-US" sz="1200" dirty="0">
                <a:solidFill>
                  <a:srgbClr val="FFE5E5"/>
                </a:solidFill>
                <a:latin typeface="DM Sans" pitchFamily="34" charset="0"/>
                <a:ea typeface="DM Sans" pitchFamily="34" charset="-122"/>
                <a:cs typeface="DM Sans" pitchFamily="34" charset="-120"/>
              </a:rPr>
              <a:t> concept. Rather than treating medicine as a simple lookup system, the platform represents biological states and visualizes how disease conditions and interventions can change those states.</a:t>
            </a:r>
            <a:endParaRPr lang="en-US" sz="12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2589907"/>
            <a:ext cx="6355993" cy="1166912"/>
          </a:xfrm>
          <a:prstGeom prst="rect">
            <a:avLst/>
          </a:prstGeom>
        </p:spPr>
      </p:pic>
      <p:sp>
        <p:nvSpPr>
          <p:cNvPr id="6" name="Text 2"/>
          <p:cNvSpPr/>
          <p:nvPr/>
        </p:nvSpPr>
        <p:spPr>
          <a:xfrm>
            <a:off x="880148" y="2761952"/>
            <a:ext cx="5935712" cy="251718"/>
          </a:xfrm>
          <a:prstGeom prst="rect">
            <a:avLst/>
          </a:prstGeom>
          <a:noFill/>
          <a:ln/>
        </p:spPr>
        <p:txBody>
          <a:bodyPr wrap="none" lIns="0" tIns="0" rIns="0" bIns="0" rtlCol="0" anchor="t"/>
          <a:lstStyle/>
          <a:p>
            <a:pPr marL="0" indent="0" algn="l">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The Central Question</a:t>
            </a:r>
            <a:endParaRPr lang="en-US" sz="1550" dirty="0"/>
          </a:p>
        </p:txBody>
      </p:sp>
      <p:sp>
        <p:nvSpPr>
          <p:cNvPr id="7" name="Text 3"/>
          <p:cNvSpPr/>
          <p:nvPr/>
        </p:nvSpPr>
        <p:spPr>
          <a:xfrm>
            <a:off x="880148" y="3102570"/>
            <a:ext cx="5935712" cy="482203"/>
          </a:xfrm>
          <a:prstGeom prst="rect">
            <a:avLst/>
          </a:prstGeom>
          <a:noFill/>
          <a:ln/>
        </p:spPr>
        <p:txBody>
          <a:bodyPr wrap="square" lIns="0" tIns="0" rIns="0" bIns="0" rtlCol="0" anchor="t">
            <a:normAutofit/>
          </a:bodyPr>
          <a:lstStyle/>
          <a:p>
            <a:pPr marL="0" indent="0" algn="l">
              <a:lnSpc>
                <a:spcPct val="131000"/>
              </a:lnSpc>
              <a:buNone/>
            </a:pPr>
            <a:r>
              <a:rPr lang="en-US" sz="1200" dirty="0">
                <a:solidFill>
                  <a:srgbClr val="FFE5E5"/>
                </a:solidFill>
                <a:latin typeface="DM Sans" pitchFamily="34" charset="0"/>
                <a:ea typeface="DM Sans" pitchFamily="34" charset="-122"/>
                <a:cs typeface="DM Sans" pitchFamily="34" charset="-120"/>
              </a:rPr>
              <a:t>What happens to a modeled biological system when a condition or intervention is introduced?</a:t>
            </a:r>
            <a:endParaRPr lang="en-US" sz="12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3905052"/>
            <a:ext cx="6355993" cy="1166912"/>
          </a:xfrm>
          <a:prstGeom prst="rect">
            <a:avLst/>
          </a:prstGeom>
        </p:spPr>
      </p:pic>
      <p:sp>
        <p:nvSpPr>
          <p:cNvPr id="9" name="Text 4"/>
          <p:cNvSpPr/>
          <p:nvPr/>
        </p:nvSpPr>
        <p:spPr>
          <a:xfrm>
            <a:off x="880148" y="4077097"/>
            <a:ext cx="5935712" cy="251718"/>
          </a:xfrm>
          <a:prstGeom prst="rect">
            <a:avLst/>
          </a:prstGeom>
          <a:noFill/>
          <a:ln/>
        </p:spPr>
        <p:txBody>
          <a:bodyPr wrap="none" lIns="0" tIns="0" rIns="0" bIns="0" rtlCol="0" anchor="t"/>
          <a:lstStyle/>
          <a:p>
            <a:pPr marL="0" indent="0" algn="l">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Beyond Search</a:t>
            </a:r>
            <a:endParaRPr lang="en-US" sz="1550" dirty="0"/>
          </a:p>
        </p:txBody>
      </p:sp>
      <p:sp>
        <p:nvSpPr>
          <p:cNvPr id="10" name="Text 5"/>
          <p:cNvSpPr/>
          <p:nvPr/>
        </p:nvSpPr>
        <p:spPr>
          <a:xfrm>
            <a:off x="880148" y="4417715"/>
            <a:ext cx="5935712" cy="482203"/>
          </a:xfrm>
          <a:prstGeom prst="rect">
            <a:avLst/>
          </a:prstGeom>
          <a:noFill/>
          <a:ln/>
        </p:spPr>
        <p:txBody>
          <a:bodyPr wrap="square" lIns="0" tIns="0" rIns="0" bIns="0" rtlCol="0" anchor="t">
            <a:normAutofit/>
          </a:bodyPr>
          <a:lstStyle/>
          <a:p>
            <a:pPr marL="0" indent="0" algn="l">
              <a:lnSpc>
                <a:spcPct val="131000"/>
              </a:lnSpc>
              <a:buNone/>
            </a:pPr>
            <a:r>
              <a:rPr lang="en-US" sz="1200" dirty="0">
                <a:solidFill>
                  <a:srgbClr val="FFE5E5"/>
                </a:solidFill>
                <a:latin typeface="DM Sans" pitchFamily="34" charset="0"/>
                <a:ea typeface="DM Sans" pitchFamily="34" charset="-122"/>
                <a:cs typeface="DM Sans" pitchFamily="34" charset="-120"/>
              </a:rPr>
              <a:t>The Virtual Cell moves users from reading about a mechanism to </a:t>
            </a:r>
            <a:r>
              <a:rPr lang="en-US" sz="1200" b="1" dirty="0">
                <a:solidFill>
                  <a:srgbClr val="FFE5E5"/>
                </a:solidFill>
                <a:latin typeface="DM Sans Bold" pitchFamily="34" charset="0"/>
                <a:ea typeface="DM Sans Bold" pitchFamily="34" charset="-122"/>
                <a:cs typeface="DM Sans Bold" pitchFamily="34" charset="-120"/>
              </a:rPr>
              <a:t>seeing</a:t>
            </a:r>
            <a:r>
              <a:rPr lang="en-US" sz="1200" dirty="0">
                <a:solidFill>
                  <a:srgbClr val="FFE5E5"/>
                </a:solidFill>
                <a:latin typeface="DM Sans" pitchFamily="34" charset="0"/>
                <a:ea typeface="DM Sans" pitchFamily="34" charset="-122"/>
                <a:cs typeface="DM Sans" pitchFamily="34" charset="-120"/>
              </a:rPr>
              <a:t> a modeled biological state change.</a:t>
            </a:r>
            <a:endParaRPr lang="en-US" sz="12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5220196"/>
            <a:ext cx="6355993" cy="1166912"/>
          </a:xfrm>
          <a:prstGeom prst="rect">
            <a:avLst/>
          </a:prstGeom>
        </p:spPr>
      </p:pic>
      <p:sp>
        <p:nvSpPr>
          <p:cNvPr id="12" name="Text 6"/>
          <p:cNvSpPr/>
          <p:nvPr/>
        </p:nvSpPr>
        <p:spPr>
          <a:xfrm>
            <a:off x="880148" y="5392241"/>
            <a:ext cx="5935712" cy="251718"/>
          </a:xfrm>
          <a:prstGeom prst="rect">
            <a:avLst/>
          </a:prstGeom>
          <a:noFill/>
          <a:ln/>
        </p:spPr>
        <p:txBody>
          <a:bodyPr wrap="none" lIns="0" tIns="0" rIns="0" bIns="0" rtlCol="0" anchor="t"/>
          <a:lstStyle/>
          <a:p>
            <a:pPr marL="0" indent="0" algn="l">
              <a:lnSpc>
                <a:spcPct val="104000"/>
              </a:lnSpc>
              <a:buNone/>
            </a:pPr>
            <a:r>
              <a:rPr lang="en-US" sz="1550" dirty="0">
                <a:solidFill>
                  <a:srgbClr val="FFE5E5"/>
                </a:solidFill>
                <a:latin typeface="Dela Gothic One" pitchFamily="34" charset="0"/>
                <a:ea typeface="Dela Gothic One" pitchFamily="34" charset="-122"/>
                <a:cs typeface="Dela Gothic One" pitchFamily="34" charset="-120"/>
              </a:rPr>
              <a:t>What It Communicates</a:t>
            </a:r>
            <a:endParaRPr lang="en-US" sz="1550" dirty="0"/>
          </a:p>
        </p:txBody>
      </p:sp>
      <p:sp>
        <p:nvSpPr>
          <p:cNvPr id="13" name="Text 7"/>
          <p:cNvSpPr/>
          <p:nvPr/>
        </p:nvSpPr>
        <p:spPr>
          <a:xfrm>
            <a:off x="880148" y="5732859"/>
            <a:ext cx="5935712" cy="482203"/>
          </a:xfrm>
          <a:prstGeom prst="rect">
            <a:avLst/>
          </a:prstGeom>
          <a:noFill/>
          <a:ln/>
        </p:spPr>
        <p:txBody>
          <a:bodyPr wrap="square" lIns="0" tIns="0" rIns="0" bIns="0" rtlCol="0" anchor="t">
            <a:normAutofit/>
          </a:bodyPr>
          <a:lstStyle/>
          <a:p>
            <a:pPr marL="0" indent="0" algn="l">
              <a:lnSpc>
                <a:spcPct val="131000"/>
              </a:lnSpc>
              <a:buNone/>
            </a:pPr>
            <a:r>
              <a:rPr lang="en-US" sz="1200" dirty="0">
                <a:solidFill>
                  <a:srgbClr val="FFE5E5"/>
                </a:solidFill>
                <a:latin typeface="DM Sans" pitchFamily="34" charset="0"/>
                <a:ea typeface="DM Sans" pitchFamily="34" charset="-122"/>
                <a:cs typeface="DM Sans" pitchFamily="34" charset="-120"/>
              </a:rPr>
              <a:t>Changes in cellular structures, signaling, molecular activity, pathways, and biological state.</a:t>
            </a:r>
            <a:endParaRPr lang="en-US" sz="1200" dirty="0"/>
          </a:p>
        </p:txBody>
      </p:sp>
    </p:spTree>
    <p:extLst>
      <p:ext uri="{BB962C8B-B14F-4D97-AF65-F5344CB8AC3E}">
        <p14:creationId xmlns:p14="http://schemas.microsoft.com/office/powerpoint/2010/main" val="1095825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1908" y="1602780"/>
            <a:ext cx="10927878" cy="1039217"/>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Medicine Use Case 1 — Virtual Disease Simulation</a:t>
            </a:r>
            <a:endParaRPr lang="en-US" sz="3250" dirty="0"/>
          </a:p>
        </p:txBody>
      </p:sp>
      <p:sp>
        <p:nvSpPr>
          <p:cNvPr id="3" name="Text 1"/>
          <p:cNvSpPr/>
          <p:nvPr/>
        </p:nvSpPr>
        <p:spPr>
          <a:xfrm>
            <a:off x="631908" y="3036887"/>
            <a:ext cx="5271261"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The Workflow</a:t>
            </a:r>
            <a:endParaRPr lang="en-US" sz="1600" dirty="0"/>
          </a:p>
        </p:txBody>
      </p:sp>
      <p:sp>
        <p:nvSpPr>
          <p:cNvPr id="4" name="Text 2"/>
          <p:cNvSpPr/>
          <p:nvPr/>
        </p:nvSpPr>
        <p:spPr>
          <a:xfrm>
            <a:off x="631908" y="3454598"/>
            <a:ext cx="5271261" cy="1658441"/>
          </a:xfrm>
          <a:prstGeom prst="rect">
            <a:avLst/>
          </a:prstGeom>
          <a:noFill/>
          <a:ln/>
        </p:spPr>
        <p:txBody>
          <a:bodyPr wrap="square" lIns="0" tIns="0" rIns="0" bIns="0" rtlCol="0" anchor="t">
            <a:normAutofit/>
          </a:bodyPr>
          <a:lstStyle/>
          <a:p>
            <a:pPr marL="0" indent="0" algn="l">
              <a:lnSpc>
                <a:spcPct val="133000"/>
              </a:lnSpc>
              <a:spcAft>
                <a:spcPts val="1100"/>
              </a:spcAft>
              <a:buNone/>
            </a:pPr>
            <a:r>
              <a:rPr lang="en-US" sz="1200" dirty="0">
                <a:solidFill>
                  <a:srgbClr val="FFE5E5"/>
                </a:solidFill>
                <a:latin typeface="DM Sans" pitchFamily="34" charset="0"/>
                <a:ea typeface="DM Sans" pitchFamily="34" charset="-122"/>
                <a:cs typeface="DM Sans" pitchFamily="34" charset="-120"/>
              </a:rPr>
              <a:t>The Virtual Disease Simulation begins with a </a:t>
            </a:r>
            <a:r>
              <a:rPr lang="en-US" sz="1200" b="1" dirty="0">
                <a:solidFill>
                  <a:srgbClr val="FFE5E5"/>
                </a:solidFill>
                <a:latin typeface="DM Sans Bold" pitchFamily="34" charset="0"/>
                <a:ea typeface="DM Sans Bold" pitchFamily="34" charset="-122"/>
                <a:cs typeface="DM Sans Bold" pitchFamily="34" charset="-120"/>
              </a:rPr>
              <a:t>healthy virtual cell</a:t>
            </a:r>
            <a:r>
              <a:rPr lang="en-US" sz="1200" dirty="0">
                <a:solidFill>
                  <a:srgbClr val="FFE5E5"/>
                </a:solidFill>
                <a:latin typeface="DM Sans" pitchFamily="34" charset="0"/>
                <a:ea typeface="DM Sans" pitchFamily="34" charset="-122"/>
                <a:cs typeface="DM Sans" pitchFamily="34" charset="-120"/>
              </a:rPr>
              <a:t>. A disease condition is introduced as a biological perturbation, and the system visually represents a transition toward an altered cellular state.</a:t>
            </a:r>
            <a:endParaRPr lang="en-US" sz="1200" dirty="0"/>
          </a:p>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The experience communicates changes across multiple biological dimensions — from cellular structures and signaling to molecular activity and pathways.</a:t>
            </a:r>
            <a:endParaRPr lang="en-US" sz="1200" dirty="0"/>
          </a:p>
        </p:txBody>
      </p:sp>
      <p:sp>
        <p:nvSpPr>
          <p:cNvPr id="5" name="Shape 3"/>
          <p:cNvSpPr/>
          <p:nvPr/>
        </p:nvSpPr>
        <p:spPr>
          <a:xfrm>
            <a:off x="6181173" y="2878931"/>
            <a:ext cx="5498665" cy="2376289"/>
          </a:xfrm>
          <a:prstGeom prst="roundRect">
            <a:avLst>
              <a:gd name="adj" fmla="val 4787"/>
            </a:avLst>
          </a:prstGeom>
          <a:solidFill>
            <a:srgbClr val="C91313">
              <a:alpha val="95000"/>
            </a:srgbClr>
          </a:solidFill>
          <a:ln/>
        </p:spPr>
      </p:sp>
      <p:sp>
        <p:nvSpPr>
          <p:cNvPr id="6" name="Text 4"/>
          <p:cNvSpPr/>
          <p:nvPr/>
        </p:nvSpPr>
        <p:spPr>
          <a:xfrm>
            <a:off x="6339126" y="3036887"/>
            <a:ext cx="5182760"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What Users See</a:t>
            </a:r>
            <a:endParaRPr lang="en-US" sz="1600" dirty="0"/>
          </a:p>
        </p:txBody>
      </p:sp>
      <p:sp>
        <p:nvSpPr>
          <p:cNvPr id="7" name="Text 5"/>
          <p:cNvSpPr/>
          <p:nvPr/>
        </p:nvSpPr>
        <p:spPr>
          <a:xfrm>
            <a:off x="6339126" y="3454598"/>
            <a:ext cx="5182760" cy="1484610"/>
          </a:xfrm>
          <a:prstGeom prst="rect">
            <a:avLst/>
          </a:prstGeom>
          <a:noFill/>
          <a:ln/>
        </p:spPr>
        <p:txBody>
          <a:bodyPr wrap="square" lIns="0" tIns="0" rIns="0" bIns="0" rtlCol="0" anchor="t">
            <a:normAutofit/>
          </a:bodyPr>
          <a:lstStyle/>
          <a:p>
            <a:pPr marL="243840" indent="-243840" algn="l">
              <a:lnSpc>
                <a:spcPct val="133000"/>
              </a:lnSpc>
              <a:buSzPct val="100000"/>
              <a:buChar char="•"/>
            </a:pPr>
            <a:r>
              <a:rPr lang="en-US" sz="1200" dirty="0">
                <a:solidFill>
                  <a:srgbClr val="FFFFFF"/>
                </a:solidFill>
                <a:latin typeface="DM Sans" pitchFamily="34" charset="0"/>
                <a:ea typeface="DM Sans" pitchFamily="34" charset="-122"/>
                <a:cs typeface="DM Sans" pitchFamily="34" charset="-120"/>
              </a:rPr>
              <a:t>Cellular structure changes</a:t>
            </a:r>
            <a:endParaRPr lang="en-US" sz="1200" dirty="0"/>
          </a:p>
          <a:p>
            <a:pPr marL="243840" indent="-243840" algn="l">
              <a:lnSpc>
                <a:spcPct val="133000"/>
              </a:lnSpc>
              <a:buSzPct val="100000"/>
              <a:buChar char="•"/>
            </a:pPr>
            <a:r>
              <a:rPr lang="en-US" sz="1200" dirty="0">
                <a:solidFill>
                  <a:srgbClr val="FFFFFF"/>
                </a:solidFill>
                <a:latin typeface="DM Sans" pitchFamily="34" charset="0"/>
                <a:ea typeface="DM Sans" pitchFamily="34" charset="-122"/>
                <a:cs typeface="DM Sans" pitchFamily="34" charset="-120"/>
              </a:rPr>
              <a:t>Signaling pathway alterations</a:t>
            </a:r>
            <a:endParaRPr lang="en-US" sz="1200" dirty="0"/>
          </a:p>
          <a:p>
            <a:pPr marL="243840" indent="-243840" algn="l">
              <a:lnSpc>
                <a:spcPct val="133000"/>
              </a:lnSpc>
              <a:buSzPct val="100000"/>
              <a:buChar char="•"/>
            </a:pPr>
            <a:r>
              <a:rPr lang="en-US" sz="1200" dirty="0">
                <a:solidFill>
                  <a:srgbClr val="FFFFFF"/>
                </a:solidFill>
                <a:latin typeface="DM Sans" pitchFamily="34" charset="0"/>
                <a:ea typeface="DM Sans" pitchFamily="34" charset="-122"/>
                <a:cs typeface="DM Sans" pitchFamily="34" charset="-120"/>
              </a:rPr>
              <a:t>Molecular activity shifts</a:t>
            </a:r>
            <a:endParaRPr lang="en-US" sz="1200" dirty="0"/>
          </a:p>
          <a:p>
            <a:pPr marL="243840" indent="-243840" algn="l">
              <a:lnSpc>
                <a:spcPct val="133000"/>
              </a:lnSpc>
              <a:buSzPct val="100000"/>
              <a:buChar char="•"/>
            </a:pPr>
            <a:r>
              <a:rPr lang="en-US" sz="1200" dirty="0">
                <a:solidFill>
                  <a:srgbClr val="FFFFFF"/>
                </a:solidFill>
                <a:latin typeface="DM Sans" pitchFamily="34" charset="0"/>
                <a:ea typeface="DM Sans" pitchFamily="34" charset="-122"/>
                <a:cs typeface="DM Sans" pitchFamily="34" charset="-120"/>
              </a:rPr>
              <a:t>Pathway disruptions</a:t>
            </a:r>
            <a:endParaRPr lang="en-US" sz="1200" dirty="0"/>
          </a:p>
          <a:p>
            <a:pPr marL="243840" indent="-243840" algn="l">
              <a:lnSpc>
                <a:spcPct val="133000"/>
              </a:lnSpc>
              <a:buSzPct val="100000"/>
              <a:buChar char="•"/>
            </a:pPr>
            <a:r>
              <a:rPr lang="en-US" sz="1200" dirty="0">
                <a:solidFill>
                  <a:srgbClr val="FFFFFF"/>
                </a:solidFill>
                <a:latin typeface="DM Sans" pitchFamily="34" charset="0"/>
                <a:ea typeface="DM Sans" pitchFamily="34" charset="-122"/>
                <a:cs typeface="DM Sans" pitchFamily="34" charset="-120"/>
              </a:rPr>
              <a:t>Overall biological state transition</a:t>
            </a:r>
            <a:endParaRPr lang="en-US" sz="1200" dirty="0"/>
          </a:p>
        </p:txBody>
      </p:sp>
      <p:sp>
        <p:nvSpPr>
          <p:cNvPr id="9" name="Rectangle: Rounded Corners 8">
            <a:extLst>
              <a:ext uri="{FF2B5EF4-FFF2-40B4-BE49-F238E27FC236}">
                <a16:creationId xmlns:a16="http://schemas.microsoft.com/office/drawing/2014/main" id="{CB1C33E9-A9CB-2614-08A6-5AB121D96A27}"/>
              </a:ext>
            </a:extLst>
          </p:cNvPr>
          <p:cNvSpPr/>
          <p:nvPr/>
        </p:nvSpPr>
        <p:spPr>
          <a:xfrm>
            <a:off x="10473618" y="6524446"/>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4741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1908" y="1101229"/>
            <a:ext cx="10927878" cy="1039217"/>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Medicine Use Case 2 — Treatment Simulation</a:t>
            </a:r>
            <a:endParaRPr lang="en-US" sz="3250" dirty="0"/>
          </a:p>
        </p:txBody>
      </p:sp>
      <p:sp>
        <p:nvSpPr>
          <p:cNvPr id="3" name="Text 1"/>
          <p:cNvSpPr/>
          <p:nvPr/>
        </p:nvSpPr>
        <p:spPr>
          <a:xfrm>
            <a:off x="631908" y="2456359"/>
            <a:ext cx="10927878"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Treatment Simulation starts with a </a:t>
            </a:r>
            <a:r>
              <a:rPr lang="en-US" sz="1200" b="1" dirty="0">
                <a:solidFill>
                  <a:srgbClr val="FFE5E5"/>
                </a:solidFill>
                <a:latin typeface="DM Sans Bold" pitchFamily="34" charset="0"/>
                <a:ea typeface="DM Sans Bold" pitchFamily="34" charset="-122"/>
                <a:cs typeface="DM Sans Bold" pitchFamily="34" charset="-120"/>
              </a:rPr>
              <a:t>disease-state cell</a:t>
            </a:r>
            <a:r>
              <a:rPr lang="en-US" sz="1200" dirty="0">
                <a:solidFill>
                  <a:srgbClr val="FFE5E5"/>
                </a:solidFill>
                <a:latin typeface="DM Sans" pitchFamily="34" charset="0"/>
                <a:ea typeface="DM Sans" pitchFamily="34" charset="-122"/>
                <a:cs typeface="DM Sans" pitchFamily="34" charset="-120"/>
              </a:rPr>
              <a:t> and introduces an intervention. The workflow connects the intervention to relevant targets and pathways, then visualizes the modeled cellular response.</a:t>
            </a:r>
            <a:endParaRPr lang="en-US" sz="1200" dirty="0"/>
          </a:p>
        </p:txBody>
      </p:sp>
      <p:pic>
        <p:nvPicPr>
          <p:cNvPr id="4" name="Image 0" descr="preencoded.png"/>
          <p:cNvPicPr>
            <a:picLocks noChangeAspect="1"/>
          </p:cNvPicPr>
          <p:nvPr/>
        </p:nvPicPr>
        <p:blipFill>
          <a:blip r:embed="rId3"/>
          <a:stretch>
            <a:fillRect/>
          </a:stretch>
        </p:blipFill>
        <p:spPr>
          <a:xfrm>
            <a:off x="631908" y="3139480"/>
            <a:ext cx="3642626" cy="631924"/>
          </a:xfrm>
          <a:prstGeom prst="rect">
            <a:avLst/>
          </a:prstGeom>
        </p:spPr>
      </p:pic>
      <p:sp>
        <p:nvSpPr>
          <p:cNvPr id="5" name="Text 2"/>
          <p:cNvSpPr/>
          <p:nvPr/>
        </p:nvSpPr>
        <p:spPr>
          <a:xfrm>
            <a:off x="789861" y="3929360"/>
            <a:ext cx="3326721"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Disease-State Cell</a:t>
            </a:r>
            <a:endParaRPr lang="en-US" sz="1600" dirty="0"/>
          </a:p>
        </p:txBody>
      </p:sp>
      <p:sp>
        <p:nvSpPr>
          <p:cNvPr id="6" name="Text 3"/>
          <p:cNvSpPr/>
          <p:nvPr/>
        </p:nvSpPr>
        <p:spPr>
          <a:xfrm>
            <a:off x="789861" y="4283869"/>
            <a:ext cx="3326721"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Starting point: an altered biological state representing the disease condition</a:t>
            </a:r>
            <a:endParaRPr lang="en-US" sz="1200" dirty="0"/>
          </a:p>
        </p:txBody>
      </p:sp>
      <p:pic>
        <p:nvPicPr>
          <p:cNvPr id="7" name="Image 1" descr="preencoded.png"/>
          <p:cNvPicPr>
            <a:picLocks noChangeAspect="1"/>
          </p:cNvPicPr>
          <p:nvPr/>
        </p:nvPicPr>
        <p:blipFill>
          <a:blip r:embed="rId4"/>
          <a:stretch>
            <a:fillRect/>
          </a:stretch>
        </p:blipFill>
        <p:spPr>
          <a:xfrm>
            <a:off x="4274534" y="3139480"/>
            <a:ext cx="3642626" cy="631924"/>
          </a:xfrm>
          <a:prstGeom prst="rect">
            <a:avLst/>
          </a:prstGeom>
        </p:spPr>
      </p:pic>
      <p:sp>
        <p:nvSpPr>
          <p:cNvPr id="8" name="Text 4"/>
          <p:cNvSpPr/>
          <p:nvPr/>
        </p:nvSpPr>
        <p:spPr>
          <a:xfrm>
            <a:off x="4432487" y="3929360"/>
            <a:ext cx="3326721"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Intervention Introduced</a:t>
            </a:r>
            <a:endParaRPr lang="en-US" sz="1600" dirty="0"/>
          </a:p>
        </p:txBody>
      </p:sp>
      <p:sp>
        <p:nvSpPr>
          <p:cNvPr id="9" name="Text 5"/>
          <p:cNvSpPr/>
          <p:nvPr/>
        </p:nvSpPr>
        <p:spPr>
          <a:xfrm>
            <a:off x="4432487" y="4283869"/>
            <a:ext cx="3326721"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A treatment is applied and connected to relevant targets and pathways</a:t>
            </a:r>
            <a:endParaRPr lang="en-US" sz="1200" dirty="0"/>
          </a:p>
        </p:txBody>
      </p:sp>
      <p:pic>
        <p:nvPicPr>
          <p:cNvPr id="10" name="Image 2" descr="preencoded.png"/>
          <p:cNvPicPr>
            <a:picLocks noChangeAspect="1"/>
          </p:cNvPicPr>
          <p:nvPr/>
        </p:nvPicPr>
        <p:blipFill>
          <a:blip r:embed="rId5"/>
          <a:stretch>
            <a:fillRect/>
          </a:stretch>
        </p:blipFill>
        <p:spPr>
          <a:xfrm>
            <a:off x="7917161" y="3139480"/>
            <a:ext cx="3642626" cy="631924"/>
          </a:xfrm>
          <a:prstGeom prst="rect">
            <a:avLst/>
          </a:prstGeom>
        </p:spPr>
      </p:pic>
      <p:sp>
        <p:nvSpPr>
          <p:cNvPr id="11" name="Text 6"/>
          <p:cNvSpPr/>
          <p:nvPr/>
        </p:nvSpPr>
        <p:spPr>
          <a:xfrm>
            <a:off x="8075113" y="3929360"/>
            <a:ext cx="3326721"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Modeled Cellular Response</a:t>
            </a:r>
            <a:endParaRPr lang="en-US" sz="1600" dirty="0"/>
          </a:p>
        </p:txBody>
      </p:sp>
      <p:sp>
        <p:nvSpPr>
          <p:cNvPr id="12" name="Text 7"/>
          <p:cNvSpPr/>
          <p:nvPr/>
        </p:nvSpPr>
        <p:spPr>
          <a:xfrm>
            <a:off x="8075113" y="4283869"/>
            <a:ext cx="3326721"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The system visualizes the biological response to the intervention</a:t>
            </a:r>
            <a:endParaRPr lang="en-US" sz="1200" dirty="0"/>
          </a:p>
        </p:txBody>
      </p:sp>
      <p:sp>
        <p:nvSpPr>
          <p:cNvPr id="13" name="Shape 8"/>
          <p:cNvSpPr/>
          <p:nvPr/>
        </p:nvSpPr>
        <p:spPr>
          <a:xfrm>
            <a:off x="631908" y="5124946"/>
            <a:ext cx="10927878" cy="631825"/>
          </a:xfrm>
          <a:prstGeom prst="roundRect">
            <a:avLst>
              <a:gd name="adj" fmla="val 10502"/>
            </a:avLst>
          </a:prstGeom>
          <a:solidFill>
            <a:srgbClr val="740B0B"/>
          </a:solidFill>
          <a:ln/>
        </p:spPr>
      </p:sp>
      <p:pic>
        <p:nvPicPr>
          <p:cNvPr id="14" name="Image 3" descr="preencoded.png"/>
          <p:cNvPicPr>
            <a:picLocks noChangeAspect="1"/>
          </p:cNvPicPr>
          <p:nvPr/>
        </p:nvPicPr>
        <p:blipFill>
          <a:blip r:embed="rId6"/>
          <a:stretch>
            <a:fillRect/>
          </a:stretch>
        </p:blipFill>
        <p:spPr>
          <a:xfrm>
            <a:off x="789861" y="5349280"/>
            <a:ext cx="197440" cy="157956"/>
          </a:xfrm>
          <a:prstGeom prst="rect">
            <a:avLst/>
          </a:prstGeom>
        </p:spPr>
      </p:pic>
      <p:sp>
        <p:nvSpPr>
          <p:cNvPr id="15" name="Text 9"/>
          <p:cNvSpPr/>
          <p:nvPr/>
        </p:nvSpPr>
        <p:spPr>
          <a:xfrm>
            <a:off x="1145253" y="5322391"/>
            <a:ext cx="10866166" cy="252710"/>
          </a:xfrm>
          <a:prstGeom prst="rect">
            <a:avLst/>
          </a:prstGeom>
          <a:noFill/>
          <a:ln/>
        </p:spPr>
        <p:txBody>
          <a:bodyPr wrap="none" lIns="0" tIns="0" rIns="0" bIns="0" rtlCol="0" anchor="t"/>
          <a:lstStyle/>
          <a:p>
            <a:pPr marL="0" indent="0" algn="l">
              <a:lnSpc>
                <a:spcPct val="133000"/>
              </a:lnSpc>
              <a:buNone/>
            </a:pPr>
            <a:r>
              <a:rPr lang="en-US" sz="1200" dirty="0">
                <a:solidFill>
                  <a:srgbClr val="FFFFFF"/>
                </a:solidFill>
                <a:latin typeface="DM Sans" pitchFamily="34" charset="0"/>
                <a:ea typeface="DM Sans" pitchFamily="34" charset="-122"/>
                <a:cs typeface="DM Sans" pitchFamily="34" charset="-120"/>
              </a:rPr>
              <a:t>This is intended as computational biological simulation and interpretation — </a:t>
            </a:r>
            <a:r>
              <a:rPr lang="en-US" sz="1200" b="1" dirty="0">
                <a:solidFill>
                  <a:srgbClr val="FFFFFF"/>
                </a:solidFill>
                <a:latin typeface="DM Sans Bold" pitchFamily="34" charset="0"/>
                <a:ea typeface="DM Sans Bold" pitchFamily="34" charset="-122"/>
                <a:cs typeface="DM Sans Bold" pitchFamily="34" charset="-120"/>
              </a:rPr>
              <a:t>not</a:t>
            </a:r>
            <a:r>
              <a:rPr lang="en-US" sz="1200" dirty="0">
                <a:solidFill>
                  <a:srgbClr val="FFFFFF"/>
                </a:solidFill>
                <a:latin typeface="DM Sans" pitchFamily="34" charset="0"/>
                <a:ea typeface="DM Sans" pitchFamily="34" charset="-122"/>
                <a:cs typeface="DM Sans" pitchFamily="34" charset="-120"/>
              </a:rPr>
              <a:t> a clinical treatment recommendation.</a:t>
            </a:r>
            <a:endParaRPr lang="en-US" sz="1200" dirty="0"/>
          </a:p>
        </p:txBody>
      </p:sp>
      <p:sp>
        <p:nvSpPr>
          <p:cNvPr id="17" name="Rectangle: Rounded Corners 16">
            <a:extLst>
              <a:ext uri="{FF2B5EF4-FFF2-40B4-BE49-F238E27FC236}">
                <a16:creationId xmlns:a16="http://schemas.microsoft.com/office/drawing/2014/main" id="{88E1572A-051F-B9BC-D78E-1DCA9367797D}"/>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883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03794" y="476647"/>
            <a:ext cx="6355993" cy="974328"/>
          </a:xfrm>
          <a:prstGeom prst="rect">
            <a:avLst/>
          </a:prstGeom>
          <a:noFill/>
          <a:ln/>
        </p:spPr>
        <p:txBody>
          <a:bodyPr wrap="square" lIns="0" tIns="0" rIns="0" bIns="0" rtlCol="0" anchor="t">
            <a:normAutofit/>
          </a:bodyPr>
          <a:lstStyle/>
          <a:p>
            <a:pPr marL="0" indent="0" algn="l">
              <a:lnSpc>
                <a:spcPct val="104000"/>
              </a:lnSpc>
              <a:buNone/>
            </a:pPr>
            <a:r>
              <a:rPr lang="en-US" sz="3050" dirty="0">
                <a:solidFill>
                  <a:srgbClr val="FAEBEB"/>
                </a:solidFill>
                <a:latin typeface="Dela Gothic One" pitchFamily="34" charset="0"/>
                <a:ea typeface="Dela Gothic One" pitchFamily="34" charset="-122"/>
                <a:cs typeface="Dela Gothic One" pitchFamily="34" charset="-120"/>
              </a:rPr>
              <a:t>Why the Virtual Cell Matters</a:t>
            </a:r>
            <a:endParaRPr lang="en-US" sz="3050" dirty="0"/>
          </a:p>
        </p:txBody>
      </p:sp>
      <p:sp>
        <p:nvSpPr>
          <p:cNvPr id="4" name="Text 1"/>
          <p:cNvSpPr/>
          <p:nvPr/>
        </p:nvSpPr>
        <p:spPr>
          <a:xfrm>
            <a:off x="5203794" y="1659235"/>
            <a:ext cx="6355993" cy="688777"/>
          </a:xfrm>
          <a:prstGeom prst="rect">
            <a:avLst/>
          </a:prstGeom>
          <a:noFill/>
          <a:ln/>
        </p:spPr>
        <p:txBody>
          <a:bodyPr wrap="square" lIns="0" tIns="0" rIns="0" bIns="0" rtlCol="0" anchor="t">
            <a:normAutofit/>
          </a:bodyPr>
          <a:lstStyle/>
          <a:p>
            <a:pPr marL="0" indent="0" algn="l">
              <a:lnSpc>
                <a:spcPct val="129000"/>
              </a:lnSpc>
              <a:buNone/>
            </a:pPr>
            <a:r>
              <a:rPr lang="en-US" sz="1150" dirty="0">
                <a:solidFill>
                  <a:srgbClr val="FFE5E5"/>
                </a:solidFill>
                <a:latin typeface="DM Sans" pitchFamily="34" charset="0"/>
                <a:ea typeface="DM Sans" pitchFamily="34" charset="-122"/>
                <a:cs typeface="DM Sans" pitchFamily="34" charset="-120"/>
              </a:rPr>
              <a:t>The Virtual Cell gives CureVerseAI a fundamentally different interaction model from a conventional biomedical search engine. Users can move from </a:t>
            </a:r>
            <a:r>
              <a:rPr lang="en-US" sz="1150" b="1" dirty="0">
                <a:solidFill>
                  <a:srgbClr val="FFE5E5"/>
                </a:solidFill>
                <a:latin typeface="DM Sans Bold" pitchFamily="34" charset="0"/>
                <a:ea typeface="DM Sans Bold" pitchFamily="34" charset="-122"/>
                <a:cs typeface="DM Sans Bold" pitchFamily="34" charset="-120"/>
              </a:rPr>
              <a:t>reading about a mechanism</a:t>
            </a:r>
            <a:r>
              <a:rPr lang="en-US" sz="1150" dirty="0">
                <a:solidFill>
                  <a:srgbClr val="FFE5E5"/>
                </a:solidFill>
                <a:latin typeface="DM Sans" pitchFamily="34" charset="0"/>
                <a:ea typeface="DM Sans" pitchFamily="34" charset="-122"/>
                <a:cs typeface="DM Sans" pitchFamily="34" charset="-120"/>
              </a:rPr>
              <a:t> to </a:t>
            </a:r>
            <a:r>
              <a:rPr lang="en-US" sz="1150" b="1" dirty="0">
                <a:solidFill>
                  <a:srgbClr val="FFE5E5"/>
                </a:solidFill>
                <a:latin typeface="DM Sans Bold" pitchFamily="34" charset="0"/>
                <a:ea typeface="DM Sans Bold" pitchFamily="34" charset="-122"/>
                <a:cs typeface="DM Sans Bold" pitchFamily="34" charset="-120"/>
              </a:rPr>
              <a:t>seeing a modeled biological state change</a:t>
            </a:r>
            <a:r>
              <a:rPr lang="en-US" sz="1150" dirty="0">
                <a:solidFill>
                  <a:srgbClr val="FFE5E5"/>
                </a:solidFill>
                <a:latin typeface="DM Sans" pitchFamily="34" charset="0"/>
                <a:ea typeface="DM Sans" pitchFamily="34" charset="-122"/>
                <a:cs typeface="DM Sans" pitchFamily="34" charset="-120"/>
              </a:rPr>
              <a:t>.</a:t>
            </a:r>
            <a:endParaRPr lang="en-US" sz="1150" dirty="0"/>
          </a:p>
        </p:txBody>
      </p:sp>
      <p:sp>
        <p:nvSpPr>
          <p:cNvPr id="5" name="Shape 2"/>
          <p:cNvSpPr/>
          <p:nvPr/>
        </p:nvSpPr>
        <p:spPr>
          <a:xfrm>
            <a:off x="5203794" y="2504182"/>
            <a:ext cx="6355993" cy="865188"/>
          </a:xfrm>
          <a:prstGeom prst="roundRect">
            <a:avLst>
              <a:gd name="adj" fmla="val 7190"/>
            </a:avLst>
          </a:prstGeom>
          <a:solidFill>
            <a:srgbClr val="740B0B"/>
          </a:solidFill>
          <a:ln w="6350">
            <a:solidFill>
              <a:srgbClr val="8D2424"/>
            </a:solidFill>
            <a:prstDash val="solid"/>
          </a:ln>
        </p:spPr>
      </p:sp>
      <p:sp>
        <p:nvSpPr>
          <p:cNvPr id="6" name="Text 3"/>
          <p:cNvSpPr/>
          <p:nvPr/>
        </p:nvSpPr>
        <p:spPr>
          <a:xfrm>
            <a:off x="5358175" y="2658566"/>
            <a:ext cx="6047232" cy="243582"/>
          </a:xfrm>
          <a:prstGeom prst="rect">
            <a:avLst/>
          </a:prstGeom>
          <a:noFill/>
          <a:ln/>
        </p:spPr>
        <p:txBody>
          <a:bodyPr wrap="none" lIns="0" tIns="0" rIns="0" bIns="0" rtlCol="0" anchor="t"/>
          <a:lstStyle/>
          <a:p>
            <a:pPr marL="0" indent="0" algn="l">
              <a:lnSpc>
                <a:spcPct val="104000"/>
              </a:lnSpc>
              <a:buNone/>
            </a:pPr>
            <a:r>
              <a:rPr lang="en-US" sz="1500" dirty="0">
                <a:solidFill>
                  <a:srgbClr val="FFE5E5"/>
                </a:solidFill>
                <a:latin typeface="Dela Gothic One" pitchFamily="34" charset="0"/>
                <a:ea typeface="Dela Gothic One" pitchFamily="34" charset="-122"/>
                <a:cs typeface="Dela Gothic One" pitchFamily="34" charset="-120"/>
              </a:rPr>
              <a:t>Scientific Evidence</a:t>
            </a:r>
            <a:endParaRPr lang="en-US" sz="1500" dirty="0"/>
          </a:p>
        </p:txBody>
      </p:sp>
      <p:sp>
        <p:nvSpPr>
          <p:cNvPr id="7" name="Text 4"/>
          <p:cNvSpPr/>
          <p:nvPr/>
        </p:nvSpPr>
        <p:spPr>
          <a:xfrm>
            <a:off x="5358175" y="2985393"/>
            <a:ext cx="6047232" cy="229592"/>
          </a:xfrm>
          <a:prstGeom prst="rect">
            <a:avLst/>
          </a:prstGeom>
          <a:noFill/>
          <a:ln/>
        </p:spPr>
        <p:txBody>
          <a:bodyPr wrap="none" lIns="0" tIns="0" rIns="0" bIns="0" rtlCol="0" anchor="t"/>
          <a:lstStyle/>
          <a:p>
            <a:pPr marL="0" indent="0" algn="l">
              <a:lnSpc>
                <a:spcPct val="129000"/>
              </a:lnSpc>
              <a:buNone/>
            </a:pPr>
            <a:r>
              <a:rPr lang="en-US" sz="1150" dirty="0">
                <a:solidFill>
                  <a:srgbClr val="FFE5E5"/>
                </a:solidFill>
                <a:latin typeface="DM Sans" pitchFamily="34" charset="0"/>
                <a:ea typeface="DM Sans" pitchFamily="34" charset="-122"/>
                <a:cs typeface="DM Sans" pitchFamily="34" charset="-120"/>
              </a:rPr>
              <a:t>Grounded in research and supporting data</a:t>
            </a:r>
            <a:endParaRPr lang="en-US" sz="1150" dirty="0"/>
          </a:p>
        </p:txBody>
      </p:sp>
      <p:sp>
        <p:nvSpPr>
          <p:cNvPr id="8" name="Shape 5"/>
          <p:cNvSpPr/>
          <p:nvPr/>
        </p:nvSpPr>
        <p:spPr>
          <a:xfrm>
            <a:off x="5203794" y="3508177"/>
            <a:ext cx="6355993" cy="865188"/>
          </a:xfrm>
          <a:prstGeom prst="roundRect">
            <a:avLst>
              <a:gd name="adj" fmla="val 7190"/>
            </a:avLst>
          </a:prstGeom>
          <a:solidFill>
            <a:srgbClr val="740B0B"/>
          </a:solidFill>
          <a:ln w="6350">
            <a:solidFill>
              <a:srgbClr val="8D2424"/>
            </a:solidFill>
            <a:prstDash val="solid"/>
          </a:ln>
        </p:spPr>
      </p:sp>
      <p:sp>
        <p:nvSpPr>
          <p:cNvPr id="9" name="Text 6"/>
          <p:cNvSpPr/>
          <p:nvPr/>
        </p:nvSpPr>
        <p:spPr>
          <a:xfrm>
            <a:off x="5358175" y="3662561"/>
            <a:ext cx="6047232" cy="243582"/>
          </a:xfrm>
          <a:prstGeom prst="rect">
            <a:avLst/>
          </a:prstGeom>
          <a:noFill/>
          <a:ln/>
        </p:spPr>
        <p:txBody>
          <a:bodyPr wrap="none" lIns="0" tIns="0" rIns="0" bIns="0" rtlCol="0" anchor="t"/>
          <a:lstStyle/>
          <a:p>
            <a:pPr marL="0" indent="0" algn="l">
              <a:lnSpc>
                <a:spcPct val="104000"/>
              </a:lnSpc>
              <a:buNone/>
            </a:pPr>
            <a:r>
              <a:rPr lang="en-US" sz="1500" dirty="0">
                <a:solidFill>
                  <a:srgbClr val="FFE5E5"/>
                </a:solidFill>
                <a:latin typeface="Dela Gothic One" pitchFamily="34" charset="0"/>
                <a:ea typeface="Dela Gothic One" pitchFamily="34" charset="-122"/>
                <a:cs typeface="Dela Gothic One" pitchFamily="34" charset="-120"/>
              </a:rPr>
              <a:t>Therapeutic Hypotheses</a:t>
            </a:r>
            <a:endParaRPr lang="en-US" sz="1500" dirty="0"/>
          </a:p>
        </p:txBody>
      </p:sp>
      <p:sp>
        <p:nvSpPr>
          <p:cNvPr id="10" name="Text 7"/>
          <p:cNvSpPr/>
          <p:nvPr/>
        </p:nvSpPr>
        <p:spPr>
          <a:xfrm>
            <a:off x="5358175" y="3989388"/>
            <a:ext cx="6047232" cy="229592"/>
          </a:xfrm>
          <a:prstGeom prst="rect">
            <a:avLst/>
          </a:prstGeom>
          <a:noFill/>
          <a:ln/>
        </p:spPr>
        <p:txBody>
          <a:bodyPr wrap="none" lIns="0" tIns="0" rIns="0" bIns="0" rtlCol="0" anchor="t"/>
          <a:lstStyle/>
          <a:p>
            <a:pPr marL="0" indent="0" algn="l">
              <a:lnSpc>
                <a:spcPct val="129000"/>
              </a:lnSpc>
              <a:buNone/>
            </a:pPr>
            <a:r>
              <a:rPr lang="en-US" sz="1150" dirty="0">
                <a:solidFill>
                  <a:srgbClr val="FFE5E5"/>
                </a:solidFill>
                <a:latin typeface="DM Sans" pitchFamily="34" charset="0"/>
                <a:ea typeface="DM Sans" pitchFamily="34" charset="-122"/>
                <a:cs typeface="DM Sans" pitchFamily="34" charset="-120"/>
              </a:rPr>
              <a:t>AI-assisted hypothesis generation made visible</a:t>
            </a:r>
            <a:endParaRPr lang="en-US" sz="1150" dirty="0"/>
          </a:p>
        </p:txBody>
      </p:sp>
      <p:sp>
        <p:nvSpPr>
          <p:cNvPr id="11" name="Shape 8"/>
          <p:cNvSpPr/>
          <p:nvPr/>
        </p:nvSpPr>
        <p:spPr>
          <a:xfrm>
            <a:off x="5203794" y="4512171"/>
            <a:ext cx="6355993" cy="865188"/>
          </a:xfrm>
          <a:prstGeom prst="roundRect">
            <a:avLst>
              <a:gd name="adj" fmla="val 7190"/>
            </a:avLst>
          </a:prstGeom>
          <a:solidFill>
            <a:srgbClr val="740B0B"/>
          </a:solidFill>
          <a:ln w="6350">
            <a:solidFill>
              <a:srgbClr val="8D2424"/>
            </a:solidFill>
            <a:prstDash val="solid"/>
          </a:ln>
        </p:spPr>
      </p:sp>
      <p:sp>
        <p:nvSpPr>
          <p:cNvPr id="12" name="Text 9"/>
          <p:cNvSpPr/>
          <p:nvPr/>
        </p:nvSpPr>
        <p:spPr>
          <a:xfrm>
            <a:off x="5358175" y="4666555"/>
            <a:ext cx="6047232" cy="243582"/>
          </a:xfrm>
          <a:prstGeom prst="rect">
            <a:avLst/>
          </a:prstGeom>
          <a:noFill/>
          <a:ln/>
        </p:spPr>
        <p:txBody>
          <a:bodyPr wrap="none" lIns="0" tIns="0" rIns="0" bIns="0" rtlCol="0" anchor="t"/>
          <a:lstStyle/>
          <a:p>
            <a:pPr marL="0" indent="0" algn="l">
              <a:lnSpc>
                <a:spcPct val="104000"/>
              </a:lnSpc>
              <a:buNone/>
            </a:pPr>
            <a:r>
              <a:rPr lang="en-US" sz="1500" dirty="0">
                <a:solidFill>
                  <a:srgbClr val="FFE5E5"/>
                </a:solidFill>
                <a:latin typeface="Dela Gothic One" pitchFamily="34" charset="0"/>
                <a:ea typeface="Dela Gothic One" pitchFamily="34" charset="-122"/>
                <a:cs typeface="Dela Gothic One" pitchFamily="34" charset="-120"/>
              </a:rPr>
              <a:t>Biological Mechanisms</a:t>
            </a:r>
            <a:endParaRPr lang="en-US" sz="1500" dirty="0"/>
          </a:p>
        </p:txBody>
      </p:sp>
      <p:sp>
        <p:nvSpPr>
          <p:cNvPr id="13" name="Text 10"/>
          <p:cNvSpPr/>
          <p:nvPr/>
        </p:nvSpPr>
        <p:spPr>
          <a:xfrm>
            <a:off x="5358175" y="4993382"/>
            <a:ext cx="6047232" cy="229592"/>
          </a:xfrm>
          <a:prstGeom prst="rect">
            <a:avLst/>
          </a:prstGeom>
          <a:noFill/>
          <a:ln/>
        </p:spPr>
        <p:txBody>
          <a:bodyPr wrap="none" lIns="0" tIns="0" rIns="0" bIns="0" rtlCol="0" anchor="t"/>
          <a:lstStyle/>
          <a:p>
            <a:pPr marL="0" indent="0" algn="l">
              <a:lnSpc>
                <a:spcPct val="129000"/>
              </a:lnSpc>
              <a:buNone/>
            </a:pPr>
            <a:r>
              <a:rPr lang="en-US" sz="1150" dirty="0">
                <a:solidFill>
                  <a:srgbClr val="FFE5E5"/>
                </a:solidFill>
                <a:latin typeface="DM Sans" pitchFamily="34" charset="0"/>
                <a:ea typeface="DM Sans" pitchFamily="34" charset="-122"/>
                <a:cs typeface="DM Sans" pitchFamily="34" charset="-120"/>
              </a:rPr>
              <a:t>Pathways and targets visualized in context</a:t>
            </a:r>
            <a:endParaRPr lang="en-US" sz="1150" dirty="0"/>
          </a:p>
        </p:txBody>
      </p:sp>
      <p:sp>
        <p:nvSpPr>
          <p:cNvPr id="14" name="Shape 11"/>
          <p:cNvSpPr/>
          <p:nvPr/>
        </p:nvSpPr>
        <p:spPr>
          <a:xfrm>
            <a:off x="5203794" y="5516166"/>
            <a:ext cx="6355993" cy="865188"/>
          </a:xfrm>
          <a:prstGeom prst="roundRect">
            <a:avLst>
              <a:gd name="adj" fmla="val 7190"/>
            </a:avLst>
          </a:prstGeom>
          <a:solidFill>
            <a:srgbClr val="740B0B"/>
          </a:solidFill>
          <a:ln w="6350">
            <a:solidFill>
              <a:srgbClr val="8D2424"/>
            </a:solidFill>
            <a:prstDash val="solid"/>
          </a:ln>
        </p:spPr>
      </p:sp>
      <p:sp>
        <p:nvSpPr>
          <p:cNvPr id="15" name="Text 12"/>
          <p:cNvSpPr/>
          <p:nvPr/>
        </p:nvSpPr>
        <p:spPr>
          <a:xfrm>
            <a:off x="5358175" y="5670550"/>
            <a:ext cx="6047232" cy="243582"/>
          </a:xfrm>
          <a:prstGeom prst="rect">
            <a:avLst/>
          </a:prstGeom>
          <a:noFill/>
          <a:ln/>
        </p:spPr>
        <p:txBody>
          <a:bodyPr wrap="none" lIns="0" tIns="0" rIns="0" bIns="0" rtlCol="0" anchor="t"/>
          <a:lstStyle/>
          <a:p>
            <a:pPr marL="0" indent="0" algn="l">
              <a:lnSpc>
                <a:spcPct val="104000"/>
              </a:lnSpc>
              <a:buNone/>
            </a:pPr>
            <a:r>
              <a:rPr lang="en-US" sz="1500" dirty="0">
                <a:solidFill>
                  <a:srgbClr val="FFE5E5"/>
                </a:solidFill>
                <a:latin typeface="Dela Gothic One" pitchFamily="34" charset="0"/>
                <a:ea typeface="Dela Gothic One" pitchFamily="34" charset="-122"/>
                <a:cs typeface="Dela Gothic One" pitchFamily="34" charset="-120"/>
              </a:rPr>
              <a:t>Visual Understanding</a:t>
            </a:r>
            <a:endParaRPr lang="en-US" sz="1500" dirty="0"/>
          </a:p>
        </p:txBody>
      </p:sp>
      <p:sp>
        <p:nvSpPr>
          <p:cNvPr id="16" name="Text 13"/>
          <p:cNvSpPr/>
          <p:nvPr/>
        </p:nvSpPr>
        <p:spPr>
          <a:xfrm>
            <a:off x="5358175" y="5997377"/>
            <a:ext cx="6047232" cy="229592"/>
          </a:xfrm>
          <a:prstGeom prst="rect">
            <a:avLst/>
          </a:prstGeom>
          <a:noFill/>
          <a:ln/>
        </p:spPr>
        <p:txBody>
          <a:bodyPr wrap="none" lIns="0" tIns="0" rIns="0" bIns="0" rtlCol="0" anchor="t"/>
          <a:lstStyle/>
          <a:p>
            <a:pPr marL="0" indent="0" algn="l">
              <a:lnSpc>
                <a:spcPct val="129000"/>
              </a:lnSpc>
              <a:buNone/>
            </a:pPr>
            <a:r>
              <a:rPr lang="en-US" sz="1150" dirty="0">
                <a:solidFill>
                  <a:srgbClr val="FFE5E5"/>
                </a:solidFill>
                <a:latin typeface="DM Sans" pitchFamily="34" charset="0"/>
                <a:ea typeface="DM Sans" pitchFamily="34" charset="-122"/>
                <a:cs typeface="DM Sans" pitchFamily="34" charset="-120"/>
              </a:rPr>
              <a:t>A bridge between data and biological intuition</a:t>
            </a:r>
            <a:endParaRPr lang="en-US" sz="1150" dirty="0"/>
          </a:p>
        </p:txBody>
      </p:sp>
      <p:sp>
        <p:nvSpPr>
          <p:cNvPr id="18" name="Rectangle: Rounded Corners 17">
            <a:extLst>
              <a:ext uri="{FF2B5EF4-FFF2-40B4-BE49-F238E27FC236}">
                <a16:creationId xmlns:a16="http://schemas.microsoft.com/office/drawing/2014/main" id="{5F0DD290-84B5-AC57-7E1B-D63FD4434547}"/>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0506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1908" y="435670"/>
            <a:ext cx="10927878" cy="365323"/>
          </a:xfrm>
          <a:prstGeom prst="rect">
            <a:avLst/>
          </a:prstGeom>
          <a:noFill/>
          <a:ln/>
        </p:spPr>
        <p:txBody>
          <a:bodyPr wrap="none" lIns="0" tIns="0" rIns="0" bIns="0" rtlCol="0" anchor="t"/>
          <a:lstStyle/>
          <a:p>
            <a:pPr marL="0" indent="0" algn="l">
              <a:lnSpc>
                <a:spcPct val="104000"/>
              </a:lnSpc>
              <a:buNone/>
            </a:pPr>
            <a:r>
              <a:rPr lang="en-US" sz="2300" dirty="0">
                <a:solidFill>
                  <a:srgbClr val="FAEBEB"/>
                </a:solidFill>
                <a:latin typeface="Dela Gothic One" pitchFamily="34" charset="0"/>
                <a:ea typeface="Dela Gothic One" pitchFamily="34" charset="-122"/>
                <a:cs typeface="Dela Gothic One" pitchFamily="34" charset="-120"/>
              </a:rPr>
              <a:t>Biotechnology Domain</a:t>
            </a:r>
            <a:endParaRPr lang="en-US" sz="2300" dirty="0"/>
          </a:p>
        </p:txBody>
      </p:sp>
      <p:pic>
        <p:nvPicPr>
          <p:cNvPr id="3" name="Image 0" descr="preencoded.png"/>
          <p:cNvPicPr>
            <a:picLocks noChangeAspect="1"/>
          </p:cNvPicPr>
          <p:nvPr/>
        </p:nvPicPr>
        <p:blipFill>
          <a:blip r:embed="rId3"/>
          <a:stretch>
            <a:fillRect/>
          </a:stretch>
        </p:blipFill>
        <p:spPr>
          <a:xfrm>
            <a:off x="631908" y="1005880"/>
            <a:ext cx="5328509" cy="5328642"/>
          </a:xfrm>
          <a:prstGeom prst="rect">
            <a:avLst/>
          </a:prstGeom>
        </p:spPr>
      </p:pic>
      <p:sp>
        <p:nvSpPr>
          <p:cNvPr id="4" name="Text 1"/>
          <p:cNvSpPr/>
          <p:nvPr/>
        </p:nvSpPr>
        <p:spPr>
          <a:xfrm>
            <a:off x="6237628" y="996156"/>
            <a:ext cx="5328509" cy="182662"/>
          </a:xfrm>
          <a:prstGeom prst="rect">
            <a:avLst/>
          </a:prstGeom>
          <a:noFill/>
          <a:ln/>
        </p:spPr>
        <p:txBody>
          <a:bodyPr wrap="none" lIns="0" tIns="0" rIns="0" bIns="0" rtlCol="0" anchor="t"/>
          <a:lstStyle/>
          <a:p>
            <a:pPr marL="0" indent="0" algn="l">
              <a:lnSpc>
                <a:spcPct val="104000"/>
              </a:lnSpc>
              <a:buNone/>
            </a:pPr>
            <a:r>
              <a:rPr lang="en-US" dirty="0">
                <a:solidFill>
                  <a:srgbClr val="FAEBEB"/>
                </a:solidFill>
                <a:latin typeface="Dela Gothic One"/>
                <a:ea typeface="Dela Gothic One"/>
                <a:cs typeface="Dela Gothic One" pitchFamily="34" charset="-120"/>
              </a:rPr>
              <a:t>Biological Materials → Intelligence</a:t>
            </a:r>
            <a:endParaRPr lang="en-US">
              <a:latin typeface="Dela Gothic One"/>
              <a:ea typeface="Dela Gothic One"/>
              <a:cs typeface="Calibri"/>
            </a:endParaRPr>
          </a:p>
        </p:txBody>
      </p:sp>
      <p:sp>
        <p:nvSpPr>
          <p:cNvPr id="5" name="Text 2"/>
          <p:cNvSpPr/>
          <p:nvPr/>
        </p:nvSpPr>
        <p:spPr>
          <a:xfrm>
            <a:off x="6237628" y="1256903"/>
            <a:ext cx="5328509" cy="827286"/>
          </a:xfrm>
          <a:prstGeom prst="rect">
            <a:avLst/>
          </a:prstGeom>
          <a:noFill/>
          <a:ln/>
        </p:spPr>
        <p:txBody>
          <a:bodyPr wrap="square" lIns="0" tIns="0" rIns="0" bIns="0" rtlCol="0" anchor="t">
            <a:normAutofit/>
          </a:bodyPr>
          <a:lstStyle/>
          <a:p>
            <a:pPr marL="0" indent="0" algn="l">
              <a:lnSpc>
                <a:spcPct val="114000"/>
              </a:lnSpc>
              <a:buNone/>
            </a:pPr>
            <a:endParaRPr lang="en-US" sz="850" dirty="0">
              <a:solidFill>
                <a:srgbClr val="FFE5E5"/>
              </a:solidFill>
              <a:latin typeface="DM Sans"/>
            </a:endParaRPr>
          </a:p>
        </p:txBody>
      </p:sp>
      <p:sp>
        <p:nvSpPr>
          <p:cNvPr id="6" name="TextBox 5">
            <a:extLst>
              <a:ext uri="{FF2B5EF4-FFF2-40B4-BE49-F238E27FC236}">
                <a16:creationId xmlns:a16="http://schemas.microsoft.com/office/drawing/2014/main" id="{A9E4AB40-FC25-D09D-0301-25CF350DC50E}"/>
              </a:ext>
            </a:extLst>
          </p:cNvPr>
          <p:cNvSpPr txBox="1"/>
          <p:nvPr/>
        </p:nvSpPr>
        <p:spPr>
          <a:xfrm>
            <a:off x="6239774" y="1718094"/>
            <a:ext cx="5319623"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dirty="0" err="1">
                <a:solidFill>
                  <a:schemeClr val="bg1"/>
                </a:solidFill>
              </a:rPr>
              <a:t>CureVerseAI’s</a:t>
            </a:r>
            <a:r>
              <a:rPr lang="en-US" sz="1600" dirty="0">
                <a:solidFill>
                  <a:schemeClr val="bg1"/>
                </a:solidFill>
              </a:rPr>
              <a:t> Biotechnology Domain transforms biological materials into deeper scientific insight by analyzing their visible and anatomical characteristics, associated compounds, biological properties, and potential medical relevance. It connects material → anatomy → compounds → mechanisms → biological effects to help users understand the science behind biological resources.</a:t>
            </a:r>
            <a:endParaRPr lang="en-US" sz="1600">
              <a:solidFill>
                <a:schemeClr val="bg1"/>
              </a:solidFill>
              <a:ea typeface="Calibri"/>
              <a:cs typeface="Calibri"/>
            </a:endParaRPr>
          </a:p>
          <a:p>
            <a:pPr algn="just"/>
            <a:endParaRPr lang="en-US" dirty="0">
              <a:ea typeface="Calibri"/>
              <a:cs typeface="Calibri"/>
            </a:endParaRPr>
          </a:p>
          <a:p>
            <a:pPr algn="just"/>
            <a:endParaRPr lang="en-US" dirty="0">
              <a:ea typeface="Calibri"/>
              <a:cs typeface="Calibri"/>
            </a:endParaRPr>
          </a:p>
        </p:txBody>
      </p:sp>
      <p:sp>
        <p:nvSpPr>
          <p:cNvPr id="7" name="TextBox 6">
            <a:extLst>
              <a:ext uri="{FF2B5EF4-FFF2-40B4-BE49-F238E27FC236}">
                <a16:creationId xmlns:a16="http://schemas.microsoft.com/office/drawing/2014/main" id="{096AFBF5-37D6-AA00-94B4-D9AD9191506F}"/>
              </a:ext>
            </a:extLst>
          </p:cNvPr>
          <p:cNvSpPr txBox="1"/>
          <p:nvPr/>
        </p:nvSpPr>
        <p:spPr>
          <a:xfrm>
            <a:off x="6096000" y="3932208"/>
            <a:ext cx="5463397"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dirty="0">
                <a:solidFill>
                  <a:schemeClr val="bg1"/>
                </a:solidFill>
              </a:rPr>
              <a:t>The domain goes beyond simple identification by enabling deep biological anatomy, edible/non-edible analysis, medical potential assessment, and biological compound discovery—creating a bridge between biotechnology research and downstream medicine and therapeutic simulation.</a:t>
            </a:r>
            <a:endParaRPr lang="en-US" sz="1600">
              <a:solidFill>
                <a:schemeClr val="bg1"/>
              </a:solidFill>
              <a:ea typeface="Calibri"/>
              <a:cs typeface="Calibri"/>
            </a:endParaRPr>
          </a:p>
          <a:p>
            <a:pPr algn="just"/>
            <a:endParaRPr lang="en-US" sz="1600" dirty="0">
              <a:ea typeface="Calibri"/>
              <a:cs typeface="Calibri"/>
            </a:endParaRPr>
          </a:p>
          <a:p>
            <a:pPr algn="just"/>
            <a:endParaRPr lang="en-US" sz="1600" dirty="0">
              <a:ea typeface="Calibri"/>
              <a:cs typeface="Calibri"/>
            </a:endParaRPr>
          </a:p>
          <a:p>
            <a:pPr algn="just"/>
            <a:endParaRPr lang="en-US" sz="1600" dirty="0">
              <a:ea typeface="Calibri"/>
              <a:cs typeface="Calibri"/>
            </a:endParaRPr>
          </a:p>
          <a:p>
            <a:pPr algn="just"/>
            <a:endParaRPr lang="en-US" sz="1600" dirty="0">
              <a:ea typeface="Calibri"/>
              <a:cs typeface="Calibri"/>
            </a:endParaRPr>
          </a:p>
          <a:p>
            <a:pPr algn="just"/>
            <a:endParaRPr lang="en-US" sz="1600" dirty="0">
              <a:ea typeface="Calibri"/>
              <a:cs typeface="Calibri"/>
            </a:endParaRPr>
          </a:p>
          <a:p>
            <a:pPr algn="just"/>
            <a:endParaRPr lang="en-US" sz="1600" dirty="0">
              <a:ea typeface="Calibri"/>
              <a:cs typeface="Calibri"/>
            </a:endParaRPr>
          </a:p>
          <a:p>
            <a:pPr algn="just"/>
            <a:endParaRPr lang="en-US" sz="1600" dirty="0">
              <a:ea typeface="Calibri"/>
              <a:cs typeface="Calibri"/>
            </a:endParaRPr>
          </a:p>
          <a:p>
            <a:pPr algn="just"/>
            <a:endParaRPr lang="en-US" sz="1600" dirty="0">
              <a:ea typeface="Calibri"/>
              <a:cs typeface="Calibri"/>
            </a:endParaRPr>
          </a:p>
          <a:p>
            <a:pPr algn="just"/>
            <a:endParaRPr lang="en-US" sz="1600" dirty="0">
              <a:ea typeface="Calibri"/>
              <a:cs typeface="Calibri"/>
            </a:endParaRPr>
          </a:p>
        </p:txBody>
      </p:sp>
      <p:sp>
        <p:nvSpPr>
          <p:cNvPr id="9" name="Rectangle: Rounded Corners 8">
            <a:extLst>
              <a:ext uri="{FF2B5EF4-FFF2-40B4-BE49-F238E27FC236}">
                <a16:creationId xmlns:a16="http://schemas.microsoft.com/office/drawing/2014/main" id="{2F5728AC-2059-FBA8-42C3-DCDB8BEE5C93}"/>
              </a:ext>
            </a:extLst>
          </p:cNvPr>
          <p:cNvSpPr/>
          <p:nvPr/>
        </p:nvSpPr>
        <p:spPr>
          <a:xfrm>
            <a:off x="10473618" y="6481314"/>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179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1908" y="885627"/>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Biotechnology Use Cases 1 &amp; 2</a:t>
            </a:r>
            <a:endParaRPr lang="en-US" sz="3250" dirty="0"/>
          </a:p>
        </p:txBody>
      </p:sp>
      <p:pic>
        <p:nvPicPr>
          <p:cNvPr id="3" name="Image 0" descr="preencoded.png"/>
          <p:cNvPicPr>
            <a:picLocks noChangeAspect="1"/>
          </p:cNvPicPr>
          <p:nvPr/>
        </p:nvPicPr>
        <p:blipFill>
          <a:blip r:embed="rId3"/>
          <a:stretch>
            <a:fillRect/>
          </a:stretch>
        </p:blipFill>
        <p:spPr>
          <a:xfrm>
            <a:off x="631908" y="1721148"/>
            <a:ext cx="3111819" cy="1923256"/>
          </a:xfrm>
          <a:prstGeom prst="rect">
            <a:avLst/>
          </a:prstGeom>
        </p:spPr>
      </p:pic>
      <p:sp>
        <p:nvSpPr>
          <p:cNvPr id="4" name="Text 1"/>
          <p:cNvSpPr/>
          <p:nvPr/>
        </p:nvSpPr>
        <p:spPr>
          <a:xfrm>
            <a:off x="631908" y="3841849"/>
            <a:ext cx="5365219" cy="519509"/>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Use Case 1 — Biological Material → Medical Potential</a:t>
            </a:r>
            <a:endParaRPr lang="en-US" sz="1600" dirty="0"/>
          </a:p>
        </p:txBody>
      </p:sp>
      <p:sp>
        <p:nvSpPr>
          <p:cNvPr id="5" name="Text 2"/>
          <p:cNvSpPr/>
          <p:nvPr/>
        </p:nvSpPr>
        <p:spPr>
          <a:xfrm>
            <a:off x="631908" y="4456113"/>
            <a:ext cx="5365219" cy="1516261"/>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A biological-material image becomes the starting point for deeper analysis. The workflow examines visual and anatomical features, connects them with possible biological compounds or properties, explores mechanisms, and organizes potential applications with an explanation of why the material may be relevant. </a:t>
            </a:r>
            <a:r>
              <a:rPr lang="en-US" sz="1200" b="1" dirty="0">
                <a:solidFill>
                  <a:srgbClr val="FFE5E5"/>
                </a:solidFill>
                <a:latin typeface="DM Sans Bold" pitchFamily="34" charset="0"/>
                <a:ea typeface="DM Sans Bold" pitchFamily="34" charset="-122"/>
                <a:cs typeface="DM Sans Bold" pitchFamily="34" charset="-120"/>
              </a:rPr>
              <a:t>Image analysis alone is not treated as proof of medical efficacy or safety.</a:t>
            </a:r>
            <a:endParaRPr lang="en-US" sz="1200" dirty="0"/>
          </a:p>
        </p:txBody>
      </p:sp>
      <p:pic>
        <p:nvPicPr>
          <p:cNvPr id="6" name="Image 1" descr="preencoded.png"/>
          <p:cNvPicPr>
            <a:picLocks noChangeAspect="1"/>
          </p:cNvPicPr>
          <p:nvPr/>
        </p:nvPicPr>
        <p:blipFill>
          <a:blip r:embed="rId4"/>
          <a:stretch>
            <a:fillRect/>
          </a:stretch>
        </p:blipFill>
        <p:spPr>
          <a:xfrm>
            <a:off x="6194568" y="1721148"/>
            <a:ext cx="3111819" cy="1923256"/>
          </a:xfrm>
          <a:prstGeom prst="rect">
            <a:avLst/>
          </a:prstGeom>
        </p:spPr>
      </p:pic>
      <p:sp>
        <p:nvSpPr>
          <p:cNvPr id="7" name="Text 3"/>
          <p:cNvSpPr/>
          <p:nvPr/>
        </p:nvSpPr>
        <p:spPr>
          <a:xfrm>
            <a:off x="6194568" y="3841849"/>
            <a:ext cx="536521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Use Case 2 — Deep Biological Anatomy</a:t>
            </a:r>
            <a:endParaRPr lang="en-US" sz="1600" dirty="0"/>
          </a:p>
        </p:txBody>
      </p:sp>
      <p:sp>
        <p:nvSpPr>
          <p:cNvPr id="8" name="Text 4"/>
          <p:cNvSpPr/>
          <p:nvPr/>
        </p:nvSpPr>
        <p:spPr>
          <a:xfrm>
            <a:off x="6194568" y="4196358"/>
            <a:ext cx="5365219" cy="1263551"/>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Deep Biological Anatomy allows a biological material to be explored structurally. For plant materials, the experience can move through </a:t>
            </a:r>
            <a:r>
              <a:rPr lang="en-US" sz="1200" b="1" dirty="0">
                <a:solidFill>
                  <a:srgbClr val="FFE5E5"/>
                </a:solidFill>
                <a:latin typeface="DM Sans Bold" pitchFamily="34" charset="0"/>
                <a:ea typeface="DM Sans Bold" pitchFamily="34" charset="-122"/>
                <a:cs typeface="DM Sans Bold" pitchFamily="34" charset="-120"/>
              </a:rPr>
              <a:t>leaf, stem, root, epidermal structures, mesophyll, vascular tissues, cortex</a:t>
            </a:r>
            <a:r>
              <a:rPr lang="en-US" sz="1200" dirty="0">
                <a:solidFill>
                  <a:srgbClr val="FFE5E5"/>
                </a:solidFill>
                <a:latin typeface="DM Sans" pitchFamily="34" charset="0"/>
                <a:ea typeface="DM Sans" pitchFamily="34" charset="-122"/>
                <a:cs typeface="DM Sans" pitchFamily="34" charset="-120"/>
              </a:rPr>
              <a:t>, and other anatomical regions — connecting structure with biological function and molecular properties.</a:t>
            </a:r>
            <a:endParaRPr lang="en-US" sz="1200" dirty="0"/>
          </a:p>
        </p:txBody>
      </p:sp>
      <p:sp>
        <p:nvSpPr>
          <p:cNvPr id="10" name="Rectangle: Rounded Corners 9">
            <a:extLst>
              <a:ext uri="{FF2B5EF4-FFF2-40B4-BE49-F238E27FC236}">
                <a16:creationId xmlns:a16="http://schemas.microsoft.com/office/drawing/2014/main" id="{7B89787F-072E-0A71-8ACC-9F3507E52DBE}"/>
              </a:ext>
            </a:extLst>
          </p:cNvPr>
          <p:cNvSpPr/>
          <p:nvPr/>
        </p:nvSpPr>
        <p:spPr>
          <a:xfrm>
            <a:off x="10473618" y="6495692"/>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3599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31908" y="712291"/>
            <a:ext cx="10927878" cy="1039217"/>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Biotechnology Use Case 3 — Edible / Non-Edible Analysis</a:t>
            </a:r>
            <a:endParaRPr lang="en-US" sz="3250" dirty="0"/>
          </a:p>
        </p:txBody>
      </p:sp>
      <p:sp>
        <p:nvSpPr>
          <p:cNvPr id="3" name="Text 1"/>
          <p:cNvSpPr/>
          <p:nvPr/>
        </p:nvSpPr>
        <p:spPr>
          <a:xfrm>
            <a:off x="631908" y="2067421"/>
            <a:ext cx="11537463"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This workflow organizes biological-material analysis into three categories, preserving scientific uncertainty where image data alone is insufficient.</a:t>
            </a:r>
            <a:endParaRPr lang="en-US" sz="1200" dirty="0"/>
          </a:p>
        </p:txBody>
      </p:sp>
      <p:sp>
        <p:nvSpPr>
          <p:cNvPr id="4" name="Shape 2"/>
          <p:cNvSpPr/>
          <p:nvPr/>
        </p:nvSpPr>
        <p:spPr>
          <a:xfrm>
            <a:off x="631908" y="2497832"/>
            <a:ext cx="3537258" cy="2585541"/>
          </a:xfrm>
          <a:prstGeom prst="roundRect">
            <a:avLst>
              <a:gd name="adj" fmla="val 2566"/>
            </a:avLst>
          </a:prstGeom>
          <a:solidFill>
            <a:srgbClr val="740B0B"/>
          </a:solidFill>
          <a:ln w="6350">
            <a:solidFill>
              <a:srgbClr val="8D2424"/>
            </a:solidFill>
            <a:prstDash val="solid"/>
          </a:ln>
        </p:spPr>
      </p:sp>
      <p:sp>
        <p:nvSpPr>
          <p:cNvPr id="5" name="Shape 3"/>
          <p:cNvSpPr/>
          <p:nvPr/>
        </p:nvSpPr>
        <p:spPr>
          <a:xfrm>
            <a:off x="796211" y="2662138"/>
            <a:ext cx="473857" cy="473869"/>
          </a:xfrm>
          <a:prstGeom prst="ellipse">
            <a:avLst/>
          </a:prstGeom>
          <a:solidFill>
            <a:srgbClr val="C91313"/>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6482" y="2792413"/>
            <a:ext cx="213216" cy="213221"/>
          </a:xfrm>
          <a:prstGeom prst="rect">
            <a:avLst/>
          </a:prstGeom>
        </p:spPr>
      </p:pic>
      <p:sp>
        <p:nvSpPr>
          <p:cNvPr id="7" name="Text 4"/>
          <p:cNvSpPr/>
          <p:nvPr/>
        </p:nvSpPr>
        <p:spPr>
          <a:xfrm>
            <a:off x="796211" y="3293963"/>
            <a:ext cx="3208654"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Potentially Edible</a:t>
            </a:r>
            <a:endParaRPr lang="en-US" sz="1600" dirty="0"/>
          </a:p>
        </p:txBody>
      </p:sp>
      <p:sp>
        <p:nvSpPr>
          <p:cNvPr id="8" name="Text 5"/>
          <p:cNvSpPr/>
          <p:nvPr/>
        </p:nvSpPr>
        <p:spPr>
          <a:xfrm>
            <a:off x="796211" y="3648472"/>
            <a:ext cx="3208654"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Analysis suggests the material may be safe for consumption, supported by biological context</a:t>
            </a:r>
            <a:endParaRPr lang="en-US" sz="1200" dirty="0"/>
          </a:p>
        </p:txBody>
      </p:sp>
      <p:sp>
        <p:nvSpPr>
          <p:cNvPr id="9" name="Shape 6"/>
          <p:cNvSpPr/>
          <p:nvPr/>
        </p:nvSpPr>
        <p:spPr>
          <a:xfrm>
            <a:off x="4327119" y="2497832"/>
            <a:ext cx="3537358" cy="2585541"/>
          </a:xfrm>
          <a:prstGeom prst="roundRect">
            <a:avLst>
              <a:gd name="adj" fmla="val 2566"/>
            </a:avLst>
          </a:prstGeom>
          <a:solidFill>
            <a:srgbClr val="740B0B"/>
          </a:solidFill>
          <a:ln w="6350">
            <a:solidFill>
              <a:srgbClr val="8D2424"/>
            </a:solidFill>
            <a:prstDash val="solid"/>
          </a:ln>
        </p:spPr>
      </p:sp>
      <p:sp>
        <p:nvSpPr>
          <p:cNvPr id="10" name="Shape 7"/>
          <p:cNvSpPr/>
          <p:nvPr/>
        </p:nvSpPr>
        <p:spPr>
          <a:xfrm>
            <a:off x="4491421" y="2662138"/>
            <a:ext cx="473857" cy="473869"/>
          </a:xfrm>
          <a:prstGeom prst="ellipse">
            <a:avLst/>
          </a:prstGeom>
          <a:solidFill>
            <a:srgbClr val="C91313"/>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1692" y="2792413"/>
            <a:ext cx="213216" cy="213221"/>
          </a:xfrm>
          <a:prstGeom prst="rect">
            <a:avLst/>
          </a:prstGeom>
        </p:spPr>
      </p:pic>
      <p:sp>
        <p:nvSpPr>
          <p:cNvPr id="12" name="Text 8"/>
          <p:cNvSpPr/>
          <p:nvPr/>
        </p:nvSpPr>
        <p:spPr>
          <a:xfrm>
            <a:off x="4491421" y="3293963"/>
            <a:ext cx="3208753"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Potentially Non-Edible</a:t>
            </a:r>
            <a:endParaRPr lang="en-US" sz="1600" dirty="0"/>
          </a:p>
        </p:txBody>
      </p:sp>
      <p:sp>
        <p:nvSpPr>
          <p:cNvPr id="13" name="Text 9"/>
          <p:cNvSpPr/>
          <p:nvPr/>
        </p:nvSpPr>
        <p:spPr>
          <a:xfrm>
            <a:off x="4491421" y="3648472"/>
            <a:ext cx="3208753"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Analysis raises concerns about safety or suitability for consumption</a:t>
            </a:r>
            <a:endParaRPr lang="en-US" sz="1200" dirty="0"/>
          </a:p>
        </p:txBody>
      </p:sp>
      <p:sp>
        <p:nvSpPr>
          <p:cNvPr id="14" name="Shape 10"/>
          <p:cNvSpPr/>
          <p:nvPr/>
        </p:nvSpPr>
        <p:spPr>
          <a:xfrm>
            <a:off x="8022429" y="2497832"/>
            <a:ext cx="3537258" cy="2585541"/>
          </a:xfrm>
          <a:prstGeom prst="roundRect">
            <a:avLst>
              <a:gd name="adj" fmla="val 2566"/>
            </a:avLst>
          </a:prstGeom>
          <a:solidFill>
            <a:srgbClr val="740B0B"/>
          </a:solidFill>
          <a:ln w="6350">
            <a:solidFill>
              <a:srgbClr val="8D2424"/>
            </a:solidFill>
            <a:prstDash val="solid"/>
          </a:ln>
        </p:spPr>
      </p:sp>
      <p:sp>
        <p:nvSpPr>
          <p:cNvPr id="15" name="Shape 11"/>
          <p:cNvSpPr/>
          <p:nvPr/>
        </p:nvSpPr>
        <p:spPr>
          <a:xfrm>
            <a:off x="8186731" y="2662138"/>
            <a:ext cx="473857" cy="473869"/>
          </a:xfrm>
          <a:prstGeom prst="ellipse">
            <a:avLst/>
          </a:prstGeom>
          <a:solidFill>
            <a:srgbClr val="C91313"/>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17002" y="2792413"/>
            <a:ext cx="213216" cy="213221"/>
          </a:xfrm>
          <a:prstGeom prst="rect">
            <a:avLst/>
          </a:prstGeom>
        </p:spPr>
      </p:pic>
      <p:sp>
        <p:nvSpPr>
          <p:cNvPr id="17" name="Text 12"/>
          <p:cNvSpPr/>
          <p:nvPr/>
        </p:nvSpPr>
        <p:spPr>
          <a:xfrm>
            <a:off x="8186731" y="3293963"/>
            <a:ext cx="3208654" cy="519509"/>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Uncertain — Verification Required</a:t>
            </a:r>
            <a:endParaRPr lang="en-US" sz="1600" dirty="0"/>
          </a:p>
        </p:txBody>
      </p:sp>
      <p:sp>
        <p:nvSpPr>
          <p:cNvPr id="18" name="Text 13"/>
          <p:cNvSpPr/>
          <p:nvPr/>
        </p:nvSpPr>
        <p:spPr>
          <a:xfrm>
            <a:off x="8186731" y="3908227"/>
            <a:ext cx="3208654" cy="1010841"/>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Image alone cannot establish food safety; scientific value comes from combining visual analysis with biological context and supporting evidence</a:t>
            </a:r>
            <a:endParaRPr lang="en-US" sz="1200" dirty="0"/>
          </a:p>
        </p:txBody>
      </p:sp>
      <p:sp>
        <p:nvSpPr>
          <p:cNvPr id="19" name="Shape 14"/>
          <p:cNvSpPr/>
          <p:nvPr/>
        </p:nvSpPr>
        <p:spPr>
          <a:xfrm>
            <a:off x="631908" y="5261074"/>
            <a:ext cx="10927878" cy="884535"/>
          </a:xfrm>
          <a:prstGeom prst="roundRect">
            <a:avLst>
              <a:gd name="adj" fmla="val 7501"/>
            </a:avLst>
          </a:prstGeom>
          <a:solidFill>
            <a:srgbClr val="740B0B"/>
          </a:solidFill>
          <a:ln/>
        </p:spPr>
      </p:sp>
      <p:pic>
        <p:nvPicPr>
          <p:cNvPr id="20" name="Image 3" descr="preencoded.png"/>
          <p:cNvPicPr>
            <a:picLocks noChangeAspect="1"/>
          </p:cNvPicPr>
          <p:nvPr/>
        </p:nvPicPr>
        <p:blipFill>
          <a:blip r:embed="rId6"/>
          <a:stretch>
            <a:fillRect/>
          </a:stretch>
        </p:blipFill>
        <p:spPr>
          <a:xfrm>
            <a:off x="789861" y="5485408"/>
            <a:ext cx="197440" cy="157956"/>
          </a:xfrm>
          <a:prstGeom prst="rect">
            <a:avLst/>
          </a:prstGeom>
        </p:spPr>
      </p:pic>
      <p:sp>
        <p:nvSpPr>
          <p:cNvPr id="21" name="Text 15"/>
          <p:cNvSpPr/>
          <p:nvPr/>
        </p:nvSpPr>
        <p:spPr>
          <a:xfrm>
            <a:off x="1145253" y="5458520"/>
            <a:ext cx="10256581"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FFFF"/>
                </a:solidFill>
                <a:latin typeface="DM Sans" pitchFamily="34" charset="0"/>
                <a:ea typeface="DM Sans" pitchFamily="34" charset="-122"/>
                <a:cs typeface="DM Sans" pitchFamily="34" charset="-120"/>
              </a:rPr>
              <a:t>The platform </a:t>
            </a:r>
            <a:r>
              <a:rPr lang="en-US" sz="1200" b="1" dirty="0">
                <a:solidFill>
                  <a:srgbClr val="FFFFFF"/>
                </a:solidFill>
                <a:latin typeface="DM Sans Bold" pitchFamily="34" charset="0"/>
                <a:ea typeface="DM Sans Bold" pitchFamily="34" charset="-122"/>
                <a:cs typeface="DM Sans Bold" pitchFamily="34" charset="-120"/>
              </a:rPr>
              <a:t>preserves uncertainty</a:t>
            </a:r>
            <a:r>
              <a:rPr lang="en-US" sz="1200" dirty="0">
                <a:solidFill>
                  <a:srgbClr val="FFFFFF"/>
                </a:solidFill>
                <a:latin typeface="DM Sans" pitchFamily="34" charset="0"/>
                <a:ea typeface="DM Sans" pitchFamily="34" charset="-122"/>
                <a:cs typeface="DM Sans" pitchFamily="34" charset="-120"/>
              </a:rPr>
              <a:t> because an image alone cannot establish food safety. The scientific value comes from combining visual analysis with biological context and supporting evidence.</a:t>
            </a:r>
            <a:endParaRPr lang="en-US" sz="1200" dirty="0"/>
          </a:p>
        </p:txBody>
      </p:sp>
      <p:sp>
        <p:nvSpPr>
          <p:cNvPr id="23" name="Rectangle: Rounded Corners 22">
            <a:extLst>
              <a:ext uri="{FF2B5EF4-FFF2-40B4-BE49-F238E27FC236}">
                <a16:creationId xmlns:a16="http://schemas.microsoft.com/office/drawing/2014/main" id="{78E5253E-6F0F-9484-D17C-71BC391C000C}"/>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597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31908" y="1575197"/>
            <a:ext cx="681120" cy="240010"/>
          </a:xfrm>
          <a:prstGeom prst="roundRect">
            <a:avLst>
              <a:gd name="adj" fmla="val 22116"/>
            </a:avLst>
          </a:prstGeom>
          <a:solidFill>
            <a:srgbClr val="460707"/>
          </a:solidFill>
          <a:ln/>
        </p:spPr>
      </p:sp>
      <p:sp>
        <p:nvSpPr>
          <p:cNvPr id="3" name="Text 1"/>
          <p:cNvSpPr/>
          <p:nvPr/>
        </p:nvSpPr>
        <p:spPr>
          <a:xfrm>
            <a:off x="726660" y="1622524"/>
            <a:ext cx="1101201" cy="145355"/>
          </a:xfrm>
          <a:prstGeom prst="rect">
            <a:avLst/>
          </a:prstGeom>
          <a:noFill/>
          <a:ln/>
        </p:spPr>
        <p:txBody>
          <a:bodyPr wrap="none" lIns="0" tIns="0" rIns="0" bIns="0" rtlCol="0" anchor="t"/>
          <a:lstStyle/>
          <a:p>
            <a:pPr marL="0" indent="0" algn="l">
              <a:lnSpc>
                <a:spcPct val="96000"/>
              </a:lnSpc>
              <a:buNone/>
            </a:pPr>
            <a:r>
              <a:rPr lang="en-US" sz="950" dirty="0">
                <a:solidFill>
                  <a:srgbClr val="FFE5E5"/>
                </a:solidFill>
                <a:latin typeface="DM Sans" pitchFamily="34" charset="0"/>
                <a:ea typeface="DM Sans" pitchFamily="34" charset="-122"/>
                <a:cs typeface="DM Sans" pitchFamily="34" charset="-120"/>
              </a:rPr>
              <a:t>DOMAIN</a:t>
            </a:r>
            <a:endParaRPr lang="en-US" sz="950" dirty="0"/>
          </a:p>
        </p:txBody>
      </p:sp>
      <p:sp>
        <p:nvSpPr>
          <p:cNvPr id="4" name="Text 2"/>
          <p:cNvSpPr/>
          <p:nvPr/>
        </p:nvSpPr>
        <p:spPr>
          <a:xfrm>
            <a:off x="631908" y="1878310"/>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Education Domain</a:t>
            </a:r>
            <a:endParaRPr lang="en-US" sz="3250" dirty="0"/>
          </a:p>
        </p:txBody>
      </p:sp>
      <p:sp>
        <p:nvSpPr>
          <p:cNvPr id="5" name="Text 3"/>
          <p:cNvSpPr/>
          <p:nvPr/>
        </p:nvSpPr>
        <p:spPr>
          <a:xfrm>
            <a:off x="631908" y="2634853"/>
            <a:ext cx="10927878"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Education transforms CureVerseAI's scientific intelligence into interactive learning experiences. Instead of presenting complex biological knowledge only as static text, the platform uses a variety of formats to make biology easier to explore and understand.</a:t>
            </a:r>
            <a:endParaRPr lang="en-US" sz="12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3317974"/>
            <a:ext cx="394881" cy="394891"/>
          </a:xfrm>
          <a:prstGeom prst="rect">
            <a:avLst/>
          </a:prstGeom>
        </p:spPr>
      </p:pic>
      <p:sp>
        <p:nvSpPr>
          <p:cNvPr id="7" name="Text 4"/>
          <p:cNvSpPr/>
          <p:nvPr/>
        </p:nvSpPr>
        <p:spPr>
          <a:xfrm>
            <a:off x="631908" y="3910310"/>
            <a:ext cx="3510966" cy="519509"/>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Articles, Videos &amp; References</a:t>
            </a:r>
            <a:endParaRPr lang="en-US" sz="1600" dirty="0"/>
          </a:p>
        </p:txBody>
      </p:sp>
      <p:sp>
        <p:nvSpPr>
          <p:cNvPr id="8" name="Text 5"/>
          <p:cNvSpPr/>
          <p:nvPr/>
        </p:nvSpPr>
        <p:spPr>
          <a:xfrm>
            <a:off x="631908" y="4524573"/>
            <a:ext cx="3510966"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Curated scientific content including articles, videos, books, and references — structured for progressive learning.</a:t>
            </a:r>
            <a:endParaRPr lang="en-US" sz="12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40315" y="3317974"/>
            <a:ext cx="394881" cy="394891"/>
          </a:xfrm>
          <a:prstGeom prst="rect">
            <a:avLst/>
          </a:prstGeom>
        </p:spPr>
      </p:pic>
      <p:sp>
        <p:nvSpPr>
          <p:cNvPr id="10" name="Text 6"/>
          <p:cNvSpPr/>
          <p:nvPr/>
        </p:nvSpPr>
        <p:spPr>
          <a:xfrm>
            <a:off x="4340315" y="3910310"/>
            <a:ext cx="3510966"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AI-Assisted Conversation</a:t>
            </a:r>
            <a:endParaRPr lang="en-US" sz="1600" dirty="0"/>
          </a:p>
        </p:txBody>
      </p:sp>
      <p:sp>
        <p:nvSpPr>
          <p:cNvPr id="11" name="Text 7"/>
          <p:cNvSpPr/>
          <p:nvPr/>
        </p:nvSpPr>
        <p:spPr>
          <a:xfrm>
            <a:off x="4340315" y="4264819"/>
            <a:ext cx="3510966"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Interactive dialogue that helps learners explore complex biological concepts at their own pace.</a:t>
            </a:r>
            <a:endParaRPr lang="en-US" sz="12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8721" y="3317974"/>
            <a:ext cx="394881" cy="394891"/>
          </a:xfrm>
          <a:prstGeom prst="rect">
            <a:avLst/>
          </a:prstGeom>
        </p:spPr>
      </p:pic>
      <p:sp>
        <p:nvSpPr>
          <p:cNvPr id="13" name="Text 8"/>
          <p:cNvSpPr/>
          <p:nvPr/>
        </p:nvSpPr>
        <p:spPr>
          <a:xfrm>
            <a:off x="8048721" y="3910310"/>
            <a:ext cx="3511065"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Visual Explanations</a:t>
            </a:r>
            <a:endParaRPr lang="en-US" sz="1600" dirty="0"/>
          </a:p>
        </p:txBody>
      </p:sp>
      <p:sp>
        <p:nvSpPr>
          <p:cNvPr id="14" name="Text 9"/>
          <p:cNvSpPr/>
          <p:nvPr/>
        </p:nvSpPr>
        <p:spPr>
          <a:xfrm>
            <a:off x="8048721" y="4264819"/>
            <a:ext cx="3511065"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Visual explanations and structured learning workflows that make biological mechanisms easier to explore and understand.</a:t>
            </a:r>
            <a:endParaRPr lang="en-US" sz="1200" dirty="0"/>
          </a:p>
        </p:txBody>
      </p:sp>
      <p:sp>
        <p:nvSpPr>
          <p:cNvPr id="16" name="Rectangle: Rounded Corners 15">
            <a:extLst>
              <a:ext uri="{FF2B5EF4-FFF2-40B4-BE49-F238E27FC236}">
                <a16:creationId xmlns:a16="http://schemas.microsoft.com/office/drawing/2014/main" id="{88AE3100-7815-6F85-7B4A-B688C606BDD6}"/>
              </a:ext>
            </a:extLst>
          </p:cNvPr>
          <p:cNvSpPr/>
          <p:nvPr/>
        </p:nvSpPr>
        <p:spPr>
          <a:xfrm>
            <a:off x="10473618" y="6524446"/>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359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31908" y="434380"/>
            <a:ext cx="726164" cy="119856"/>
          </a:xfrm>
          <a:prstGeom prst="roundRect">
            <a:avLst>
              <a:gd name="adj" fmla="val 22144"/>
            </a:avLst>
          </a:prstGeom>
          <a:solidFill>
            <a:srgbClr val="460707"/>
          </a:solidFill>
          <a:ln/>
        </p:spPr>
      </p:sp>
      <p:sp>
        <p:nvSpPr>
          <p:cNvPr id="3" name="Text 1"/>
          <p:cNvSpPr/>
          <p:nvPr/>
        </p:nvSpPr>
        <p:spPr>
          <a:xfrm>
            <a:off x="679235" y="457994"/>
            <a:ext cx="1241096" cy="72628"/>
          </a:xfrm>
          <a:prstGeom prst="rect">
            <a:avLst/>
          </a:prstGeom>
          <a:noFill/>
          <a:ln/>
        </p:spPr>
        <p:txBody>
          <a:bodyPr wrap="none" lIns="0" tIns="0" rIns="0" bIns="0" rtlCol="0" anchor="t"/>
          <a:lstStyle/>
          <a:p>
            <a:pPr marL="0" indent="0" algn="l">
              <a:lnSpc>
                <a:spcPct val="96000"/>
              </a:lnSpc>
              <a:buNone/>
            </a:pPr>
            <a:r>
              <a:rPr lang="en-US" sz="450" dirty="0">
                <a:solidFill>
                  <a:srgbClr val="FFE5E5"/>
                </a:solidFill>
                <a:latin typeface="DM Sans" pitchFamily="34" charset="0"/>
                <a:ea typeface="DM Sans" pitchFamily="34" charset="-122"/>
                <a:cs typeface="DM Sans" pitchFamily="34" charset="-120"/>
              </a:rPr>
              <a:t>CORE ARCHITECTURE</a:t>
            </a:r>
            <a:endParaRPr lang="en-US" sz="450" dirty="0"/>
          </a:p>
        </p:txBody>
      </p:sp>
      <p:sp>
        <p:nvSpPr>
          <p:cNvPr id="4" name="Text 2"/>
          <p:cNvSpPr/>
          <p:nvPr/>
        </p:nvSpPr>
        <p:spPr>
          <a:xfrm>
            <a:off x="631908" y="570012"/>
            <a:ext cx="10927878" cy="259755"/>
          </a:xfrm>
          <a:prstGeom prst="rect">
            <a:avLst/>
          </a:prstGeom>
          <a:noFill/>
          <a:ln/>
        </p:spPr>
        <p:txBody>
          <a:bodyPr wrap="none" lIns="0" tIns="0" rIns="0" bIns="0" rtlCol="0" anchor="t"/>
          <a:lstStyle/>
          <a:p>
            <a:pPr marL="0" indent="0" algn="l">
              <a:lnSpc>
                <a:spcPct val="104000"/>
              </a:lnSpc>
              <a:buNone/>
            </a:pPr>
            <a:r>
              <a:rPr lang="en-US" sz="2000" dirty="0">
                <a:solidFill>
                  <a:srgbClr val="FAEBEB"/>
                </a:solidFill>
                <a:latin typeface="Arial Black"/>
                <a:ea typeface="Dela Gothic One"/>
                <a:cs typeface="Dela Gothic One" pitchFamily="34" charset="-120"/>
              </a:rPr>
              <a:t>Cross-Domain Intelligence</a:t>
            </a:r>
            <a:endParaRPr lang="en-US" sz="2000">
              <a:latin typeface="Arial Black"/>
              <a:ea typeface="Dela Gothic One"/>
              <a:cs typeface="Calibri"/>
            </a:endParaRPr>
          </a:p>
        </p:txBody>
      </p:sp>
      <p:pic>
        <p:nvPicPr>
          <p:cNvPr id="6" name="Image 0" descr="preencoded.png"/>
          <p:cNvPicPr>
            <a:picLocks noChangeAspect="1"/>
          </p:cNvPicPr>
          <p:nvPr/>
        </p:nvPicPr>
        <p:blipFill>
          <a:blip r:embed="rId3"/>
          <a:stretch>
            <a:fillRect/>
          </a:stretch>
        </p:blipFill>
        <p:spPr>
          <a:xfrm>
            <a:off x="631908" y="1122859"/>
            <a:ext cx="9753356" cy="5486400"/>
          </a:xfrm>
          <a:prstGeom prst="rect">
            <a:avLst/>
          </a:prstGeom>
        </p:spPr>
      </p:pic>
      <p:sp>
        <p:nvSpPr>
          <p:cNvPr id="7" name="Rectangle: Rounded Corners 6">
            <a:extLst>
              <a:ext uri="{FF2B5EF4-FFF2-40B4-BE49-F238E27FC236}">
                <a16:creationId xmlns:a16="http://schemas.microsoft.com/office/drawing/2014/main" id="{862AFFC7-8260-8C7E-6666-17C22D24B926}"/>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894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31908" y="1007368"/>
            <a:ext cx="1617225" cy="240010"/>
          </a:xfrm>
          <a:prstGeom prst="roundRect">
            <a:avLst>
              <a:gd name="adj" fmla="val 22116"/>
            </a:avLst>
          </a:prstGeom>
          <a:noFill/>
          <a:ln w="6350">
            <a:solidFill>
              <a:srgbClr val="C91313"/>
            </a:solidFill>
            <a:prstDash val="solid"/>
          </a:ln>
        </p:spPr>
      </p:sp>
      <p:sp>
        <p:nvSpPr>
          <p:cNvPr id="3" name="Text 1"/>
          <p:cNvSpPr/>
          <p:nvPr/>
        </p:nvSpPr>
        <p:spPr>
          <a:xfrm>
            <a:off x="726660" y="1054695"/>
            <a:ext cx="2037307" cy="145355"/>
          </a:xfrm>
          <a:prstGeom prst="rect">
            <a:avLst/>
          </a:prstGeom>
          <a:noFill/>
          <a:ln/>
        </p:spPr>
        <p:txBody>
          <a:bodyPr wrap="none" lIns="0" tIns="0" rIns="0" bIns="0" rtlCol="0" anchor="t"/>
          <a:lstStyle/>
          <a:p>
            <a:pPr marL="0" indent="0" algn="l">
              <a:lnSpc>
                <a:spcPct val="96000"/>
              </a:lnSpc>
              <a:buNone/>
            </a:pPr>
            <a:r>
              <a:rPr lang="en-US" sz="950" dirty="0">
                <a:solidFill>
                  <a:srgbClr val="C91313"/>
                </a:solidFill>
                <a:latin typeface="DM Sans" pitchFamily="34" charset="0"/>
                <a:ea typeface="DM Sans" pitchFamily="34" charset="-122"/>
                <a:cs typeface="DM Sans" pitchFamily="34" charset="-120"/>
              </a:rPr>
              <a:t>END-TO-END SCENARIO</a:t>
            </a:r>
            <a:endParaRPr lang="en-US" sz="950" dirty="0"/>
          </a:p>
        </p:txBody>
      </p:sp>
      <p:sp>
        <p:nvSpPr>
          <p:cNvPr id="4" name="Text 2"/>
          <p:cNvSpPr/>
          <p:nvPr/>
        </p:nvSpPr>
        <p:spPr>
          <a:xfrm>
            <a:off x="631908" y="1310481"/>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A Complete Scientific Journey</a:t>
            </a:r>
            <a:endParaRPr lang="en-US" sz="3250" dirty="0"/>
          </a:p>
        </p:txBody>
      </p:sp>
      <p:sp>
        <p:nvSpPr>
          <p:cNvPr id="5" name="Text 3"/>
          <p:cNvSpPr/>
          <p:nvPr/>
        </p:nvSpPr>
        <p:spPr>
          <a:xfrm>
            <a:off x="631908" y="2067024"/>
            <a:ext cx="10927878" cy="1010841"/>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A complete scenario can begin with a biological material in Biotechnology and flow through every domain of the platform. The material can be explored for anatomy and compounds, a compound can be connected to a target and pathway, Research can investigate supporting evidence, Drug Development can organize a therapeutic hypothesis, Medicine can simulate the intervention in a Virtual Cell, and Education can turn the mechanism into an interactive explanation.</a:t>
            </a:r>
            <a:endParaRPr lang="en-US" sz="1200" dirty="0"/>
          </a:p>
        </p:txBody>
      </p:sp>
      <p:sp>
        <p:nvSpPr>
          <p:cNvPr id="6" name="Text 4"/>
          <p:cNvSpPr/>
          <p:nvPr/>
        </p:nvSpPr>
        <p:spPr>
          <a:xfrm>
            <a:off x="631908" y="3255566"/>
            <a:ext cx="315905" cy="197445"/>
          </a:xfrm>
          <a:prstGeom prst="rect">
            <a:avLst/>
          </a:prstGeom>
          <a:noFill/>
          <a:ln/>
        </p:spPr>
        <p:txBody>
          <a:bodyPr wrap="none" lIns="0" tIns="0" rIns="0" bIns="0" rtlCol="0" anchor="ctr"/>
          <a:lstStyle/>
          <a:p>
            <a:pPr marL="0" indent="0" algn="l">
              <a:lnSpc>
                <a:spcPct val="100000"/>
              </a:lnSpc>
              <a:buNone/>
            </a:pPr>
            <a:r>
              <a:rPr lang="en-US" sz="1200" dirty="0">
                <a:solidFill>
                  <a:srgbClr val="FFE5E5"/>
                </a:solidFill>
                <a:latin typeface="Dela Gothic One" pitchFamily="34" charset="0"/>
                <a:ea typeface="Dela Gothic One" pitchFamily="34" charset="-122"/>
                <a:cs typeface="Dela Gothic One" pitchFamily="34" charset="-120"/>
              </a:rPr>
              <a:t>01</a:t>
            </a:r>
            <a:endParaRPr lang="en-US" sz="1200" dirty="0"/>
          </a:p>
        </p:txBody>
      </p:sp>
      <p:sp>
        <p:nvSpPr>
          <p:cNvPr id="7" name="Shape 5"/>
          <p:cNvSpPr/>
          <p:nvPr/>
        </p:nvSpPr>
        <p:spPr>
          <a:xfrm>
            <a:off x="631908" y="3505002"/>
            <a:ext cx="3537258" cy="19050"/>
          </a:xfrm>
          <a:prstGeom prst="rect">
            <a:avLst/>
          </a:prstGeom>
          <a:solidFill>
            <a:srgbClr val="C91313"/>
          </a:solidFill>
          <a:ln/>
        </p:spPr>
      </p:sp>
      <p:sp>
        <p:nvSpPr>
          <p:cNvPr id="8" name="Text 6"/>
          <p:cNvSpPr/>
          <p:nvPr/>
        </p:nvSpPr>
        <p:spPr>
          <a:xfrm>
            <a:off x="631908" y="3622080"/>
            <a:ext cx="3537258"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Biotechnology</a:t>
            </a:r>
            <a:endParaRPr lang="en-US" sz="1600" dirty="0"/>
          </a:p>
        </p:txBody>
      </p:sp>
      <p:sp>
        <p:nvSpPr>
          <p:cNvPr id="9" name="Text 7"/>
          <p:cNvSpPr/>
          <p:nvPr/>
        </p:nvSpPr>
        <p:spPr>
          <a:xfrm>
            <a:off x="631908" y="3976588"/>
            <a:ext cx="3537258"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Explore biological material for anatomy and compounds</a:t>
            </a:r>
            <a:endParaRPr lang="en-US" sz="1200" dirty="0"/>
          </a:p>
        </p:txBody>
      </p:sp>
      <p:sp>
        <p:nvSpPr>
          <p:cNvPr id="10" name="Text 8"/>
          <p:cNvSpPr/>
          <p:nvPr/>
        </p:nvSpPr>
        <p:spPr>
          <a:xfrm>
            <a:off x="4327119" y="3255566"/>
            <a:ext cx="315905" cy="197445"/>
          </a:xfrm>
          <a:prstGeom prst="rect">
            <a:avLst/>
          </a:prstGeom>
          <a:noFill/>
          <a:ln/>
        </p:spPr>
        <p:txBody>
          <a:bodyPr wrap="none" lIns="0" tIns="0" rIns="0" bIns="0" rtlCol="0" anchor="ctr"/>
          <a:lstStyle/>
          <a:p>
            <a:pPr marL="0" indent="0" algn="l">
              <a:lnSpc>
                <a:spcPct val="100000"/>
              </a:lnSpc>
              <a:buNone/>
            </a:pPr>
            <a:r>
              <a:rPr lang="en-US" sz="1200" dirty="0">
                <a:solidFill>
                  <a:srgbClr val="FFE5E5"/>
                </a:solidFill>
                <a:latin typeface="Dela Gothic One" pitchFamily="34" charset="0"/>
                <a:ea typeface="Dela Gothic One" pitchFamily="34" charset="-122"/>
                <a:cs typeface="Dela Gothic One" pitchFamily="34" charset="-120"/>
              </a:rPr>
              <a:t>02</a:t>
            </a:r>
            <a:endParaRPr lang="en-US" sz="1200" dirty="0"/>
          </a:p>
        </p:txBody>
      </p:sp>
      <p:sp>
        <p:nvSpPr>
          <p:cNvPr id="11" name="Shape 9"/>
          <p:cNvSpPr/>
          <p:nvPr/>
        </p:nvSpPr>
        <p:spPr>
          <a:xfrm>
            <a:off x="4327119" y="3505002"/>
            <a:ext cx="3537358" cy="19050"/>
          </a:xfrm>
          <a:prstGeom prst="rect">
            <a:avLst/>
          </a:prstGeom>
          <a:solidFill>
            <a:srgbClr val="C91313"/>
          </a:solidFill>
          <a:ln/>
        </p:spPr>
      </p:sp>
      <p:sp>
        <p:nvSpPr>
          <p:cNvPr id="12" name="Text 10"/>
          <p:cNvSpPr/>
          <p:nvPr/>
        </p:nvSpPr>
        <p:spPr>
          <a:xfrm>
            <a:off x="4327119" y="3622080"/>
            <a:ext cx="3537358"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Research</a:t>
            </a:r>
            <a:endParaRPr lang="en-US" sz="1600" dirty="0"/>
          </a:p>
        </p:txBody>
      </p:sp>
      <p:sp>
        <p:nvSpPr>
          <p:cNvPr id="13" name="Text 11"/>
          <p:cNvSpPr/>
          <p:nvPr/>
        </p:nvSpPr>
        <p:spPr>
          <a:xfrm>
            <a:off x="4327119" y="3976588"/>
            <a:ext cx="3537358"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Connect compound to target and pathway; investigate supporting evidence</a:t>
            </a:r>
            <a:endParaRPr lang="en-US" sz="1200" dirty="0"/>
          </a:p>
        </p:txBody>
      </p:sp>
      <p:sp>
        <p:nvSpPr>
          <p:cNvPr id="14" name="Text 12"/>
          <p:cNvSpPr/>
          <p:nvPr/>
        </p:nvSpPr>
        <p:spPr>
          <a:xfrm>
            <a:off x="8022429" y="3255566"/>
            <a:ext cx="315905" cy="197445"/>
          </a:xfrm>
          <a:prstGeom prst="rect">
            <a:avLst/>
          </a:prstGeom>
          <a:noFill/>
          <a:ln/>
        </p:spPr>
        <p:txBody>
          <a:bodyPr wrap="none" lIns="0" tIns="0" rIns="0" bIns="0" rtlCol="0" anchor="ctr"/>
          <a:lstStyle/>
          <a:p>
            <a:pPr marL="0" indent="0" algn="l">
              <a:lnSpc>
                <a:spcPct val="100000"/>
              </a:lnSpc>
              <a:buNone/>
            </a:pPr>
            <a:r>
              <a:rPr lang="en-US" sz="1200" dirty="0">
                <a:solidFill>
                  <a:srgbClr val="FFE5E5"/>
                </a:solidFill>
                <a:latin typeface="Dela Gothic One" pitchFamily="34" charset="0"/>
                <a:ea typeface="Dela Gothic One" pitchFamily="34" charset="-122"/>
                <a:cs typeface="Dela Gothic One" pitchFamily="34" charset="-120"/>
              </a:rPr>
              <a:t>03</a:t>
            </a:r>
            <a:endParaRPr lang="en-US" sz="1200" dirty="0"/>
          </a:p>
        </p:txBody>
      </p:sp>
      <p:sp>
        <p:nvSpPr>
          <p:cNvPr id="15" name="Shape 13"/>
          <p:cNvSpPr/>
          <p:nvPr/>
        </p:nvSpPr>
        <p:spPr>
          <a:xfrm>
            <a:off x="8022429" y="3505002"/>
            <a:ext cx="3537258" cy="19050"/>
          </a:xfrm>
          <a:prstGeom prst="rect">
            <a:avLst/>
          </a:prstGeom>
          <a:solidFill>
            <a:srgbClr val="C91313"/>
          </a:solidFill>
          <a:ln/>
        </p:spPr>
      </p:sp>
      <p:sp>
        <p:nvSpPr>
          <p:cNvPr id="16" name="Text 14"/>
          <p:cNvSpPr/>
          <p:nvPr/>
        </p:nvSpPr>
        <p:spPr>
          <a:xfrm>
            <a:off x="8022429" y="3622080"/>
            <a:ext cx="3537258"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Drug Development</a:t>
            </a:r>
            <a:endParaRPr lang="en-US" sz="1600" dirty="0"/>
          </a:p>
        </p:txBody>
      </p:sp>
      <p:sp>
        <p:nvSpPr>
          <p:cNvPr id="17" name="Text 15"/>
          <p:cNvSpPr/>
          <p:nvPr/>
        </p:nvSpPr>
        <p:spPr>
          <a:xfrm>
            <a:off x="8022429" y="3976588"/>
            <a:ext cx="3537258"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Organize a therapeutic hypothesis</a:t>
            </a:r>
            <a:endParaRPr lang="en-US" sz="1200" dirty="0"/>
          </a:p>
        </p:txBody>
      </p:sp>
      <p:sp>
        <p:nvSpPr>
          <p:cNvPr id="18" name="Text 16"/>
          <p:cNvSpPr/>
          <p:nvPr/>
        </p:nvSpPr>
        <p:spPr>
          <a:xfrm>
            <a:off x="631908" y="4758432"/>
            <a:ext cx="315905" cy="197445"/>
          </a:xfrm>
          <a:prstGeom prst="rect">
            <a:avLst/>
          </a:prstGeom>
          <a:noFill/>
          <a:ln/>
        </p:spPr>
        <p:txBody>
          <a:bodyPr wrap="none" lIns="0" tIns="0" rIns="0" bIns="0" rtlCol="0" anchor="ctr"/>
          <a:lstStyle/>
          <a:p>
            <a:pPr marL="0" indent="0" algn="l">
              <a:lnSpc>
                <a:spcPct val="100000"/>
              </a:lnSpc>
              <a:buNone/>
            </a:pPr>
            <a:r>
              <a:rPr lang="en-US" sz="1200" dirty="0">
                <a:solidFill>
                  <a:srgbClr val="FFE5E5"/>
                </a:solidFill>
                <a:latin typeface="Dela Gothic One" pitchFamily="34" charset="0"/>
                <a:ea typeface="Dela Gothic One" pitchFamily="34" charset="-122"/>
                <a:cs typeface="Dela Gothic One" pitchFamily="34" charset="-120"/>
              </a:rPr>
              <a:t>04</a:t>
            </a:r>
            <a:endParaRPr lang="en-US" sz="1200" dirty="0"/>
          </a:p>
        </p:txBody>
      </p:sp>
      <p:sp>
        <p:nvSpPr>
          <p:cNvPr id="19" name="Shape 17"/>
          <p:cNvSpPr/>
          <p:nvPr/>
        </p:nvSpPr>
        <p:spPr>
          <a:xfrm>
            <a:off x="631908" y="5007868"/>
            <a:ext cx="5384864" cy="19050"/>
          </a:xfrm>
          <a:prstGeom prst="rect">
            <a:avLst/>
          </a:prstGeom>
          <a:solidFill>
            <a:srgbClr val="C91313"/>
          </a:solidFill>
          <a:ln/>
        </p:spPr>
      </p:sp>
      <p:sp>
        <p:nvSpPr>
          <p:cNvPr id="20" name="Text 18"/>
          <p:cNvSpPr/>
          <p:nvPr/>
        </p:nvSpPr>
        <p:spPr>
          <a:xfrm>
            <a:off x="631908" y="5124946"/>
            <a:ext cx="5384864"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Medicine</a:t>
            </a:r>
            <a:endParaRPr lang="en-US" sz="1600" dirty="0"/>
          </a:p>
        </p:txBody>
      </p:sp>
      <p:sp>
        <p:nvSpPr>
          <p:cNvPr id="21" name="Text 19"/>
          <p:cNvSpPr/>
          <p:nvPr/>
        </p:nvSpPr>
        <p:spPr>
          <a:xfrm>
            <a:off x="631908" y="5479455"/>
            <a:ext cx="5384864"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Simulate the intervention in a Virtual Cell</a:t>
            </a:r>
            <a:endParaRPr lang="en-US" sz="1200" dirty="0"/>
          </a:p>
        </p:txBody>
      </p:sp>
      <p:sp>
        <p:nvSpPr>
          <p:cNvPr id="22" name="Text 20"/>
          <p:cNvSpPr/>
          <p:nvPr/>
        </p:nvSpPr>
        <p:spPr>
          <a:xfrm>
            <a:off x="6174724" y="4758432"/>
            <a:ext cx="315905" cy="197445"/>
          </a:xfrm>
          <a:prstGeom prst="rect">
            <a:avLst/>
          </a:prstGeom>
          <a:noFill/>
          <a:ln/>
        </p:spPr>
        <p:txBody>
          <a:bodyPr wrap="none" lIns="0" tIns="0" rIns="0" bIns="0" rtlCol="0" anchor="ctr"/>
          <a:lstStyle/>
          <a:p>
            <a:pPr marL="0" indent="0" algn="l">
              <a:lnSpc>
                <a:spcPct val="100000"/>
              </a:lnSpc>
              <a:buNone/>
            </a:pPr>
            <a:r>
              <a:rPr lang="en-US" sz="1200" dirty="0">
                <a:solidFill>
                  <a:srgbClr val="FFE5E5"/>
                </a:solidFill>
                <a:latin typeface="Dela Gothic One" pitchFamily="34" charset="0"/>
                <a:ea typeface="Dela Gothic One" pitchFamily="34" charset="-122"/>
                <a:cs typeface="Dela Gothic One" pitchFamily="34" charset="-120"/>
              </a:rPr>
              <a:t>05</a:t>
            </a:r>
            <a:endParaRPr lang="en-US" sz="1200" dirty="0"/>
          </a:p>
        </p:txBody>
      </p:sp>
      <p:sp>
        <p:nvSpPr>
          <p:cNvPr id="23" name="Shape 21"/>
          <p:cNvSpPr/>
          <p:nvPr/>
        </p:nvSpPr>
        <p:spPr>
          <a:xfrm>
            <a:off x="6174724" y="5007868"/>
            <a:ext cx="5384963" cy="19050"/>
          </a:xfrm>
          <a:prstGeom prst="rect">
            <a:avLst/>
          </a:prstGeom>
          <a:solidFill>
            <a:srgbClr val="C91313"/>
          </a:solidFill>
          <a:ln/>
        </p:spPr>
      </p:sp>
      <p:sp>
        <p:nvSpPr>
          <p:cNvPr id="24" name="Text 22"/>
          <p:cNvSpPr/>
          <p:nvPr/>
        </p:nvSpPr>
        <p:spPr>
          <a:xfrm>
            <a:off x="6174724" y="5124946"/>
            <a:ext cx="5384963"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Education</a:t>
            </a:r>
            <a:endParaRPr lang="en-US" sz="1600" dirty="0"/>
          </a:p>
        </p:txBody>
      </p:sp>
      <p:sp>
        <p:nvSpPr>
          <p:cNvPr id="25" name="Text 23"/>
          <p:cNvSpPr/>
          <p:nvPr/>
        </p:nvSpPr>
        <p:spPr>
          <a:xfrm>
            <a:off x="6174724" y="5479455"/>
            <a:ext cx="5384963"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Turn the mechanism into an interactive explanation</a:t>
            </a:r>
            <a:endParaRPr lang="en-US" sz="1200" dirty="0"/>
          </a:p>
        </p:txBody>
      </p:sp>
      <p:sp>
        <p:nvSpPr>
          <p:cNvPr id="27" name="Rectangle: Rounded Corners 26">
            <a:extLst>
              <a:ext uri="{FF2B5EF4-FFF2-40B4-BE49-F238E27FC236}">
                <a16:creationId xmlns:a16="http://schemas.microsoft.com/office/drawing/2014/main" id="{D7DB876F-95BF-C131-442F-B752F7F90E6F}"/>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2570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31908" y="1286570"/>
            <a:ext cx="953568" cy="240010"/>
          </a:xfrm>
          <a:prstGeom prst="roundRect">
            <a:avLst>
              <a:gd name="adj" fmla="val 22116"/>
            </a:avLst>
          </a:prstGeom>
          <a:solidFill>
            <a:srgbClr val="460707"/>
          </a:solidFill>
          <a:ln/>
        </p:spPr>
      </p:sp>
      <p:sp>
        <p:nvSpPr>
          <p:cNvPr id="3" name="Text 1"/>
          <p:cNvSpPr/>
          <p:nvPr/>
        </p:nvSpPr>
        <p:spPr>
          <a:xfrm>
            <a:off x="726660" y="1333897"/>
            <a:ext cx="1373649" cy="145355"/>
          </a:xfrm>
          <a:prstGeom prst="rect">
            <a:avLst/>
          </a:prstGeom>
          <a:noFill/>
          <a:ln/>
        </p:spPr>
        <p:txBody>
          <a:bodyPr wrap="none" lIns="0" tIns="0" rIns="0" bIns="0" rtlCol="0" anchor="t"/>
          <a:lstStyle/>
          <a:p>
            <a:pPr marL="0" indent="0" algn="l">
              <a:lnSpc>
                <a:spcPct val="96000"/>
              </a:lnSpc>
              <a:buNone/>
            </a:pPr>
            <a:r>
              <a:rPr lang="en-US" sz="950" dirty="0">
                <a:solidFill>
                  <a:srgbClr val="FFE5E5"/>
                </a:solidFill>
                <a:latin typeface="DM Sans" pitchFamily="34" charset="0"/>
                <a:ea typeface="DM Sans" pitchFamily="34" charset="-122"/>
                <a:cs typeface="DM Sans" pitchFamily="34" charset="-120"/>
              </a:rPr>
              <a:t>AI + SCIENCE</a:t>
            </a:r>
            <a:endParaRPr lang="en-US" sz="950" dirty="0"/>
          </a:p>
        </p:txBody>
      </p:sp>
      <p:sp>
        <p:nvSpPr>
          <p:cNvPr id="4" name="Text 2"/>
          <p:cNvSpPr/>
          <p:nvPr/>
        </p:nvSpPr>
        <p:spPr>
          <a:xfrm>
            <a:off x="631908" y="1589683"/>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Evidence + AI</a:t>
            </a:r>
            <a:endParaRPr lang="en-US" sz="3250" dirty="0"/>
          </a:p>
        </p:txBody>
      </p:sp>
      <p:sp>
        <p:nvSpPr>
          <p:cNvPr id="5" name="Text 3"/>
          <p:cNvSpPr/>
          <p:nvPr/>
        </p:nvSpPr>
        <p:spPr>
          <a:xfrm>
            <a:off x="631908" y="2346226"/>
            <a:ext cx="10927878"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CureVerseAI combines AI-assisted reasoning with established scientific resources. The architecture includes integrations and intelligence around leading scientific databases, alongside biological knowledge and protein-model capabilities. This approach is intended to keep scientific reasoning connected to evidence and provenance.</a:t>
            </a:r>
            <a:endParaRPr lang="en-US" sz="1200" dirty="0"/>
          </a:p>
        </p:txBody>
      </p:sp>
      <p:sp>
        <p:nvSpPr>
          <p:cNvPr id="6" name="Shape 4"/>
          <p:cNvSpPr/>
          <p:nvPr/>
        </p:nvSpPr>
        <p:spPr>
          <a:xfrm>
            <a:off x="518207" y="3282057"/>
            <a:ext cx="5498665" cy="2289373"/>
          </a:xfrm>
          <a:prstGeom prst="roundRect">
            <a:avLst>
              <a:gd name="adj" fmla="val 4968"/>
            </a:avLst>
          </a:prstGeom>
          <a:solidFill>
            <a:srgbClr val="C91313">
              <a:alpha val="95000"/>
            </a:srgbClr>
          </a:solidFill>
          <a:ln/>
        </p:spPr>
      </p:sp>
      <p:sp>
        <p:nvSpPr>
          <p:cNvPr id="7" name="Text 5"/>
          <p:cNvSpPr/>
          <p:nvPr/>
        </p:nvSpPr>
        <p:spPr>
          <a:xfrm>
            <a:off x="676159" y="3440013"/>
            <a:ext cx="5182760"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AI-Assisted Reasoning</a:t>
            </a:r>
            <a:endParaRPr lang="en-US" sz="1600" dirty="0"/>
          </a:p>
        </p:txBody>
      </p:sp>
      <p:sp>
        <p:nvSpPr>
          <p:cNvPr id="8" name="Text 6"/>
          <p:cNvSpPr/>
          <p:nvPr/>
        </p:nvSpPr>
        <p:spPr>
          <a:xfrm>
            <a:off x="676159" y="3857724"/>
            <a:ext cx="5182760"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FFFF"/>
                </a:solidFill>
                <a:latin typeface="DM Sans" pitchFamily="34" charset="0"/>
                <a:ea typeface="DM Sans" pitchFamily="34" charset="-122"/>
                <a:cs typeface="DM Sans" pitchFamily="34" charset="-120"/>
              </a:rPr>
              <a:t>Biological inference, target analysis, and evidence reasoning powered by AI — grounded in established scientific resources.</a:t>
            </a:r>
            <a:endParaRPr lang="en-US" sz="1200" dirty="0"/>
          </a:p>
        </p:txBody>
      </p:sp>
      <p:sp>
        <p:nvSpPr>
          <p:cNvPr id="9" name="Text 7"/>
          <p:cNvSpPr/>
          <p:nvPr/>
        </p:nvSpPr>
        <p:spPr>
          <a:xfrm>
            <a:off x="6294875" y="3440013"/>
            <a:ext cx="5271261" cy="259755"/>
          </a:xfrm>
          <a:prstGeom prst="rect">
            <a:avLst/>
          </a:prstGeom>
          <a:noFill/>
          <a:ln/>
        </p:spPr>
        <p:txBody>
          <a:bodyPr wrap="none" lIns="0" tIns="0" rIns="0" bIns="0" rtlCol="0" anchor="t"/>
          <a:lstStyle/>
          <a:p>
            <a:pPr marL="0" indent="0" algn="l">
              <a:lnSpc>
                <a:spcPct val="104000"/>
              </a:lnSpc>
              <a:buNone/>
            </a:pPr>
            <a:r>
              <a:rPr lang="en-US" sz="1600" dirty="0">
                <a:solidFill>
                  <a:srgbClr val="FAEBEB"/>
                </a:solidFill>
                <a:latin typeface="Dela Gothic One" pitchFamily="34" charset="0"/>
                <a:ea typeface="Dela Gothic One" pitchFamily="34" charset="-122"/>
                <a:cs typeface="Dela Gothic One" pitchFamily="34" charset="-120"/>
              </a:rPr>
              <a:t>Scientific Resources</a:t>
            </a:r>
            <a:endParaRPr lang="en-US" sz="1600" dirty="0"/>
          </a:p>
        </p:txBody>
      </p:sp>
      <p:sp>
        <p:nvSpPr>
          <p:cNvPr id="10" name="Text 8"/>
          <p:cNvSpPr/>
          <p:nvPr/>
        </p:nvSpPr>
        <p:spPr>
          <a:xfrm>
            <a:off x="6294875" y="3857724"/>
            <a:ext cx="5271261" cy="1176635"/>
          </a:xfrm>
          <a:prstGeom prst="rect">
            <a:avLst/>
          </a:prstGeom>
          <a:noFill/>
          <a:ln/>
        </p:spPr>
        <p:txBody>
          <a:bodyPr wrap="square" lIns="0" tIns="0" rIns="0" bIns="0" rtlCol="0" anchor="t">
            <a:normAutofit/>
          </a:bodyPr>
          <a:lstStyle/>
          <a:p>
            <a:pPr marL="243840" indent="-243840" algn="l">
              <a:lnSpc>
                <a:spcPct val="133000"/>
              </a:lnSpc>
              <a:buSzPct val="100000"/>
              <a:buChar char="•"/>
            </a:pPr>
            <a:r>
              <a:rPr lang="en-US" sz="1200" b="1" dirty="0">
                <a:solidFill>
                  <a:srgbClr val="FFE5E5"/>
                </a:solidFill>
                <a:latin typeface="DM Sans Bold" pitchFamily="34" charset="0"/>
                <a:ea typeface="DM Sans Bold" pitchFamily="34" charset="-122"/>
                <a:cs typeface="DM Sans Bold" pitchFamily="34" charset="-120"/>
              </a:rPr>
              <a:t>Open Targets</a:t>
            </a:r>
            <a:r>
              <a:rPr lang="en-US" sz="1200" dirty="0">
                <a:solidFill>
                  <a:srgbClr val="FFE5E5"/>
                </a:solidFill>
                <a:latin typeface="DM Sans" pitchFamily="34" charset="0"/>
                <a:ea typeface="DM Sans" pitchFamily="34" charset="-122"/>
                <a:cs typeface="DM Sans" pitchFamily="34" charset="-120"/>
              </a:rPr>
              <a:t> — target-disease associations</a:t>
            </a:r>
            <a:endParaRPr lang="en-US" sz="1200" dirty="0"/>
          </a:p>
          <a:p>
            <a:pPr marL="243840" indent="-243840" algn="l">
              <a:lnSpc>
                <a:spcPct val="133000"/>
              </a:lnSpc>
              <a:buSzPct val="100000"/>
              <a:buChar char="•"/>
            </a:pPr>
            <a:r>
              <a:rPr lang="en-US" sz="1200" b="1" dirty="0">
                <a:solidFill>
                  <a:srgbClr val="FFE5E5"/>
                </a:solidFill>
                <a:latin typeface="DM Sans Bold" pitchFamily="34" charset="0"/>
                <a:ea typeface="DM Sans Bold" pitchFamily="34" charset="-122"/>
                <a:cs typeface="DM Sans Bold" pitchFamily="34" charset="-120"/>
              </a:rPr>
              <a:t>ChEMBL</a:t>
            </a:r>
            <a:r>
              <a:rPr lang="en-US" sz="1200" dirty="0">
                <a:solidFill>
                  <a:srgbClr val="FFE5E5"/>
                </a:solidFill>
                <a:latin typeface="DM Sans" pitchFamily="34" charset="0"/>
                <a:ea typeface="DM Sans" pitchFamily="34" charset="-122"/>
                <a:cs typeface="DM Sans" pitchFamily="34" charset="-120"/>
              </a:rPr>
              <a:t> — bioactive compound database</a:t>
            </a:r>
            <a:endParaRPr lang="en-US" sz="1200" dirty="0"/>
          </a:p>
          <a:p>
            <a:pPr marL="243840" indent="-243840" algn="l">
              <a:lnSpc>
                <a:spcPct val="133000"/>
              </a:lnSpc>
              <a:buSzPct val="100000"/>
              <a:buChar char="•"/>
            </a:pPr>
            <a:r>
              <a:rPr lang="en-US" sz="1200" b="1" dirty="0">
                <a:solidFill>
                  <a:srgbClr val="FFE5E5"/>
                </a:solidFill>
                <a:latin typeface="DM Sans Bold" pitchFamily="34" charset="0"/>
                <a:ea typeface="DM Sans Bold" pitchFamily="34" charset="-122"/>
                <a:cs typeface="DM Sans Bold" pitchFamily="34" charset="-120"/>
              </a:rPr>
              <a:t>UniProt</a:t>
            </a:r>
            <a:r>
              <a:rPr lang="en-US" sz="1200" dirty="0">
                <a:solidFill>
                  <a:srgbClr val="FFE5E5"/>
                </a:solidFill>
                <a:latin typeface="DM Sans" pitchFamily="34" charset="0"/>
                <a:ea typeface="DM Sans" pitchFamily="34" charset="-122"/>
                <a:cs typeface="DM Sans" pitchFamily="34" charset="-120"/>
              </a:rPr>
              <a:t> — protein sequence and function</a:t>
            </a:r>
            <a:endParaRPr lang="en-US" sz="1200" dirty="0"/>
          </a:p>
          <a:p>
            <a:pPr marL="243840" indent="-243840" algn="l">
              <a:lnSpc>
                <a:spcPct val="133000"/>
              </a:lnSpc>
              <a:buSzPct val="100000"/>
              <a:buChar char="•"/>
            </a:pPr>
            <a:r>
              <a:rPr lang="en-US" sz="1200" b="1" dirty="0">
                <a:solidFill>
                  <a:srgbClr val="FFE5E5"/>
                </a:solidFill>
                <a:latin typeface="DM Sans Bold" pitchFamily="34" charset="0"/>
                <a:ea typeface="DM Sans Bold" pitchFamily="34" charset="-122"/>
                <a:cs typeface="DM Sans Bold" pitchFamily="34" charset="-120"/>
              </a:rPr>
              <a:t>Reactome</a:t>
            </a:r>
            <a:r>
              <a:rPr lang="en-US" sz="1200" dirty="0">
                <a:solidFill>
                  <a:srgbClr val="FFE5E5"/>
                </a:solidFill>
                <a:latin typeface="DM Sans" pitchFamily="34" charset="0"/>
                <a:ea typeface="DM Sans" pitchFamily="34" charset="-122"/>
                <a:cs typeface="DM Sans" pitchFamily="34" charset="-120"/>
              </a:rPr>
              <a:t> — pathway knowledgebase</a:t>
            </a:r>
            <a:endParaRPr lang="en-US" sz="1200" dirty="0"/>
          </a:p>
        </p:txBody>
      </p:sp>
      <p:sp>
        <p:nvSpPr>
          <p:cNvPr id="11" name="Text 9"/>
          <p:cNvSpPr/>
          <p:nvPr/>
        </p:nvSpPr>
        <p:spPr>
          <a:xfrm>
            <a:off x="6294875" y="5176540"/>
            <a:ext cx="5880846" cy="252710"/>
          </a:xfrm>
          <a:prstGeom prst="rect">
            <a:avLst/>
          </a:prstGeom>
          <a:noFill/>
          <a:ln/>
        </p:spPr>
        <p:txBody>
          <a:bodyPr wrap="none" lIns="0" tIns="0" rIns="0" bIns="0" rtlCol="0" anchor="t"/>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Alongside biological knowledge and protein-model capabilities.</a:t>
            </a:r>
            <a:endParaRPr lang="en-US" sz="1200" dirty="0"/>
          </a:p>
        </p:txBody>
      </p:sp>
      <p:sp>
        <p:nvSpPr>
          <p:cNvPr id="13" name="Rectangle: Rounded Corners 12">
            <a:extLst>
              <a:ext uri="{FF2B5EF4-FFF2-40B4-BE49-F238E27FC236}">
                <a16:creationId xmlns:a16="http://schemas.microsoft.com/office/drawing/2014/main" id="{4F0306AA-5E06-E381-A4B9-26EFA9551A81}"/>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3855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31908" y="444500"/>
            <a:ext cx="730232" cy="134938"/>
          </a:xfrm>
          <a:prstGeom prst="roundRect">
            <a:avLst>
              <a:gd name="adj" fmla="val 22127"/>
            </a:avLst>
          </a:prstGeom>
          <a:noFill/>
          <a:ln w="6350">
            <a:solidFill>
              <a:srgbClr val="C91313"/>
            </a:solidFill>
            <a:prstDash val="solid"/>
          </a:ln>
        </p:spPr>
      </p:sp>
      <p:sp>
        <p:nvSpPr>
          <p:cNvPr id="3" name="Text 1"/>
          <p:cNvSpPr/>
          <p:nvPr/>
        </p:nvSpPr>
        <p:spPr>
          <a:xfrm>
            <a:off x="685188" y="471091"/>
            <a:ext cx="1233258" cy="81756"/>
          </a:xfrm>
          <a:prstGeom prst="rect">
            <a:avLst/>
          </a:prstGeom>
          <a:noFill/>
          <a:ln/>
        </p:spPr>
        <p:txBody>
          <a:bodyPr wrap="none" lIns="0" tIns="0" rIns="0" bIns="0" rtlCol="0" anchor="t"/>
          <a:lstStyle/>
          <a:p>
            <a:pPr marL="0" indent="0" algn="l">
              <a:lnSpc>
                <a:spcPct val="96000"/>
              </a:lnSpc>
              <a:buNone/>
            </a:pPr>
            <a:r>
              <a:rPr lang="en-US" sz="550" dirty="0">
                <a:solidFill>
                  <a:srgbClr val="C91313"/>
                </a:solidFill>
                <a:latin typeface="DM Sans" pitchFamily="34" charset="0"/>
                <a:ea typeface="DM Sans" pitchFamily="34" charset="-122"/>
                <a:cs typeface="DM Sans" pitchFamily="34" charset="-120"/>
              </a:rPr>
              <a:t>PLATFORM DESIGN</a:t>
            </a:r>
            <a:endParaRPr lang="en-US" sz="550" dirty="0"/>
          </a:p>
        </p:txBody>
      </p:sp>
      <p:sp>
        <p:nvSpPr>
          <p:cNvPr id="4" name="Text 2"/>
          <p:cNvSpPr/>
          <p:nvPr/>
        </p:nvSpPr>
        <p:spPr>
          <a:xfrm>
            <a:off x="631908" y="599380"/>
            <a:ext cx="10927878" cy="292298"/>
          </a:xfrm>
          <a:prstGeom prst="rect">
            <a:avLst/>
          </a:prstGeom>
          <a:noFill/>
          <a:ln/>
        </p:spPr>
        <p:txBody>
          <a:bodyPr wrap="none" lIns="0" tIns="0" rIns="0" bIns="0" rtlCol="0" anchor="t"/>
          <a:lstStyle/>
          <a:p>
            <a:pPr marL="0" indent="0" algn="l">
              <a:lnSpc>
                <a:spcPct val="104000"/>
              </a:lnSpc>
              <a:buNone/>
            </a:pPr>
            <a:r>
              <a:rPr lang="en-US" sz="2000" dirty="0">
                <a:solidFill>
                  <a:srgbClr val="FAEBEB"/>
                </a:solidFill>
                <a:latin typeface="Arial Black"/>
                <a:ea typeface="Dela Gothic One"/>
                <a:cs typeface="Dela Gothic One" pitchFamily="34" charset="-120"/>
              </a:rPr>
              <a:t>Technical Architecture</a:t>
            </a:r>
            <a:endParaRPr lang="en-US" sz="2000">
              <a:latin typeface="Arial Black"/>
              <a:ea typeface="Dela Gothic One"/>
              <a:cs typeface="Calibri"/>
            </a:endParaRPr>
          </a:p>
        </p:txBody>
      </p:sp>
      <p:pic>
        <p:nvPicPr>
          <p:cNvPr id="6" name="Image 0" descr="preencoded.png"/>
          <p:cNvPicPr>
            <a:picLocks noChangeAspect="1"/>
          </p:cNvPicPr>
          <p:nvPr/>
        </p:nvPicPr>
        <p:blipFill>
          <a:blip r:embed="rId3"/>
          <a:stretch>
            <a:fillRect/>
          </a:stretch>
        </p:blipFill>
        <p:spPr>
          <a:xfrm>
            <a:off x="631908" y="1133872"/>
            <a:ext cx="10927878" cy="5001220"/>
          </a:xfrm>
          <a:prstGeom prst="rect">
            <a:avLst/>
          </a:prstGeom>
        </p:spPr>
      </p:pic>
      <p:sp>
        <p:nvSpPr>
          <p:cNvPr id="7" name="Text 4"/>
          <p:cNvSpPr/>
          <p:nvPr/>
        </p:nvSpPr>
        <p:spPr>
          <a:xfrm>
            <a:off x="8636626" y="1812570"/>
            <a:ext cx="2544441" cy="318126"/>
          </a:xfrm>
          <a:prstGeom prst="rect">
            <a:avLst/>
          </a:prstGeom>
          <a:noFill/>
          <a:ln/>
        </p:spPr>
        <p:txBody>
          <a:bodyPr wrap="none" lIns="0" tIns="0" rIns="0" bIns="0" rtlCol="0" anchor="t"/>
          <a:lstStyle/>
          <a:p>
            <a:pPr marL="0" indent="0" algn="l">
              <a:lnSpc>
                <a:spcPct val="104000"/>
              </a:lnSpc>
              <a:buNone/>
            </a:pPr>
            <a:r>
              <a:rPr lang="en-US" sz="2000" dirty="0">
                <a:solidFill>
                  <a:srgbClr val="FFE5E5"/>
                </a:solidFill>
                <a:latin typeface="Dela Gothic One" pitchFamily="34" charset="0"/>
                <a:ea typeface="Dela Gothic One" pitchFamily="34" charset="-122"/>
                <a:cs typeface="Dela Gothic One" pitchFamily="34" charset="-120"/>
              </a:rPr>
              <a:t>Frontend</a:t>
            </a:r>
            <a:endParaRPr lang="en-US" sz="2000" dirty="0"/>
          </a:p>
        </p:txBody>
      </p:sp>
      <p:sp>
        <p:nvSpPr>
          <p:cNvPr id="8" name="Text 5"/>
          <p:cNvSpPr/>
          <p:nvPr/>
        </p:nvSpPr>
        <p:spPr>
          <a:xfrm>
            <a:off x="8636626" y="2216648"/>
            <a:ext cx="2664469" cy="377722"/>
          </a:xfrm>
          <a:prstGeom prst="rect">
            <a:avLst/>
          </a:prstGeom>
          <a:noFill/>
          <a:ln/>
        </p:spPr>
        <p:txBody>
          <a:bodyPr wrap="square" lIns="0" tIns="0" rIns="0" bIns="0" rtlCol="0" anchor="t">
            <a:normAutofit/>
          </a:bodyPr>
          <a:lstStyle/>
          <a:p>
            <a:pPr marL="0" indent="0" algn="l">
              <a:lnSpc>
                <a:spcPct val="81000"/>
              </a:lnSpc>
              <a:buNone/>
            </a:pPr>
            <a:r>
              <a:rPr lang="en-US" sz="1500" dirty="0">
                <a:solidFill>
                  <a:srgbClr val="FFE5E5"/>
                </a:solidFill>
                <a:latin typeface="DM Sans" pitchFamily="34" charset="0"/>
                <a:ea typeface="DM Sans" pitchFamily="34" charset="-122"/>
                <a:cs typeface="DM Sans" pitchFamily="34" charset="-120"/>
              </a:rPr>
              <a:t>Next.js + React interfaces and scientific visualizations</a:t>
            </a:r>
            <a:endParaRPr lang="en-US" sz="1500" dirty="0"/>
          </a:p>
        </p:txBody>
      </p:sp>
      <p:sp>
        <p:nvSpPr>
          <p:cNvPr id="9" name="Text 6"/>
          <p:cNvSpPr/>
          <p:nvPr/>
        </p:nvSpPr>
        <p:spPr>
          <a:xfrm>
            <a:off x="890327" y="3362070"/>
            <a:ext cx="2449592" cy="318126"/>
          </a:xfrm>
          <a:prstGeom prst="rect">
            <a:avLst/>
          </a:prstGeom>
          <a:noFill/>
          <a:ln/>
        </p:spPr>
        <p:txBody>
          <a:bodyPr wrap="none" lIns="0" tIns="0" rIns="0" bIns="0" rtlCol="0" anchor="t"/>
          <a:lstStyle/>
          <a:p>
            <a:pPr marL="0" indent="0" algn="r">
              <a:lnSpc>
                <a:spcPct val="104000"/>
              </a:lnSpc>
              <a:buNone/>
            </a:pPr>
            <a:r>
              <a:rPr lang="en-US" sz="2000" dirty="0">
                <a:solidFill>
                  <a:srgbClr val="FFE5E5"/>
                </a:solidFill>
                <a:latin typeface="Dela Gothic One" pitchFamily="34" charset="0"/>
                <a:ea typeface="Dela Gothic One" pitchFamily="34" charset="-122"/>
                <a:cs typeface="Dela Gothic One" pitchFamily="34" charset="-120"/>
              </a:rPr>
              <a:t>Backend API</a:t>
            </a:r>
            <a:endParaRPr lang="en-US" sz="2000" dirty="0"/>
          </a:p>
        </p:txBody>
      </p:sp>
      <p:sp>
        <p:nvSpPr>
          <p:cNvPr id="10" name="Text 7"/>
          <p:cNvSpPr/>
          <p:nvPr/>
        </p:nvSpPr>
        <p:spPr>
          <a:xfrm>
            <a:off x="890327" y="3766148"/>
            <a:ext cx="2449592" cy="566583"/>
          </a:xfrm>
          <a:prstGeom prst="rect">
            <a:avLst/>
          </a:prstGeom>
          <a:noFill/>
          <a:ln/>
        </p:spPr>
        <p:txBody>
          <a:bodyPr wrap="square" lIns="0" tIns="0" rIns="0" bIns="0" rtlCol="0" anchor="t">
            <a:normAutofit/>
          </a:bodyPr>
          <a:lstStyle/>
          <a:p>
            <a:pPr marL="0" indent="0" algn="r">
              <a:lnSpc>
                <a:spcPct val="81000"/>
              </a:lnSpc>
              <a:buNone/>
            </a:pPr>
            <a:r>
              <a:rPr lang="en-US" sz="1500" dirty="0">
                <a:solidFill>
                  <a:srgbClr val="FFE5E5"/>
                </a:solidFill>
                <a:latin typeface="DM Sans" pitchFamily="34" charset="0"/>
                <a:ea typeface="DM Sans" pitchFamily="34" charset="-122"/>
                <a:cs typeface="DM Sans" pitchFamily="34" charset="-120"/>
              </a:rPr>
              <a:t>FastAPI service layer integrating data and models</a:t>
            </a:r>
            <a:endParaRPr lang="en-US" sz="1500" dirty="0"/>
          </a:p>
        </p:txBody>
      </p:sp>
      <p:sp>
        <p:nvSpPr>
          <p:cNvPr id="11" name="Text 8"/>
          <p:cNvSpPr/>
          <p:nvPr/>
        </p:nvSpPr>
        <p:spPr>
          <a:xfrm>
            <a:off x="8636626" y="4305200"/>
            <a:ext cx="2544441" cy="318126"/>
          </a:xfrm>
          <a:prstGeom prst="rect">
            <a:avLst/>
          </a:prstGeom>
          <a:noFill/>
          <a:ln/>
        </p:spPr>
        <p:txBody>
          <a:bodyPr wrap="none" lIns="0" tIns="0" rIns="0" bIns="0" rtlCol="0" anchor="t"/>
          <a:lstStyle/>
          <a:p>
            <a:pPr marL="0" indent="0" algn="l">
              <a:lnSpc>
                <a:spcPct val="104000"/>
              </a:lnSpc>
              <a:buNone/>
            </a:pPr>
            <a:r>
              <a:rPr lang="en-US" sz="2000" dirty="0">
                <a:solidFill>
                  <a:srgbClr val="FFE5E5"/>
                </a:solidFill>
                <a:latin typeface="Dela Gothic One" pitchFamily="34" charset="0"/>
                <a:ea typeface="Dela Gothic One" pitchFamily="34" charset="-122"/>
                <a:cs typeface="Dela Gothic One" pitchFamily="34" charset="-120"/>
              </a:rPr>
              <a:t>AI Engine</a:t>
            </a:r>
            <a:endParaRPr lang="en-US" sz="2000" dirty="0"/>
          </a:p>
        </p:txBody>
      </p:sp>
      <p:sp>
        <p:nvSpPr>
          <p:cNvPr id="12" name="Text 9"/>
          <p:cNvSpPr/>
          <p:nvPr/>
        </p:nvSpPr>
        <p:spPr>
          <a:xfrm>
            <a:off x="8636626" y="4709278"/>
            <a:ext cx="2664469" cy="377722"/>
          </a:xfrm>
          <a:prstGeom prst="rect">
            <a:avLst/>
          </a:prstGeom>
          <a:noFill/>
          <a:ln/>
        </p:spPr>
        <p:txBody>
          <a:bodyPr wrap="square" lIns="0" tIns="0" rIns="0" bIns="0" rtlCol="0" anchor="t">
            <a:normAutofit/>
          </a:bodyPr>
          <a:lstStyle/>
          <a:p>
            <a:pPr marL="0" indent="0" algn="l">
              <a:lnSpc>
                <a:spcPct val="81000"/>
              </a:lnSpc>
              <a:buNone/>
            </a:pPr>
            <a:r>
              <a:rPr lang="en-US" sz="1500" dirty="0">
                <a:solidFill>
                  <a:srgbClr val="FFE5E5"/>
                </a:solidFill>
                <a:latin typeface="DM Sans" pitchFamily="34" charset="0"/>
                <a:ea typeface="DM Sans" pitchFamily="34" charset="-122"/>
                <a:cs typeface="DM Sans" pitchFamily="34" charset="-120"/>
              </a:rPr>
              <a:t>Biological inference, target analysis, evidence reasoning</a:t>
            </a:r>
            <a:endParaRPr lang="en-US" sz="1500" dirty="0"/>
          </a:p>
        </p:txBody>
      </p:sp>
      <p:sp>
        <p:nvSpPr>
          <p:cNvPr id="13" name="Rectangle: Rounded Corners 12">
            <a:extLst>
              <a:ext uri="{FF2B5EF4-FFF2-40B4-BE49-F238E27FC236}">
                <a16:creationId xmlns:a16="http://schemas.microsoft.com/office/drawing/2014/main" id="{0D0E6DCB-5BE5-BEDA-4CED-BB34C7812187}"/>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3653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31908" y="1631652"/>
            <a:ext cx="1256673" cy="240010"/>
          </a:xfrm>
          <a:prstGeom prst="roundRect">
            <a:avLst>
              <a:gd name="adj" fmla="val 22116"/>
            </a:avLst>
          </a:prstGeom>
          <a:solidFill>
            <a:srgbClr val="460707"/>
          </a:solidFill>
          <a:ln/>
        </p:spPr>
      </p:sp>
      <p:sp>
        <p:nvSpPr>
          <p:cNvPr id="3" name="Text 1"/>
          <p:cNvSpPr/>
          <p:nvPr/>
        </p:nvSpPr>
        <p:spPr>
          <a:xfrm>
            <a:off x="726660" y="1678980"/>
            <a:ext cx="1676755" cy="145355"/>
          </a:xfrm>
          <a:prstGeom prst="rect">
            <a:avLst/>
          </a:prstGeom>
          <a:noFill/>
          <a:ln/>
        </p:spPr>
        <p:txBody>
          <a:bodyPr wrap="none" lIns="0" tIns="0" rIns="0" bIns="0" rtlCol="0" anchor="t"/>
          <a:lstStyle/>
          <a:p>
            <a:pPr marL="0" indent="0" algn="l">
              <a:lnSpc>
                <a:spcPct val="96000"/>
              </a:lnSpc>
              <a:buNone/>
            </a:pPr>
            <a:r>
              <a:rPr lang="en-US" sz="950" dirty="0">
                <a:solidFill>
                  <a:srgbClr val="FFE5E5"/>
                </a:solidFill>
                <a:latin typeface="DM Sans" pitchFamily="34" charset="0"/>
                <a:ea typeface="DM Sans" pitchFamily="34" charset="-122"/>
                <a:cs typeface="DM Sans" pitchFamily="34" charset="-120"/>
              </a:rPr>
              <a:t>UNDER THE HOOD</a:t>
            </a:r>
            <a:endParaRPr lang="en-US" sz="950" dirty="0"/>
          </a:p>
        </p:txBody>
      </p:sp>
      <p:sp>
        <p:nvSpPr>
          <p:cNvPr id="4" name="Text 2"/>
          <p:cNvSpPr/>
          <p:nvPr/>
        </p:nvSpPr>
        <p:spPr>
          <a:xfrm>
            <a:off x="631908" y="1934766"/>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Technology Stack</a:t>
            </a:r>
            <a:endParaRPr lang="en-US" sz="3250" dirty="0"/>
          </a:p>
        </p:txBody>
      </p:sp>
      <p:sp>
        <p:nvSpPr>
          <p:cNvPr id="5" name="Shape 3"/>
          <p:cNvSpPr/>
          <p:nvPr/>
        </p:nvSpPr>
        <p:spPr>
          <a:xfrm>
            <a:off x="631908" y="2691309"/>
            <a:ext cx="5384963" cy="1188541"/>
          </a:xfrm>
          <a:prstGeom prst="roundRect">
            <a:avLst>
              <a:gd name="adj" fmla="val 5583"/>
            </a:avLst>
          </a:prstGeom>
          <a:solidFill>
            <a:srgbClr val="740B0B"/>
          </a:solidFill>
          <a:ln w="6350">
            <a:solidFill>
              <a:srgbClr val="8D2424"/>
            </a:solidFill>
            <a:prstDash val="solid"/>
          </a:ln>
        </p:spPr>
      </p:sp>
      <p:sp>
        <p:nvSpPr>
          <p:cNvPr id="6" name="Text 4"/>
          <p:cNvSpPr/>
          <p:nvPr/>
        </p:nvSpPr>
        <p:spPr>
          <a:xfrm>
            <a:off x="796211" y="2855615"/>
            <a:ext cx="505635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Frontend</a:t>
            </a:r>
            <a:endParaRPr lang="en-US" sz="1600" dirty="0"/>
          </a:p>
        </p:txBody>
      </p:sp>
      <p:sp>
        <p:nvSpPr>
          <p:cNvPr id="7" name="Text 5"/>
          <p:cNvSpPr/>
          <p:nvPr/>
        </p:nvSpPr>
        <p:spPr>
          <a:xfrm>
            <a:off x="796211" y="3210123"/>
            <a:ext cx="505635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Next.js, React, TypeScript, CSS, responsive interfaces, interactive visualization, and animations.</a:t>
            </a:r>
            <a:endParaRPr lang="en-US" sz="1200" dirty="0"/>
          </a:p>
        </p:txBody>
      </p:sp>
      <p:sp>
        <p:nvSpPr>
          <p:cNvPr id="8" name="Shape 6"/>
          <p:cNvSpPr/>
          <p:nvPr/>
        </p:nvSpPr>
        <p:spPr>
          <a:xfrm>
            <a:off x="6174824" y="2691309"/>
            <a:ext cx="5384963" cy="1188541"/>
          </a:xfrm>
          <a:prstGeom prst="roundRect">
            <a:avLst>
              <a:gd name="adj" fmla="val 5583"/>
            </a:avLst>
          </a:prstGeom>
          <a:solidFill>
            <a:srgbClr val="740B0B"/>
          </a:solidFill>
          <a:ln w="6350">
            <a:solidFill>
              <a:srgbClr val="8D2424"/>
            </a:solidFill>
            <a:prstDash val="solid"/>
          </a:ln>
        </p:spPr>
      </p:sp>
      <p:sp>
        <p:nvSpPr>
          <p:cNvPr id="9" name="Text 7"/>
          <p:cNvSpPr/>
          <p:nvPr/>
        </p:nvSpPr>
        <p:spPr>
          <a:xfrm>
            <a:off x="6339126" y="2855615"/>
            <a:ext cx="505635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Backend</a:t>
            </a:r>
            <a:endParaRPr lang="en-US" sz="1600" dirty="0"/>
          </a:p>
        </p:txBody>
      </p:sp>
      <p:sp>
        <p:nvSpPr>
          <p:cNvPr id="10" name="Text 8"/>
          <p:cNvSpPr/>
          <p:nvPr/>
        </p:nvSpPr>
        <p:spPr>
          <a:xfrm>
            <a:off x="6339126" y="3210123"/>
            <a:ext cx="505635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Python, FastAPI, Pydantic, REST APIs, and service-oriented architecture.</a:t>
            </a:r>
            <a:endParaRPr lang="en-US" sz="1200" dirty="0"/>
          </a:p>
        </p:txBody>
      </p:sp>
      <p:sp>
        <p:nvSpPr>
          <p:cNvPr id="11" name="Shape 9"/>
          <p:cNvSpPr/>
          <p:nvPr/>
        </p:nvSpPr>
        <p:spPr>
          <a:xfrm>
            <a:off x="631908" y="4037806"/>
            <a:ext cx="5384963" cy="1188541"/>
          </a:xfrm>
          <a:prstGeom prst="roundRect">
            <a:avLst>
              <a:gd name="adj" fmla="val 5583"/>
            </a:avLst>
          </a:prstGeom>
          <a:solidFill>
            <a:srgbClr val="740B0B"/>
          </a:solidFill>
          <a:ln w="6350">
            <a:solidFill>
              <a:srgbClr val="8D2424"/>
            </a:solidFill>
            <a:prstDash val="solid"/>
          </a:ln>
        </p:spPr>
      </p:sp>
      <p:sp>
        <p:nvSpPr>
          <p:cNvPr id="12" name="Text 10"/>
          <p:cNvSpPr/>
          <p:nvPr/>
        </p:nvSpPr>
        <p:spPr>
          <a:xfrm>
            <a:off x="796211" y="4202113"/>
            <a:ext cx="505635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AI Engine</a:t>
            </a:r>
            <a:endParaRPr lang="en-US" sz="1600" dirty="0"/>
          </a:p>
        </p:txBody>
      </p:sp>
      <p:sp>
        <p:nvSpPr>
          <p:cNvPr id="13" name="Text 11"/>
          <p:cNvSpPr/>
          <p:nvPr/>
        </p:nvSpPr>
        <p:spPr>
          <a:xfrm>
            <a:off x="796211" y="4556621"/>
            <a:ext cx="505635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Python, biological inference, protein intelligence, target analysis, evidence reasoning, and scientific data integration.</a:t>
            </a:r>
            <a:endParaRPr lang="en-US" sz="1200" dirty="0"/>
          </a:p>
        </p:txBody>
      </p:sp>
      <p:sp>
        <p:nvSpPr>
          <p:cNvPr id="14" name="Shape 12"/>
          <p:cNvSpPr/>
          <p:nvPr/>
        </p:nvSpPr>
        <p:spPr>
          <a:xfrm>
            <a:off x="6174824" y="4037806"/>
            <a:ext cx="5384963" cy="1188541"/>
          </a:xfrm>
          <a:prstGeom prst="roundRect">
            <a:avLst>
              <a:gd name="adj" fmla="val 5583"/>
            </a:avLst>
          </a:prstGeom>
          <a:solidFill>
            <a:srgbClr val="740B0B"/>
          </a:solidFill>
          <a:ln w="6350">
            <a:solidFill>
              <a:srgbClr val="8D2424"/>
            </a:solidFill>
            <a:prstDash val="solid"/>
          </a:ln>
        </p:spPr>
      </p:sp>
      <p:sp>
        <p:nvSpPr>
          <p:cNvPr id="15" name="Text 13"/>
          <p:cNvSpPr/>
          <p:nvPr/>
        </p:nvSpPr>
        <p:spPr>
          <a:xfrm>
            <a:off x="6339126" y="4202113"/>
            <a:ext cx="5056359" cy="259755"/>
          </a:xfrm>
          <a:prstGeom prst="rect">
            <a:avLst/>
          </a:prstGeom>
          <a:noFill/>
          <a:ln/>
        </p:spPr>
        <p:txBody>
          <a:bodyPr wrap="none" lIns="0" tIns="0" rIns="0" bIns="0" rtlCol="0" anchor="t"/>
          <a:lstStyle/>
          <a:p>
            <a:pPr marL="0" indent="0" algn="l">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Scientific Resources</a:t>
            </a:r>
            <a:endParaRPr lang="en-US" sz="1600" dirty="0"/>
          </a:p>
        </p:txBody>
      </p:sp>
      <p:sp>
        <p:nvSpPr>
          <p:cNvPr id="16" name="Text 14"/>
          <p:cNvSpPr/>
          <p:nvPr/>
        </p:nvSpPr>
        <p:spPr>
          <a:xfrm>
            <a:off x="6339126" y="4556621"/>
            <a:ext cx="5056359"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Open Targets, ChEMBL, UniProt, Reactome, protein sequence resources, and biological knowledge systems.</a:t>
            </a:r>
            <a:endParaRPr lang="en-US" sz="1200" dirty="0"/>
          </a:p>
        </p:txBody>
      </p:sp>
      <p:sp>
        <p:nvSpPr>
          <p:cNvPr id="18" name="Rectangle: Rounded Corners 17">
            <a:extLst>
              <a:ext uri="{FF2B5EF4-FFF2-40B4-BE49-F238E27FC236}">
                <a16:creationId xmlns:a16="http://schemas.microsoft.com/office/drawing/2014/main" id="{3AD72503-1F95-32AE-3F90-E70F879D247F}"/>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0502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03794" y="1602780"/>
            <a:ext cx="1205875" cy="240010"/>
          </a:xfrm>
          <a:prstGeom prst="roundRect">
            <a:avLst>
              <a:gd name="adj" fmla="val 22116"/>
            </a:avLst>
          </a:prstGeom>
          <a:noFill/>
          <a:ln w="6350">
            <a:solidFill>
              <a:srgbClr val="C91313"/>
            </a:solidFill>
            <a:prstDash val="solid"/>
          </a:ln>
        </p:spPr>
      </p:sp>
      <p:sp>
        <p:nvSpPr>
          <p:cNvPr id="4" name="Text 1"/>
          <p:cNvSpPr/>
          <p:nvPr/>
        </p:nvSpPr>
        <p:spPr>
          <a:xfrm>
            <a:off x="5298546" y="1650107"/>
            <a:ext cx="1625956" cy="145355"/>
          </a:xfrm>
          <a:prstGeom prst="rect">
            <a:avLst/>
          </a:prstGeom>
          <a:noFill/>
          <a:ln/>
        </p:spPr>
        <p:txBody>
          <a:bodyPr wrap="none" lIns="0" tIns="0" rIns="0" bIns="0" rtlCol="0" anchor="t"/>
          <a:lstStyle/>
          <a:p>
            <a:pPr marL="0" indent="0" algn="l">
              <a:lnSpc>
                <a:spcPct val="96000"/>
              </a:lnSpc>
              <a:buNone/>
            </a:pPr>
            <a:r>
              <a:rPr lang="en-US" sz="950" dirty="0">
                <a:solidFill>
                  <a:srgbClr val="C91313"/>
                </a:solidFill>
                <a:latin typeface="DM Sans" pitchFamily="34" charset="0"/>
                <a:ea typeface="DM Sans" pitchFamily="34" charset="-122"/>
                <a:cs typeface="DM Sans" pitchFamily="34" charset="-120"/>
              </a:rPr>
              <a:t>DIFFERENTIATION</a:t>
            </a:r>
            <a:endParaRPr lang="en-US" sz="950" dirty="0"/>
          </a:p>
        </p:txBody>
      </p:sp>
      <p:sp>
        <p:nvSpPr>
          <p:cNvPr id="5" name="Text 2"/>
          <p:cNvSpPr/>
          <p:nvPr/>
        </p:nvSpPr>
        <p:spPr>
          <a:xfrm>
            <a:off x="5203794" y="1905893"/>
            <a:ext cx="6355993" cy="1039217"/>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What Makes CureVerseAI Different</a:t>
            </a:r>
            <a:endParaRPr lang="en-US" sz="3250" dirty="0"/>
          </a:p>
        </p:txBody>
      </p:sp>
      <p:sp>
        <p:nvSpPr>
          <p:cNvPr id="6" name="Text 3"/>
          <p:cNvSpPr/>
          <p:nvPr/>
        </p:nvSpPr>
        <p:spPr>
          <a:xfrm>
            <a:off x="5203794" y="3182045"/>
            <a:ext cx="6355993"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E5E5"/>
                </a:solidFill>
                <a:latin typeface="DM Sans" pitchFamily="34" charset="0"/>
                <a:ea typeface="DM Sans" pitchFamily="34" charset="-122"/>
                <a:cs typeface="DM Sans" pitchFamily="34" charset="-120"/>
              </a:rPr>
              <a:t>CureVerseAI combines ideas that are usually separated: biological research, evidence reasoning, therapeutic discovery, virtual biological simulation, biological-material intelligence, and education.</a:t>
            </a:r>
            <a:endParaRPr lang="en-US" sz="1200" dirty="0"/>
          </a:p>
        </p:txBody>
      </p:sp>
      <p:sp>
        <p:nvSpPr>
          <p:cNvPr id="7" name="Shape 4"/>
          <p:cNvSpPr/>
          <p:nvPr/>
        </p:nvSpPr>
        <p:spPr>
          <a:xfrm>
            <a:off x="5203794" y="4117876"/>
            <a:ext cx="6355993" cy="1137245"/>
          </a:xfrm>
          <a:prstGeom prst="roundRect">
            <a:avLst>
              <a:gd name="adj" fmla="val 5834"/>
            </a:avLst>
          </a:prstGeom>
          <a:solidFill>
            <a:srgbClr val="740B0B"/>
          </a:solidFill>
          <a:ln/>
        </p:spPr>
      </p:sp>
      <p:pic>
        <p:nvPicPr>
          <p:cNvPr id="8" name="Image 1" descr="preencoded.png"/>
          <p:cNvPicPr>
            <a:picLocks noChangeAspect="1"/>
          </p:cNvPicPr>
          <p:nvPr/>
        </p:nvPicPr>
        <p:blipFill>
          <a:blip r:embed="rId4"/>
          <a:stretch>
            <a:fillRect/>
          </a:stretch>
        </p:blipFill>
        <p:spPr>
          <a:xfrm>
            <a:off x="5361746" y="4342209"/>
            <a:ext cx="197440" cy="157956"/>
          </a:xfrm>
          <a:prstGeom prst="rect">
            <a:avLst/>
          </a:prstGeom>
        </p:spPr>
      </p:pic>
      <p:sp>
        <p:nvSpPr>
          <p:cNvPr id="9" name="Text 5"/>
          <p:cNvSpPr/>
          <p:nvPr/>
        </p:nvSpPr>
        <p:spPr>
          <a:xfrm>
            <a:off x="5717139" y="4315321"/>
            <a:ext cx="5684695"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FFFF"/>
                </a:solidFill>
                <a:latin typeface="DM Sans" pitchFamily="34" charset="0"/>
                <a:ea typeface="DM Sans" pitchFamily="34" charset="-122"/>
                <a:cs typeface="DM Sans" pitchFamily="34" charset="-120"/>
              </a:rPr>
              <a:t>Its differentiation is not simply the use of AI. It is the way AI, evidence, biological relationships, visualization, simulation, and domain workflows are </a:t>
            </a:r>
            <a:r>
              <a:rPr lang="en-US" sz="1200" b="1" dirty="0">
                <a:solidFill>
                  <a:srgbClr val="FFFFFF"/>
                </a:solidFill>
                <a:latin typeface="DM Sans Bold" pitchFamily="34" charset="0"/>
                <a:ea typeface="DM Sans Bold" pitchFamily="34" charset="-122"/>
                <a:cs typeface="DM Sans Bold" pitchFamily="34" charset="-120"/>
              </a:rPr>
              <a:t>connected into one ecosystem</a:t>
            </a:r>
            <a:r>
              <a:rPr lang="en-US" sz="1200" dirty="0">
                <a:solidFill>
                  <a:srgbClr val="FFFFFF"/>
                </a:solidFill>
                <a:latin typeface="DM Sans" pitchFamily="34" charset="0"/>
                <a:ea typeface="DM Sans" pitchFamily="34" charset="-122"/>
                <a:cs typeface="DM Sans" pitchFamily="34" charset="-120"/>
              </a:rPr>
              <a:t>.</a:t>
            </a:r>
            <a:endParaRPr lang="en-US" sz="1200" dirty="0"/>
          </a:p>
        </p:txBody>
      </p:sp>
      <p:sp>
        <p:nvSpPr>
          <p:cNvPr id="11" name="Rectangle: Rounded Corners 10">
            <a:extLst>
              <a:ext uri="{FF2B5EF4-FFF2-40B4-BE49-F238E27FC236}">
                <a16:creationId xmlns:a16="http://schemas.microsoft.com/office/drawing/2014/main" id="{266420C5-90C3-9DE9-5DF7-A2943A24515E}"/>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379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31908" y="465733"/>
            <a:ext cx="744817" cy="165001"/>
          </a:xfrm>
          <a:prstGeom prst="roundRect">
            <a:avLst>
              <a:gd name="adj" fmla="val 22117"/>
            </a:avLst>
          </a:prstGeom>
          <a:solidFill>
            <a:srgbClr val="460707"/>
          </a:solidFill>
          <a:ln/>
        </p:spPr>
      </p:sp>
      <p:sp>
        <p:nvSpPr>
          <p:cNvPr id="3" name="Text 1"/>
          <p:cNvSpPr/>
          <p:nvPr/>
        </p:nvSpPr>
        <p:spPr>
          <a:xfrm>
            <a:off x="696994" y="498277"/>
            <a:ext cx="1224230" cy="99913"/>
          </a:xfrm>
          <a:prstGeom prst="rect">
            <a:avLst/>
          </a:prstGeom>
          <a:noFill/>
          <a:ln/>
        </p:spPr>
        <p:txBody>
          <a:bodyPr wrap="none" lIns="0" tIns="0" rIns="0" bIns="0" rtlCol="0" anchor="t"/>
          <a:lstStyle/>
          <a:p>
            <a:pPr marL="0" indent="0" algn="l">
              <a:lnSpc>
                <a:spcPct val="96000"/>
              </a:lnSpc>
              <a:buNone/>
            </a:pPr>
            <a:r>
              <a:rPr lang="en-US" sz="650" dirty="0">
                <a:solidFill>
                  <a:srgbClr val="FFE5E5"/>
                </a:solidFill>
                <a:latin typeface="DM Sans" pitchFamily="34" charset="0"/>
                <a:ea typeface="DM Sans" pitchFamily="34" charset="-122"/>
                <a:cs typeface="DM Sans" pitchFamily="34" charset="-120"/>
              </a:rPr>
              <a:t>VISION &amp; TEAM</a:t>
            </a:r>
            <a:endParaRPr lang="en-US" sz="650" dirty="0"/>
          </a:p>
        </p:txBody>
      </p:sp>
      <p:sp>
        <p:nvSpPr>
          <p:cNvPr id="4" name="Text 2"/>
          <p:cNvSpPr/>
          <p:nvPr/>
        </p:nvSpPr>
        <p:spPr>
          <a:xfrm>
            <a:off x="631908" y="660598"/>
            <a:ext cx="10927878" cy="357287"/>
          </a:xfrm>
          <a:prstGeom prst="rect">
            <a:avLst/>
          </a:prstGeom>
          <a:noFill/>
          <a:ln/>
        </p:spPr>
        <p:txBody>
          <a:bodyPr wrap="none" lIns="0" tIns="0" rIns="0" bIns="0" rtlCol="0" anchor="t"/>
          <a:lstStyle/>
          <a:p>
            <a:pPr marL="0" indent="0" algn="l">
              <a:lnSpc>
                <a:spcPct val="104000"/>
              </a:lnSpc>
              <a:buNone/>
            </a:pPr>
            <a:r>
              <a:rPr lang="en-US" sz="2250" dirty="0">
                <a:solidFill>
                  <a:srgbClr val="FAEBEB"/>
                </a:solidFill>
                <a:latin typeface="Arial Black"/>
                <a:ea typeface="Dela Gothic One" pitchFamily="34" charset="-122"/>
                <a:cs typeface="Dela Gothic One" pitchFamily="34" charset="-120"/>
              </a:rPr>
              <a:t>Impact &amp; Closing</a:t>
            </a:r>
            <a:endParaRPr lang="en-US" sz="2250">
              <a:latin typeface="Arial Black"/>
            </a:endParaRPr>
          </a:p>
        </p:txBody>
      </p:sp>
      <p:sp>
        <p:nvSpPr>
          <p:cNvPr id="5" name="Text 3"/>
          <p:cNvSpPr/>
          <p:nvPr/>
        </p:nvSpPr>
        <p:spPr>
          <a:xfrm>
            <a:off x="631908" y="1719276"/>
            <a:ext cx="10927878" cy="293291"/>
          </a:xfrm>
          <a:prstGeom prst="rect">
            <a:avLst/>
          </a:prstGeom>
          <a:noFill/>
          <a:ln/>
        </p:spPr>
        <p:txBody>
          <a:bodyPr wrap="square" lIns="0" tIns="0" rIns="0" bIns="0" rtlCol="0" anchor="t">
            <a:noAutofit/>
          </a:bodyPr>
          <a:lstStyle/>
          <a:p>
            <a:pPr marL="0" indent="0" algn="just">
              <a:lnSpc>
                <a:spcPct val="113000"/>
              </a:lnSpc>
              <a:buNone/>
            </a:pPr>
            <a:r>
              <a:rPr lang="en-US" sz="1400" dirty="0">
                <a:solidFill>
                  <a:srgbClr val="FFE5E5"/>
                </a:solidFill>
                <a:latin typeface="Aptos"/>
                <a:ea typeface="DM Sans" pitchFamily="34" charset="-122"/>
                <a:cs typeface="DM Sans" pitchFamily="34" charset="-120"/>
              </a:rPr>
              <a:t>Our objective is to create a platform that can help researchers investigate biological questions, help innovators explore therapeutic hypotheses, help users understand biological materials, help visualize disease and intervention mechanisms, and help students learn complex biology. The broader ambition is to make biological intelligence more </a:t>
            </a:r>
            <a:r>
              <a:rPr lang="en-US" sz="1400" b="1" dirty="0">
                <a:solidFill>
                  <a:srgbClr val="FFE5E5"/>
                </a:solidFill>
                <a:latin typeface="Aptos"/>
                <a:ea typeface="DM Sans Bold" pitchFamily="34" charset="-122"/>
                <a:cs typeface="DM Sans Bold" pitchFamily="34" charset="-120"/>
              </a:rPr>
              <a:t>connected, interpretable, and interactive</a:t>
            </a:r>
            <a:r>
              <a:rPr lang="en-US" sz="1400" dirty="0">
                <a:solidFill>
                  <a:srgbClr val="FFE5E5"/>
                </a:solidFill>
                <a:latin typeface="Aptos"/>
                <a:ea typeface="DM Sans" pitchFamily="34" charset="-122"/>
                <a:cs typeface="DM Sans" pitchFamily="34" charset="-120"/>
              </a:rPr>
              <a:t>.</a:t>
            </a:r>
            <a:endParaRPr lang="en-US" sz="1400">
              <a:latin typeface="Aptos"/>
            </a:endParaRPr>
          </a:p>
        </p:txBody>
      </p:sp>
      <p:sp>
        <p:nvSpPr>
          <p:cNvPr id="21" name="Text 14"/>
          <p:cNvSpPr/>
          <p:nvPr/>
        </p:nvSpPr>
        <p:spPr>
          <a:xfrm>
            <a:off x="631908" y="5147766"/>
            <a:ext cx="11537463" cy="146645"/>
          </a:xfrm>
          <a:prstGeom prst="rect">
            <a:avLst/>
          </a:prstGeom>
          <a:noFill/>
          <a:ln/>
        </p:spPr>
        <p:txBody>
          <a:bodyPr wrap="none" lIns="0" tIns="0" rIns="0" bIns="0" rtlCol="0" anchor="t"/>
          <a:lstStyle/>
          <a:p>
            <a:pPr marL="0" indent="0" algn="ctr">
              <a:lnSpc>
                <a:spcPct val="113000"/>
              </a:lnSpc>
              <a:buNone/>
            </a:pPr>
            <a:r>
              <a:rPr lang="en-US" sz="1400" b="1" dirty="0">
                <a:solidFill>
                  <a:srgbClr val="FFE5E5"/>
                </a:solidFill>
                <a:latin typeface="Aptos"/>
                <a:ea typeface="DM Sans Bold" pitchFamily="34" charset="-122"/>
                <a:cs typeface="DM Sans Bold" pitchFamily="34" charset="-120"/>
              </a:rPr>
              <a:t>Team:</a:t>
            </a:r>
            <a:r>
              <a:rPr lang="en-US" sz="1400" dirty="0">
                <a:solidFill>
                  <a:srgbClr val="FFE5E5"/>
                </a:solidFill>
                <a:latin typeface="Aptos"/>
                <a:ea typeface="DM Sans" pitchFamily="34" charset="-122"/>
                <a:cs typeface="DM Sans" pitchFamily="34" charset="-120"/>
              </a:rPr>
              <a:t> Arooj Kanwal · Umme Hani · Aatazaz Hussain</a:t>
            </a:r>
            <a:endParaRPr lang="en-US" sz="1400">
              <a:latin typeface="Aptos"/>
            </a:endParaRPr>
          </a:p>
        </p:txBody>
      </p:sp>
      <p:sp>
        <p:nvSpPr>
          <p:cNvPr id="22" name="Text 15"/>
          <p:cNvSpPr/>
          <p:nvPr/>
        </p:nvSpPr>
        <p:spPr>
          <a:xfrm>
            <a:off x="1235757" y="3623538"/>
            <a:ext cx="10927878" cy="985837"/>
          </a:xfrm>
          <a:prstGeom prst="rect">
            <a:avLst/>
          </a:prstGeom>
          <a:noFill/>
          <a:ln/>
        </p:spPr>
        <p:txBody>
          <a:bodyPr wrap="square" lIns="0" tIns="0" rIns="0" bIns="0" rtlCol="0" anchor="t">
            <a:normAutofit/>
          </a:bodyPr>
          <a:lstStyle/>
          <a:p>
            <a:pPr marL="0" indent="0" algn="ctr">
              <a:lnSpc>
                <a:spcPct val="104000"/>
              </a:lnSpc>
              <a:buNone/>
            </a:pPr>
            <a:r>
              <a:rPr lang="en-US" sz="3100" dirty="0">
                <a:solidFill>
                  <a:srgbClr val="C91313"/>
                </a:solidFill>
                <a:latin typeface="Dela Gothic One" pitchFamily="34" charset="0"/>
                <a:ea typeface="Dela Gothic One" pitchFamily="34" charset="-122"/>
                <a:cs typeface="Dela Gothic One" pitchFamily="34" charset="-120"/>
              </a:rPr>
              <a:t>CureVerseAI</a:t>
            </a:r>
            <a:r>
              <a:rPr lang="en-US" sz="3100" dirty="0">
                <a:solidFill>
                  <a:srgbClr val="FAEBEB"/>
                </a:solidFill>
                <a:latin typeface="Dela Gothic One" pitchFamily="34" charset="0"/>
                <a:ea typeface="Dela Gothic One" pitchFamily="34" charset="-122"/>
                <a:cs typeface="Dela Gothic One" pitchFamily="34" charset="-120"/>
              </a:rPr>
              <a:t> — Science for a Healthier Tomorrow.</a:t>
            </a:r>
            <a:endParaRPr lang="en-US" sz="3100" dirty="0">
              <a:ea typeface="Calibri" panose="020F0502020204030204"/>
              <a:cs typeface="Calibri" panose="020F0502020204030204"/>
            </a:endParaRPr>
          </a:p>
        </p:txBody>
      </p:sp>
      <p:sp>
        <p:nvSpPr>
          <p:cNvPr id="7" name="Rectangle: Rounded Corners 6">
            <a:extLst>
              <a:ext uri="{FF2B5EF4-FFF2-40B4-BE49-F238E27FC236}">
                <a16:creationId xmlns:a16="http://schemas.microsoft.com/office/drawing/2014/main" id="{2A253E84-A5BA-6BF0-C776-B73858D40EFD}"/>
              </a:ext>
            </a:extLst>
          </p:cNvPr>
          <p:cNvSpPr/>
          <p:nvPr/>
        </p:nvSpPr>
        <p:spPr>
          <a:xfrm>
            <a:off x="10473618" y="6510069"/>
            <a:ext cx="1719532" cy="36806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525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34</Slides>
  <Notes>34</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68</cp:revision>
  <dcterms:created xsi:type="dcterms:W3CDTF">2026-09-07T15:48:12Z</dcterms:created>
  <dcterms:modified xsi:type="dcterms:W3CDTF">2026-09-07T16:32:17Z</dcterms:modified>
</cp:coreProperties>
</file>